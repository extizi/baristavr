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2"/>
  </p:notesMasterIdLst>
  <p:sldIdLst>
    <p:sldId id="275" r:id="rId2"/>
    <p:sldId id="276"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Lst>
  <p:sldSz cx="24387175" cy="13716000"/>
  <p:notesSz cx="13716000" cy="24387175"/>
  <p:embeddedFontLst>
    <p:embeddedFont>
      <p:font typeface="Google Sans" pitchFamily="2" charset="0"/>
      <p:regular r:id="rId33"/>
      <p:bold r:id="rId34"/>
      <p:italic r:id="rId35"/>
      <p:boldItalic r:id="rId36"/>
    </p:embeddedFont>
    <p:embeddedFont>
      <p:font typeface="Google Sans SemiBold" pitchFamily="2" charset="0"/>
      <p:bold r:id="rId37"/>
      <p:boldItalic r:id="rId3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656317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COLD OPEN. Lights low if you can. One speaker, standing, no reading. Click, then wait a full two seconds before speaking.</a:t>
            </a:r>
          </a:p>
          <a:p>
            <a:endParaRPr/>
          </a:p>
          <a:p>
            <a:r>
              <a:t>"Do you want to brew a coffee?"</a:t>
            </a:r>
          </a:p>
          <a:p>
            <a:endParaRPr/>
          </a:p>
          <a:p>
            <a:r>
              <a:t>[Pause. Let them answer in their heads.]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 double shot flat white."</a:t>
            </a:r>
          </a:p>
          <a:p>
            <a:endParaRPr/>
          </a:p>
          <a:p>
            <a:r>
              <a:t>[Slower now, almost fond.] "Eighteen grams of coffee. Twenty-five to thirty seconds. Milk at sixty-five degrees."</a:t>
            </a:r>
          </a:p>
          <a:p>
            <a:endParaRPr/>
          </a:p>
          <a:p>
            <a:r>
              <a:t>[It should sound simple. That's the trap.]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[Beat. Then quietly:] "But do you know how?"</a:t>
            </a:r>
          </a:p>
          <a:p>
            <a:endParaRPr/>
          </a:p>
          <a:p>
            <a:r>
              <a:t>[Hold eye contact with the panel. Count three.]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"Nobody does, the first time. Every barista you've ever met learned on a live machine, in the middle of a rush, one wasted shot at a time. Beans in the bin. A queue at the counter. Someone senior sighing over their shoulder."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we built something. This isn't a game. It's the morning before your first shift: the café is empty, the machine is warm, and every mistake is free."</a:t>
            </a:r>
          </a:p>
          <a:p>
            <a:endParaRPr/>
          </a:p>
          <a:p>
            <a:r>
              <a:t>[Click to the title. Lights up.]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1, lights up. "This is the Barista Calibration Trainer, by XR Continuum, for INTE 42312." Introduce every member by name, then go straight to the contribution slide: the brief requires the declaration and timeline first, so the cold open must stay under a minute.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2, presented FIRST. Each person names their part and files. The panel may question anyone on their own part, so only claim what you can explain. With three members, merge B and C.</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3, straight after the declaration. Dark bars = plan, caramel = actual. Drag the caramel bars to reality and give one reason per slip; honesty about deviations is what is marked.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4: the specific problem, who it affects and why it matters. Keep it concrete: beans, milk, a blocked machine, a supervisor's time.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5: read it once, slowly. Every later slide traces back to: unaided, calibrated, no waste.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6: up to three, each measurable. Results come back on the conclusion slide.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7: for each concept say the decision it caused. The criterion is application, not recital.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8: one story, not a feature list. Emphasise the calibration loop: first shot sour by design.</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Still segment 8. Walk the loop: clear start, clear end, retry keeps the grind setting.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decision 1. Likely question: what if the user stands? The counter stays relative to the start pose; the experience is designed and labelled as seated.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Bridge decision 2. Lead with C and E; admit D and I only partly apply. That honesty earns rationale marks.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9: each decision with its reason. Name the comfort defaults: seated, snap turn, no artificial motion.</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Segment 10. Hands are interactors, tools are interactables, sockets are interactors that hold tools. Stations report to ShiftFlow; ExtractionModel drives the gauge and verdict. The whole scene is generated by Barista &gt; Build Cafe Scene (CafeSceneBuilder.cs).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Advanced feature. It closes the loop between hand technique and outcome. The recorded run matches the model: starting grind 6.5 gave 19.1 s, so Sour, and the board says grind finer. Be explicit that it is a teaching model, not physics.</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Maps to the 13-mark technical criterion. Be honest: controllers can't push back, so resistance is simulated with visuals, a force number and haptics.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Fill in the amounts honestly. Disclosure is not the safeguard; understanding is. Expect 'why velocity tracking and not kinematic?' and answer it yourselves.</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Tick results from real runs and add anything that failed and was fixed. Objectives 1-3 are measured here: time to finish, attempts to Balanced, final milk temperature.</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Named requirement in the brief. State exactly what you did: launched the exe without a headset and completed a shift with keyboard and mouse (see the recording).</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Pick two or three you can explain best and go deep on why the fix works.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brief rewards stating what you could NOT verify and the guidance used instead. Don't overclaim.</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Answer the title with test numbers, then each member gives a short personal reflection (individual marks).</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Shown, not narrated. Fill in the barista illustration source before submitting.</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CALLBACK. Same speaker as the cold open. "So." [Beat.] "Would you like to brew a coffee?" [Turn to the machine or headset.] "Pull up a chair."</a:t>
            </a:r>
          </a:p>
          <a:p>
            <a:endParaRPr/>
          </a:p>
          <a:p>
            <a:r>
              <a:t>Then straight into the live demo.</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Run live from START to the result dial without help, then each member operates their own part. Have the exe and the Editor both ready.</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and invite questions; keep the build running.</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6.sv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20.sv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9.svg"/><Relationship Id="rId5" Type="http://schemas.openxmlformats.org/officeDocument/2006/relationships/image" Target="../media/image28.png"/><Relationship Id="rId4" Type="http://schemas.openxmlformats.org/officeDocument/2006/relationships/image" Target="../media/image12.sv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17.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4.svg"/></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7.png"/><Relationship Id="rId4" Type="http://schemas.openxmlformats.org/officeDocument/2006/relationships/image" Target="../media/image16.sv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2.sv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38.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svg"/></Relationships>
</file>

<file path=ppt/slides/_rels/slide24.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png"/><Relationship Id="rId4" Type="http://schemas.openxmlformats.org/officeDocument/2006/relationships/image" Target="../media/image32.svg"/></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6.sv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22.sv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otlight.png"/>
          <p:cNvPicPr>
            <a:picLocks noChangeAspect="1"/>
          </p:cNvPicPr>
          <p:nvPr/>
        </p:nvPicPr>
        <p:blipFill>
          <a:blip r:embed="rId3"/>
          <a:stretch>
            <a:fillRect/>
          </a:stretch>
        </p:blipFill>
        <p:spPr>
          <a:xfrm>
            <a:off x="0" y="0"/>
            <a:ext cx="24387048" cy="13716000"/>
          </a:xfrm>
          <a:prstGeom prst="rect">
            <a:avLst/>
          </a:prstGeom>
        </p:spPr>
      </p:pic>
      <p:sp>
        <p:nvSpPr>
          <p:cNvPr id="3" name="TextBox 2"/>
          <p:cNvSpPr txBox="1"/>
          <p:nvPr/>
        </p:nvSpPr>
        <p:spPr>
          <a:xfrm>
            <a:off x="2286000" y="4206240"/>
            <a:ext cx="19815048" cy="3657600"/>
          </a:xfrm>
          <a:prstGeom prst="rect">
            <a:avLst/>
          </a:prstGeom>
          <a:noFill/>
        </p:spPr>
        <p:txBody>
          <a:bodyPr wrap="square" lIns="0" tIns="0" rIns="0" bIns="0" anchor="ctr">
            <a:noAutofit/>
          </a:bodyPr>
          <a:lstStyle/>
          <a:p>
            <a:pPr algn="ctr">
              <a:lnSpc>
                <a:spcPct val="108000"/>
              </a:lnSpc>
              <a:spcAft>
                <a:spcPts val="0"/>
              </a:spcAft>
            </a:pPr>
            <a:r>
              <a:rPr sz="8800" b="0">
                <a:solidFill>
                  <a:srgbClr val="E9D7C2"/>
                </a:solidFill>
                <a:latin typeface="Google Sans SemiBold"/>
              </a:rPr>
              <a:t>Do you want to brew a coffee?</a:t>
            </a:r>
          </a:p>
        </p:txBody>
      </p:sp>
      <p:sp>
        <p:nvSpPr>
          <p:cNvPr id="4" name="TextBox 3"/>
          <p:cNvSpPr txBox="1"/>
          <p:nvPr/>
        </p:nvSpPr>
        <p:spPr>
          <a:xfrm>
            <a:off x="0" y="11521440"/>
            <a:ext cx="24387048" cy="457200"/>
          </a:xfrm>
          <a:prstGeom prst="rect">
            <a:avLst/>
          </a:prstGeom>
          <a:noFill/>
        </p:spPr>
        <p:txBody>
          <a:bodyPr wrap="square" lIns="0" tIns="0" rIns="0" bIns="0" anchor="t">
            <a:noAutofit/>
          </a:bodyPr>
          <a:lstStyle/>
          <a:p>
            <a:pPr algn="ctr">
              <a:lnSpc>
                <a:spcPct val="118000"/>
              </a:lnSpc>
              <a:spcAft>
                <a:spcPts val="0"/>
              </a:spcAft>
            </a:pPr>
            <a:r>
              <a:rPr sz="1700" b="0" spc="400">
                <a:solidFill>
                  <a:srgbClr val="C9B29B"/>
                </a:solidFill>
                <a:latin typeface="Google Sans SemiBold"/>
              </a:rPr>
              <a:t>XR CONTINUUM PRESENTS</a:t>
            </a: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otlight.png"/>
          <p:cNvPicPr>
            <a:picLocks noChangeAspect="1"/>
          </p:cNvPicPr>
          <p:nvPr/>
        </p:nvPicPr>
        <p:blipFill>
          <a:blip r:embed="rId3"/>
          <a:stretch>
            <a:fillRect/>
          </a:stretch>
        </p:blipFill>
        <p:spPr>
          <a:xfrm>
            <a:off x="0" y="0"/>
            <a:ext cx="24387048" cy="13716000"/>
          </a:xfrm>
          <a:prstGeom prst="rect">
            <a:avLst/>
          </a:prstGeom>
        </p:spPr>
      </p:pic>
      <p:sp>
        <p:nvSpPr>
          <p:cNvPr id="3" name="TextBox 2"/>
          <p:cNvSpPr txBox="1"/>
          <p:nvPr/>
        </p:nvSpPr>
        <p:spPr>
          <a:xfrm>
            <a:off x="2286000" y="3017520"/>
            <a:ext cx="19815048" cy="2926080"/>
          </a:xfrm>
          <a:prstGeom prst="rect">
            <a:avLst/>
          </a:prstGeom>
          <a:noFill/>
        </p:spPr>
        <p:txBody>
          <a:bodyPr wrap="square" lIns="0" tIns="0" rIns="0" bIns="0" anchor="ctr">
            <a:noAutofit/>
          </a:bodyPr>
          <a:lstStyle/>
          <a:p>
            <a:pPr algn="ctr">
              <a:lnSpc>
                <a:spcPct val="108000"/>
              </a:lnSpc>
              <a:spcAft>
                <a:spcPts val="0"/>
              </a:spcAft>
            </a:pPr>
            <a:r>
              <a:rPr sz="8800" b="0">
                <a:solidFill>
                  <a:srgbClr val="E9D7C2"/>
                </a:solidFill>
                <a:latin typeface="Google Sans SemiBold"/>
              </a:rPr>
              <a:t>A double shot flat white.</a:t>
            </a:r>
          </a:p>
        </p:txBody>
      </p:sp>
      <p:sp>
        <p:nvSpPr>
          <p:cNvPr id="4" name="TextBox 3"/>
          <p:cNvSpPr txBox="1"/>
          <p:nvPr/>
        </p:nvSpPr>
        <p:spPr>
          <a:xfrm>
            <a:off x="5061204" y="7406640"/>
            <a:ext cx="4754880" cy="2286000"/>
          </a:xfrm>
          <a:prstGeom prst="rect">
            <a:avLst/>
          </a:prstGeom>
          <a:noFill/>
        </p:spPr>
        <p:txBody>
          <a:bodyPr wrap="square" lIns="0" tIns="0" rIns="0" bIns="0" anchor="ctr">
            <a:noAutofit/>
          </a:bodyPr>
          <a:lstStyle/>
          <a:p>
            <a:pPr algn="ctr">
              <a:lnSpc>
                <a:spcPct val="105000"/>
              </a:lnSpc>
              <a:spcAft>
                <a:spcPts val="400"/>
              </a:spcAft>
            </a:pPr>
            <a:r>
              <a:rPr sz="5400" b="0">
                <a:solidFill>
                  <a:srgbClr val="D0955F"/>
                </a:solidFill>
                <a:latin typeface="Google Sans SemiBold"/>
              </a:rPr>
              <a:t>18 g</a:t>
            </a:r>
          </a:p>
          <a:p>
            <a:pPr algn="ctr">
              <a:lnSpc>
                <a:spcPct val="105000"/>
              </a:lnSpc>
              <a:spcAft>
                <a:spcPts val="0"/>
              </a:spcAft>
            </a:pPr>
            <a:r>
              <a:rPr sz="1500" b="0" spc="300">
                <a:solidFill>
                  <a:srgbClr val="C9B29B"/>
                </a:solidFill>
                <a:latin typeface="Google Sans SemiBold"/>
              </a:rPr>
              <a:t>COFFEE IN</a:t>
            </a:r>
          </a:p>
        </p:txBody>
      </p:sp>
      <p:cxnSp>
        <p:nvCxnSpPr>
          <p:cNvPr id="5" name="Connector 4"/>
          <p:cNvCxnSpPr/>
          <p:nvPr/>
        </p:nvCxnSpPr>
        <p:spPr>
          <a:xfrm>
            <a:off x="9816084" y="7589520"/>
            <a:ext cx="0" cy="192024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9816084" y="7406640"/>
            <a:ext cx="4754880" cy="2286000"/>
          </a:xfrm>
          <a:prstGeom prst="rect">
            <a:avLst/>
          </a:prstGeom>
          <a:noFill/>
        </p:spPr>
        <p:txBody>
          <a:bodyPr wrap="square" lIns="0" tIns="0" rIns="0" bIns="0" anchor="ctr">
            <a:noAutofit/>
          </a:bodyPr>
          <a:lstStyle/>
          <a:p>
            <a:pPr algn="ctr">
              <a:lnSpc>
                <a:spcPct val="105000"/>
              </a:lnSpc>
              <a:spcAft>
                <a:spcPts val="400"/>
              </a:spcAft>
            </a:pPr>
            <a:r>
              <a:rPr sz="5400" b="0">
                <a:solidFill>
                  <a:srgbClr val="D0955F"/>
                </a:solidFill>
                <a:latin typeface="Google Sans SemiBold"/>
              </a:rPr>
              <a:t>25–30 s</a:t>
            </a:r>
          </a:p>
          <a:p>
            <a:pPr algn="ctr">
              <a:lnSpc>
                <a:spcPct val="105000"/>
              </a:lnSpc>
              <a:spcAft>
                <a:spcPts val="0"/>
              </a:spcAft>
            </a:pPr>
            <a:r>
              <a:rPr sz="1500" b="0" spc="300">
                <a:solidFill>
                  <a:srgbClr val="C9B29B"/>
                </a:solidFill>
                <a:latin typeface="Google Sans SemiBold"/>
              </a:rPr>
              <a:t>EXTRACTION</a:t>
            </a:r>
          </a:p>
        </p:txBody>
      </p:sp>
      <p:cxnSp>
        <p:nvCxnSpPr>
          <p:cNvPr id="7" name="Connector 6"/>
          <p:cNvCxnSpPr/>
          <p:nvPr/>
        </p:nvCxnSpPr>
        <p:spPr>
          <a:xfrm>
            <a:off x="14570964" y="7589520"/>
            <a:ext cx="0" cy="192024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4570964" y="7406640"/>
            <a:ext cx="4754880" cy="2286000"/>
          </a:xfrm>
          <a:prstGeom prst="rect">
            <a:avLst/>
          </a:prstGeom>
          <a:noFill/>
        </p:spPr>
        <p:txBody>
          <a:bodyPr wrap="square" lIns="0" tIns="0" rIns="0" bIns="0" anchor="ctr">
            <a:noAutofit/>
          </a:bodyPr>
          <a:lstStyle/>
          <a:p>
            <a:pPr algn="ctr">
              <a:lnSpc>
                <a:spcPct val="105000"/>
              </a:lnSpc>
              <a:spcAft>
                <a:spcPts val="400"/>
              </a:spcAft>
            </a:pPr>
            <a:r>
              <a:rPr sz="5400" b="0">
                <a:solidFill>
                  <a:srgbClr val="D0955F"/>
                </a:solidFill>
                <a:latin typeface="Google Sans SemiBold"/>
              </a:rPr>
              <a:t>65 °C</a:t>
            </a:r>
          </a:p>
          <a:p>
            <a:pPr algn="ctr">
              <a:lnSpc>
                <a:spcPct val="105000"/>
              </a:lnSpc>
              <a:spcAft>
                <a:spcPts val="0"/>
              </a:spcAft>
            </a:pPr>
            <a:r>
              <a:rPr sz="1500" b="0" spc="300">
                <a:solidFill>
                  <a:srgbClr val="C9B29B"/>
                </a:solidFill>
                <a:latin typeface="Google Sans SemiBold"/>
              </a:rPr>
              <a:t>MILK</a:t>
            </a: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otlight.png"/>
          <p:cNvPicPr>
            <a:picLocks noChangeAspect="1"/>
          </p:cNvPicPr>
          <p:nvPr/>
        </p:nvPicPr>
        <p:blipFill>
          <a:blip r:embed="rId3"/>
          <a:stretch>
            <a:fillRect/>
          </a:stretch>
        </p:blipFill>
        <p:spPr>
          <a:xfrm>
            <a:off x="0" y="0"/>
            <a:ext cx="24387048" cy="13716000"/>
          </a:xfrm>
          <a:prstGeom prst="rect">
            <a:avLst/>
          </a:prstGeom>
        </p:spPr>
      </p:pic>
      <p:sp>
        <p:nvSpPr>
          <p:cNvPr id="3" name="TextBox 2"/>
          <p:cNvSpPr txBox="1"/>
          <p:nvPr/>
        </p:nvSpPr>
        <p:spPr>
          <a:xfrm>
            <a:off x="2286000" y="4572000"/>
            <a:ext cx="19815048" cy="3291840"/>
          </a:xfrm>
          <a:prstGeom prst="rect">
            <a:avLst/>
          </a:prstGeom>
          <a:noFill/>
        </p:spPr>
        <p:txBody>
          <a:bodyPr wrap="square" lIns="0" tIns="0" rIns="0" bIns="0" anchor="ctr">
            <a:noAutofit/>
          </a:bodyPr>
          <a:lstStyle/>
          <a:p>
            <a:pPr algn="ctr">
              <a:lnSpc>
                <a:spcPct val="108000"/>
              </a:lnSpc>
              <a:spcAft>
                <a:spcPts val="0"/>
              </a:spcAft>
            </a:pPr>
            <a:r>
              <a:rPr sz="9600" b="0" i="1">
                <a:solidFill>
                  <a:srgbClr val="D0955F"/>
                </a:solidFill>
                <a:latin typeface="Google Sans"/>
              </a:rPr>
              <a:t>But do you know how?</a:t>
            </a: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otlight.png"/>
          <p:cNvPicPr>
            <a:picLocks noChangeAspect="1"/>
          </p:cNvPicPr>
          <p:nvPr/>
        </p:nvPicPr>
        <p:blipFill>
          <a:blip r:embed="rId3"/>
          <a:stretch>
            <a:fillRect/>
          </a:stretch>
        </p:blipFill>
        <p:spPr>
          <a:xfrm>
            <a:off x="0" y="0"/>
            <a:ext cx="24387048" cy="13716000"/>
          </a:xfrm>
          <a:prstGeom prst="rect">
            <a:avLst/>
          </a:prstGeom>
        </p:spPr>
      </p:pic>
      <p:sp>
        <p:nvSpPr>
          <p:cNvPr id="3" name="TextBox 2"/>
          <p:cNvSpPr txBox="1"/>
          <p:nvPr/>
        </p:nvSpPr>
        <p:spPr>
          <a:xfrm>
            <a:off x="2286000" y="3566160"/>
            <a:ext cx="19815048" cy="2377440"/>
          </a:xfrm>
          <a:prstGeom prst="rect">
            <a:avLst/>
          </a:prstGeom>
          <a:noFill/>
        </p:spPr>
        <p:txBody>
          <a:bodyPr wrap="square" lIns="0" tIns="0" rIns="0" bIns="0" anchor="ctr">
            <a:noAutofit/>
          </a:bodyPr>
          <a:lstStyle/>
          <a:p>
            <a:pPr algn="ctr">
              <a:lnSpc>
                <a:spcPct val="108000"/>
              </a:lnSpc>
              <a:spcAft>
                <a:spcPts val="0"/>
              </a:spcAft>
            </a:pPr>
            <a:r>
              <a:rPr sz="8000" b="0">
                <a:solidFill>
                  <a:srgbClr val="E9D7C2"/>
                </a:solidFill>
                <a:latin typeface="Google Sans SemiBold"/>
              </a:rPr>
              <a:t>Nobody does, the first time.</a:t>
            </a:r>
          </a:p>
        </p:txBody>
      </p:sp>
      <p:sp>
        <p:nvSpPr>
          <p:cNvPr id="4" name="TextBox 3"/>
          <p:cNvSpPr txBox="1"/>
          <p:nvPr/>
        </p:nvSpPr>
        <p:spPr>
          <a:xfrm>
            <a:off x="2286000" y="6400800"/>
            <a:ext cx="19815048" cy="2377440"/>
          </a:xfrm>
          <a:prstGeom prst="rect">
            <a:avLst/>
          </a:prstGeom>
          <a:noFill/>
        </p:spPr>
        <p:txBody>
          <a:bodyPr wrap="square" lIns="0" tIns="0" rIns="0" bIns="0" anchor="ctr">
            <a:noAutofit/>
          </a:bodyPr>
          <a:lstStyle/>
          <a:p>
            <a:pPr algn="ctr">
              <a:lnSpc>
                <a:spcPct val="108000"/>
              </a:lnSpc>
              <a:spcAft>
                <a:spcPts val="0"/>
              </a:spcAft>
            </a:pPr>
            <a:r>
              <a:rPr sz="3400" b="0">
                <a:solidFill>
                  <a:srgbClr val="C9B29B"/>
                </a:solidFill>
                <a:latin typeface="Google Sans"/>
              </a:rPr>
              <a:t>Every barista learned on a live machine, in the middle of a rush, one wasted shot at a time.</a:t>
            </a: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otlight.png"/>
          <p:cNvPicPr>
            <a:picLocks noChangeAspect="1"/>
          </p:cNvPicPr>
          <p:nvPr/>
        </p:nvPicPr>
        <p:blipFill>
          <a:blip r:embed="rId3"/>
          <a:stretch>
            <a:fillRect/>
          </a:stretch>
        </p:blipFill>
        <p:spPr>
          <a:xfrm>
            <a:off x="0" y="0"/>
            <a:ext cx="24387048" cy="13716000"/>
          </a:xfrm>
          <a:prstGeom prst="rect">
            <a:avLst/>
          </a:prstGeom>
        </p:spPr>
      </p:pic>
      <p:sp>
        <p:nvSpPr>
          <p:cNvPr id="3" name="TextBox 2"/>
          <p:cNvSpPr txBox="1"/>
          <p:nvPr/>
        </p:nvSpPr>
        <p:spPr>
          <a:xfrm>
            <a:off x="2286000" y="3566160"/>
            <a:ext cx="19815048" cy="2194560"/>
          </a:xfrm>
          <a:prstGeom prst="rect">
            <a:avLst/>
          </a:prstGeom>
          <a:noFill/>
        </p:spPr>
        <p:txBody>
          <a:bodyPr wrap="square" lIns="0" tIns="0" rIns="0" bIns="0" anchor="ctr">
            <a:noAutofit/>
          </a:bodyPr>
          <a:lstStyle/>
          <a:p>
            <a:pPr algn="ctr">
              <a:lnSpc>
                <a:spcPct val="108000"/>
              </a:lnSpc>
              <a:spcAft>
                <a:spcPts val="0"/>
              </a:spcAft>
            </a:pPr>
            <a:r>
              <a:rPr sz="8000" b="0">
                <a:solidFill>
                  <a:srgbClr val="E9D7C2"/>
                </a:solidFill>
                <a:latin typeface="Google Sans SemiBold"/>
              </a:rPr>
              <a:t>This isn't a game.</a:t>
            </a:r>
          </a:p>
        </p:txBody>
      </p:sp>
      <p:sp>
        <p:nvSpPr>
          <p:cNvPr id="4" name="TextBox 3"/>
          <p:cNvSpPr txBox="1"/>
          <p:nvPr/>
        </p:nvSpPr>
        <p:spPr>
          <a:xfrm>
            <a:off x="2286000" y="5852160"/>
            <a:ext cx="19815048" cy="2377440"/>
          </a:xfrm>
          <a:prstGeom prst="rect">
            <a:avLst/>
          </a:prstGeom>
          <a:noFill/>
        </p:spPr>
        <p:txBody>
          <a:bodyPr wrap="square" lIns="0" tIns="0" rIns="0" bIns="0" anchor="ctr">
            <a:noAutofit/>
          </a:bodyPr>
          <a:lstStyle/>
          <a:p>
            <a:pPr algn="ctr">
              <a:lnSpc>
                <a:spcPct val="108000"/>
              </a:lnSpc>
              <a:spcAft>
                <a:spcPts val="0"/>
              </a:spcAft>
            </a:pPr>
            <a:r>
              <a:rPr sz="8000" b="0">
                <a:solidFill>
                  <a:srgbClr val="D0955F"/>
                </a:solidFill>
                <a:latin typeface="Google Sans SemiBold"/>
              </a:rPr>
              <a:t>It's the morning before your first shift.</a:t>
            </a: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8589467" cy="8149486"/>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014074" y="5948870"/>
            <a:ext cx="7372974" cy="7767130"/>
          </a:xfrm>
          <a:prstGeom prst="rect">
            <a:avLst/>
          </a:prstGeom>
        </p:spPr>
      </p:pic>
      <p:pic>
        <p:nvPicPr>
          <p:cNvPr id="5"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40905" y="533400"/>
            <a:ext cx="2192565" cy="2605125"/>
          </a:xfrm>
          <a:prstGeom prst="rect">
            <a:avLst/>
          </a:prstGeom>
        </p:spPr>
      </p:pic>
      <p:pic>
        <p:nvPicPr>
          <p:cNvPr id="10" name="Image 5" descr=" "/>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4320" y="9692640"/>
            <a:ext cx="6325391" cy="5626100"/>
          </a:xfrm>
          <a:prstGeom prst="rect">
            <a:avLst/>
          </a:prstGeom>
        </p:spPr>
      </p:pic>
      <p:pic>
        <p:nvPicPr>
          <p:cNvPr id="11" name="Barista illustration" descr="barista_cropped.png"/>
          <p:cNvPicPr>
            <a:picLocks noChangeAspect="1"/>
          </p:cNvPicPr>
          <p:nvPr/>
        </p:nvPicPr>
        <p:blipFill>
          <a:blip r:embed="rId11"/>
          <a:stretch>
            <a:fillRect/>
          </a:stretch>
        </p:blipFill>
        <p:spPr>
          <a:xfrm>
            <a:off x="15727680" y="1280160"/>
            <a:ext cx="6552770" cy="12435840"/>
          </a:xfrm>
          <a:prstGeom prst="rect">
            <a:avLst/>
          </a:prstGeom>
        </p:spPr>
      </p:pic>
      <p:sp>
        <p:nvSpPr>
          <p:cNvPr id="12" name="TextBox 11"/>
          <p:cNvSpPr txBox="1"/>
          <p:nvPr/>
        </p:nvSpPr>
        <p:spPr>
          <a:xfrm>
            <a:off x="1645920" y="2514600"/>
            <a:ext cx="13716000" cy="411480"/>
          </a:xfrm>
          <a:prstGeom prst="rect">
            <a:avLst/>
          </a:prstGeom>
          <a:noFill/>
        </p:spPr>
        <p:txBody>
          <a:bodyPr wrap="square" lIns="0" tIns="0" rIns="0" bIns="0" anchor="t">
            <a:noAutofit/>
          </a:bodyPr>
          <a:lstStyle/>
          <a:p>
            <a:pPr algn="l">
              <a:lnSpc>
                <a:spcPct val="118000"/>
              </a:lnSpc>
              <a:spcAft>
                <a:spcPts val="0"/>
              </a:spcAft>
            </a:pPr>
            <a:r>
              <a:rPr sz="1800" b="0" spc="250">
                <a:solidFill>
                  <a:srgbClr val="9A5F33"/>
                </a:solidFill>
                <a:latin typeface="Google Sans SemiBold"/>
              </a:rPr>
              <a:t>INTE 42312  ·  VIRTUAL &amp; AUGMENTED REALITY</a:t>
            </a:r>
          </a:p>
        </p:txBody>
      </p:sp>
      <p:sp>
        <p:nvSpPr>
          <p:cNvPr id="13" name="TextBox 12"/>
          <p:cNvSpPr txBox="1"/>
          <p:nvPr/>
        </p:nvSpPr>
        <p:spPr>
          <a:xfrm>
            <a:off x="1645920" y="3108960"/>
            <a:ext cx="13898880" cy="4023360"/>
          </a:xfrm>
          <a:prstGeom prst="rect">
            <a:avLst/>
          </a:prstGeom>
          <a:noFill/>
        </p:spPr>
        <p:txBody>
          <a:bodyPr wrap="square" lIns="0" tIns="0" rIns="0" bIns="0" anchor="t">
            <a:noAutofit/>
          </a:bodyPr>
          <a:lstStyle/>
          <a:p>
            <a:pPr algn="l">
              <a:lnSpc>
                <a:spcPct val="92000"/>
              </a:lnSpc>
              <a:spcAft>
                <a:spcPts val="0"/>
              </a:spcAft>
            </a:pPr>
            <a:r>
              <a:rPr sz="10800" b="0">
                <a:solidFill>
                  <a:srgbClr val="2B221D"/>
                </a:solidFill>
                <a:latin typeface="Google Sans SemiBold"/>
              </a:rPr>
              <a:t>Barista Calibration Trainer</a:t>
            </a:r>
          </a:p>
        </p:txBody>
      </p:sp>
      <p:sp>
        <p:nvSpPr>
          <p:cNvPr id="14" name="TextBox 13"/>
          <p:cNvSpPr txBox="1"/>
          <p:nvPr/>
        </p:nvSpPr>
        <p:spPr>
          <a:xfrm>
            <a:off x="1645920" y="7178040"/>
            <a:ext cx="13258800" cy="731520"/>
          </a:xfrm>
          <a:prstGeom prst="rect">
            <a:avLst/>
          </a:prstGeom>
          <a:noFill/>
        </p:spPr>
        <p:txBody>
          <a:bodyPr wrap="square" lIns="0" tIns="0" rIns="0" bIns="0" anchor="t">
            <a:noAutofit/>
          </a:bodyPr>
          <a:lstStyle/>
          <a:p>
            <a:pPr algn="l">
              <a:lnSpc>
                <a:spcPct val="118000"/>
              </a:lnSpc>
              <a:spcAft>
                <a:spcPts val="0"/>
              </a:spcAft>
            </a:pPr>
            <a:r>
              <a:rPr sz="3400" b="0">
                <a:solidFill>
                  <a:srgbClr val="4A3B31"/>
                </a:solidFill>
                <a:latin typeface="Google Sans"/>
              </a:rPr>
              <a:t>Dialling in a commercial espresso machine in VR</a:t>
            </a:r>
          </a:p>
        </p:txBody>
      </p:sp>
      <p:cxnSp>
        <p:nvCxnSpPr>
          <p:cNvPr id="15" name="Connector 14"/>
          <p:cNvCxnSpPr/>
          <p:nvPr/>
        </p:nvCxnSpPr>
        <p:spPr>
          <a:xfrm>
            <a:off x="1645920" y="8366760"/>
            <a:ext cx="1280160" cy="0"/>
          </a:xfrm>
          <a:prstGeom prst="line">
            <a:avLst/>
          </a:prstGeom>
          <a:ln w="38100">
            <a:solidFill>
              <a:srgbClr val="D0955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645920" y="8686800"/>
            <a:ext cx="13258800" cy="411480"/>
          </a:xfrm>
          <a:prstGeom prst="rect">
            <a:avLst/>
          </a:prstGeom>
          <a:noFill/>
        </p:spPr>
        <p:txBody>
          <a:bodyPr wrap="square" lIns="0" tIns="0" rIns="0" bIns="0" anchor="t">
            <a:noAutofit/>
          </a:bodyPr>
          <a:lstStyle/>
          <a:p>
            <a:pPr algn="l">
              <a:lnSpc>
                <a:spcPct val="118000"/>
              </a:lnSpc>
              <a:spcAft>
                <a:spcPts val="0"/>
              </a:spcAft>
            </a:pPr>
            <a:r>
              <a:rPr sz="1800" b="0" spc="250">
                <a:solidFill>
                  <a:srgbClr val="9A5F33"/>
                </a:solidFill>
                <a:latin typeface="Google Sans SemiBold"/>
              </a:rPr>
              <a:t>TEAM XR CONTINUUM</a:t>
            </a:r>
          </a:p>
        </p:txBody>
      </p:sp>
      <p:sp>
        <p:nvSpPr>
          <p:cNvPr id="17" name="TextBox 16"/>
          <p:cNvSpPr txBox="1"/>
          <p:nvPr/>
        </p:nvSpPr>
        <p:spPr>
          <a:xfrm>
            <a:off x="1645920" y="9144000"/>
            <a:ext cx="13258800" cy="548640"/>
          </a:xfrm>
          <a:prstGeom prst="rect">
            <a:avLst/>
          </a:prstGeom>
          <a:noFill/>
        </p:spPr>
        <p:txBody>
          <a:bodyPr wrap="square" lIns="0" tIns="0" rIns="0" bIns="0" anchor="t">
            <a:noAutofit/>
          </a:bodyPr>
          <a:lstStyle/>
          <a:p>
            <a:pPr algn="l">
              <a:lnSpc>
                <a:spcPct val="118000"/>
              </a:lnSpc>
              <a:spcAft>
                <a:spcPts val="0"/>
              </a:spcAft>
            </a:pPr>
            <a:r>
              <a:rPr sz="2600" b="0">
                <a:solidFill>
                  <a:srgbClr val="2B221D"/>
                </a:solidFill>
                <a:latin typeface="Google Sans"/>
              </a:rPr>
              <a:t>&lt;Member 1&gt;   ·   &lt;Member 2&gt;   ·   &lt;Member 3&gt;   ·   &lt;Member 4&gt;</a:t>
            </a: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07626" y="0"/>
            <a:ext cx="6579422" cy="5651791"/>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02 · INDIVIDUAL CONTRIBUTION</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Who built what, and who defends it</a:t>
            </a:r>
          </a:p>
        </p:txBody>
      </p:sp>
      <p:sp>
        <p:nvSpPr>
          <p:cNvPr id="5" name="Rounded Rectangle 4"/>
          <p:cNvSpPr/>
          <p:nvPr/>
        </p:nvSpPr>
        <p:spPr>
          <a:xfrm>
            <a:off x="1645920" y="3566160"/>
            <a:ext cx="4965192" cy="7979664"/>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40" y="4069080"/>
            <a:ext cx="3959352"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D0955F"/>
                </a:solidFill>
                <a:latin typeface="Google Sans SemiBold"/>
              </a:rPr>
              <a:t>MEMBER A</a:t>
            </a:r>
          </a:p>
        </p:txBody>
      </p:sp>
      <p:sp>
        <p:nvSpPr>
          <p:cNvPr id="7" name="TextBox 6"/>
          <p:cNvSpPr txBox="1"/>
          <p:nvPr/>
        </p:nvSpPr>
        <p:spPr>
          <a:xfrm>
            <a:off x="2148840" y="4526280"/>
            <a:ext cx="3959352" cy="457200"/>
          </a:xfrm>
          <a:prstGeom prst="rect">
            <a:avLst/>
          </a:prstGeom>
          <a:noFill/>
        </p:spPr>
        <p:txBody>
          <a:bodyPr wrap="square" lIns="0" tIns="0" rIns="0" bIns="0" anchor="t">
            <a:noAutofit/>
          </a:bodyPr>
          <a:lstStyle/>
          <a:p>
            <a:pPr algn="l">
              <a:lnSpc>
                <a:spcPct val="118000"/>
              </a:lnSpc>
              <a:spcAft>
                <a:spcPts val="0"/>
              </a:spcAft>
            </a:pPr>
            <a:r>
              <a:rPr sz="2200" b="0">
                <a:solidFill>
                  <a:srgbClr val="C9B29B"/>
                </a:solidFill>
                <a:latin typeface="Google Sans"/>
              </a:rPr>
              <a:t>&lt;name&gt;</a:t>
            </a:r>
          </a:p>
        </p:txBody>
      </p:sp>
      <p:sp>
        <p:nvSpPr>
          <p:cNvPr id="8" name="TextBox 7"/>
          <p:cNvSpPr txBox="1"/>
          <p:nvPr/>
        </p:nvSpPr>
        <p:spPr>
          <a:xfrm>
            <a:off x="2148840" y="5120640"/>
            <a:ext cx="3959352" cy="548640"/>
          </a:xfrm>
          <a:prstGeom prst="rect">
            <a:avLst/>
          </a:prstGeom>
          <a:noFill/>
        </p:spPr>
        <p:txBody>
          <a:bodyPr wrap="square" lIns="0" tIns="0" rIns="0" bIns="0" anchor="t">
            <a:noAutofit/>
          </a:bodyPr>
          <a:lstStyle/>
          <a:p>
            <a:pPr algn="l">
              <a:lnSpc>
                <a:spcPct val="118000"/>
              </a:lnSpc>
              <a:spcAft>
                <a:spcPts val="0"/>
              </a:spcAft>
            </a:pPr>
            <a:r>
              <a:rPr sz="3200" b="0">
                <a:solidFill>
                  <a:srgbClr val="E9D7C2"/>
                </a:solidFill>
                <a:latin typeface="Google Sans SemiBold"/>
              </a:rPr>
              <a:t>XR rig &amp; build</a:t>
            </a:r>
          </a:p>
        </p:txBody>
      </p:sp>
      <p:cxnSp>
        <p:nvCxnSpPr>
          <p:cNvPr id="9" name="Connector 8"/>
          <p:cNvCxnSpPr/>
          <p:nvPr/>
        </p:nvCxnSpPr>
        <p:spPr>
          <a:xfrm>
            <a:off x="2148840" y="6080760"/>
            <a:ext cx="3959352" cy="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148840" y="6400800"/>
            <a:ext cx="3959352" cy="3058363"/>
          </a:xfrm>
          <a:prstGeom prst="rect">
            <a:avLst/>
          </a:prstGeom>
          <a:noFill/>
        </p:spPr>
        <p:txBody>
          <a:bodyPr wrap="square" lIns="0" tIns="0" rIns="0" bIns="0" anchor="t">
            <a:noAutofit/>
          </a:bodyPr>
          <a:lstStyle/>
          <a:p>
            <a:pPr marL="289560" indent="-289560" algn="l">
              <a:lnSpc>
                <a:spcPct val="118000"/>
              </a:lnSpc>
              <a:spcAft>
                <a:spcPts val="1000"/>
              </a:spcAft>
              <a:buClr>
                <a:srgbClr val="D0955F"/>
              </a:buClr>
              <a:buFont typeface="Arial"/>
              <a:buChar char="•"/>
            </a:pPr>
            <a:r>
              <a:rPr sz="2400" b="0">
                <a:solidFill>
                  <a:srgbClr val="E9D7C2"/>
                </a:solidFill>
                <a:latin typeface="Google Sans"/>
              </a:rPr>
              <a:t>Device tracking origin, seated eye height</a:t>
            </a:r>
          </a:p>
          <a:p>
            <a:pPr marL="289560" indent="-289560" algn="l">
              <a:lnSpc>
                <a:spcPct val="118000"/>
              </a:lnSpc>
              <a:spcAft>
                <a:spcPts val="1000"/>
              </a:spcAft>
              <a:buClr>
                <a:srgbClr val="D0955F"/>
              </a:buClr>
              <a:buFont typeface="Arial"/>
              <a:buChar char="•"/>
            </a:pPr>
            <a:r>
              <a:rPr sz="2400" b="0">
                <a:solidFill>
                  <a:srgbClr val="E9D7C2"/>
                </a:solidFill>
                <a:latin typeface="Google Sans"/>
              </a:rPr>
              <a:t>Snap turn, no locomotion</a:t>
            </a:r>
          </a:p>
          <a:p>
            <a:pPr marL="289560" indent="-289560" algn="l">
              <a:lnSpc>
                <a:spcPct val="118000"/>
              </a:lnSpc>
              <a:spcAft>
                <a:spcPts val="1000"/>
              </a:spcAft>
              <a:buClr>
                <a:srgbClr val="D0955F"/>
              </a:buClr>
              <a:buFont typeface="Arial"/>
              <a:buChar char="•"/>
            </a:pPr>
            <a:r>
              <a:rPr sz="2400" b="0">
                <a:solidFill>
                  <a:srgbClr val="E9D7C2"/>
                </a:solidFill>
                <a:latin typeface="Google Sans"/>
              </a:rPr>
              <a:t>Keyboard &amp; mouse fallback</a:t>
            </a:r>
          </a:p>
          <a:p>
            <a:pPr marL="289560" indent="-289560" algn="l">
              <a:lnSpc>
                <a:spcPct val="118000"/>
              </a:lnSpc>
              <a:spcAft>
                <a:spcPts val="1000"/>
              </a:spcAft>
              <a:buClr>
                <a:srgbClr val="D0955F"/>
              </a:buClr>
              <a:buFont typeface="Arial"/>
              <a:buChar char="•"/>
            </a:pPr>
            <a:r>
              <a:rPr sz="2400" b="0">
                <a:solidFill>
                  <a:srgbClr val="E9D7C2"/>
                </a:solidFill>
                <a:latin typeface="Google Sans"/>
              </a:rPr>
              <a:t>Windows build pipeline</a:t>
            </a:r>
          </a:p>
        </p:txBody>
      </p:sp>
      <p:sp>
        <p:nvSpPr>
          <p:cNvPr id="11" name="TextBox 10"/>
          <p:cNvSpPr txBox="1"/>
          <p:nvPr/>
        </p:nvSpPr>
        <p:spPr>
          <a:xfrm>
            <a:off x="2148840" y="9962083"/>
            <a:ext cx="3959352" cy="365760"/>
          </a:xfrm>
          <a:prstGeom prst="rect">
            <a:avLst/>
          </a:prstGeom>
          <a:noFill/>
        </p:spPr>
        <p:txBody>
          <a:bodyPr wrap="square" lIns="0" tIns="0" rIns="0" bIns="0" anchor="t">
            <a:noAutofit/>
          </a:bodyPr>
          <a:lstStyle/>
          <a:p>
            <a:pPr algn="l">
              <a:lnSpc>
                <a:spcPct val="118000"/>
              </a:lnSpc>
              <a:spcAft>
                <a:spcPts val="0"/>
              </a:spcAft>
            </a:pPr>
            <a:r>
              <a:rPr sz="1400" b="0" spc="200">
                <a:solidFill>
                  <a:srgbClr val="D0955F"/>
                </a:solidFill>
                <a:latin typeface="Google Sans SemiBold"/>
              </a:rPr>
              <a:t>KEY FILES</a:t>
            </a:r>
          </a:p>
        </p:txBody>
      </p:sp>
      <p:sp>
        <p:nvSpPr>
          <p:cNvPr id="12" name="TextBox 11"/>
          <p:cNvSpPr txBox="1"/>
          <p:nvPr/>
        </p:nvSpPr>
        <p:spPr>
          <a:xfrm>
            <a:off x="2148840" y="10373563"/>
            <a:ext cx="3959352" cy="669340"/>
          </a:xfrm>
          <a:prstGeom prst="rect">
            <a:avLst/>
          </a:prstGeom>
          <a:noFill/>
        </p:spPr>
        <p:txBody>
          <a:bodyPr wrap="square" lIns="0" tIns="0" rIns="0" bIns="0" anchor="t">
            <a:noAutofit/>
          </a:bodyPr>
          <a:lstStyle/>
          <a:p>
            <a:pPr algn="l">
              <a:lnSpc>
                <a:spcPct val="120000"/>
              </a:lnSpc>
              <a:spcAft>
                <a:spcPts val="0"/>
              </a:spcAft>
            </a:pPr>
            <a:r>
              <a:rPr sz="1800" b="0">
                <a:solidFill>
                  <a:srgbClr val="C9B29B"/>
                </a:solidFill>
                <a:latin typeface="Google Sans"/>
              </a:rPr>
              <a:t>CafeSceneBuilder (rig), DesktopRigDriver, input actions</a:t>
            </a:r>
          </a:p>
        </p:txBody>
      </p:sp>
      <p:sp>
        <p:nvSpPr>
          <p:cNvPr id="13" name="Rounded Rectangle 12"/>
          <p:cNvSpPr/>
          <p:nvPr/>
        </p:nvSpPr>
        <p:spPr>
          <a:xfrm>
            <a:off x="7022592" y="3566160"/>
            <a:ext cx="4965192" cy="7979664"/>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525512" y="4069080"/>
            <a:ext cx="3959352"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D0955F"/>
                </a:solidFill>
                <a:latin typeface="Google Sans SemiBold"/>
              </a:rPr>
              <a:t>MEMBER B</a:t>
            </a:r>
          </a:p>
        </p:txBody>
      </p:sp>
      <p:sp>
        <p:nvSpPr>
          <p:cNvPr id="15" name="TextBox 14"/>
          <p:cNvSpPr txBox="1"/>
          <p:nvPr/>
        </p:nvSpPr>
        <p:spPr>
          <a:xfrm>
            <a:off x="7525512" y="4526280"/>
            <a:ext cx="3959352" cy="457200"/>
          </a:xfrm>
          <a:prstGeom prst="rect">
            <a:avLst/>
          </a:prstGeom>
          <a:noFill/>
        </p:spPr>
        <p:txBody>
          <a:bodyPr wrap="square" lIns="0" tIns="0" rIns="0" bIns="0" anchor="t">
            <a:noAutofit/>
          </a:bodyPr>
          <a:lstStyle/>
          <a:p>
            <a:pPr algn="l">
              <a:lnSpc>
                <a:spcPct val="118000"/>
              </a:lnSpc>
              <a:spcAft>
                <a:spcPts val="0"/>
              </a:spcAft>
            </a:pPr>
            <a:r>
              <a:rPr sz="2200" b="0">
                <a:solidFill>
                  <a:srgbClr val="C9B29B"/>
                </a:solidFill>
                <a:latin typeface="Google Sans"/>
              </a:rPr>
              <a:t>&lt;name&gt;</a:t>
            </a:r>
          </a:p>
        </p:txBody>
      </p:sp>
      <p:sp>
        <p:nvSpPr>
          <p:cNvPr id="16" name="TextBox 15"/>
          <p:cNvSpPr txBox="1"/>
          <p:nvPr/>
        </p:nvSpPr>
        <p:spPr>
          <a:xfrm>
            <a:off x="7525512" y="5120640"/>
            <a:ext cx="3959352" cy="548640"/>
          </a:xfrm>
          <a:prstGeom prst="rect">
            <a:avLst/>
          </a:prstGeom>
          <a:noFill/>
        </p:spPr>
        <p:txBody>
          <a:bodyPr wrap="square" lIns="0" tIns="0" rIns="0" bIns="0" anchor="t">
            <a:noAutofit/>
          </a:bodyPr>
          <a:lstStyle/>
          <a:p>
            <a:pPr algn="l">
              <a:lnSpc>
                <a:spcPct val="118000"/>
              </a:lnSpc>
              <a:spcAft>
                <a:spcPts val="0"/>
              </a:spcAft>
            </a:pPr>
            <a:r>
              <a:rPr sz="3200" b="0">
                <a:solidFill>
                  <a:srgbClr val="E9D7C2"/>
                </a:solidFill>
                <a:latin typeface="Google Sans SemiBold"/>
              </a:rPr>
              <a:t>Dose &amp; tamp</a:t>
            </a:r>
          </a:p>
        </p:txBody>
      </p:sp>
      <p:cxnSp>
        <p:nvCxnSpPr>
          <p:cNvPr id="17" name="Connector 16"/>
          <p:cNvCxnSpPr/>
          <p:nvPr/>
        </p:nvCxnSpPr>
        <p:spPr>
          <a:xfrm>
            <a:off x="7525512" y="6080760"/>
            <a:ext cx="3959352" cy="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525512" y="6400800"/>
            <a:ext cx="3959352" cy="3058363"/>
          </a:xfrm>
          <a:prstGeom prst="rect">
            <a:avLst/>
          </a:prstGeom>
          <a:noFill/>
        </p:spPr>
        <p:txBody>
          <a:bodyPr wrap="square" lIns="0" tIns="0" rIns="0" bIns="0" anchor="t">
            <a:noAutofit/>
          </a:bodyPr>
          <a:lstStyle/>
          <a:p>
            <a:pPr marL="289560" indent="-289560" algn="l">
              <a:lnSpc>
                <a:spcPct val="118000"/>
              </a:lnSpc>
              <a:spcAft>
                <a:spcPts val="1000"/>
              </a:spcAft>
              <a:buClr>
                <a:srgbClr val="D0955F"/>
              </a:buClr>
              <a:buFont typeface="Arial"/>
              <a:buChar char="•"/>
            </a:pPr>
            <a:r>
              <a:rPr sz="2400" b="0">
                <a:solidFill>
                  <a:srgbClr val="E9D7C2"/>
                </a:solidFill>
                <a:latin typeface="Google Sans"/>
              </a:rPr>
              <a:t>Grinder dosing &amp; grind dial</a:t>
            </a:r>
          </a:p>
          <a:p>
            <a:pPr marL="289560" indent="-289560" algn="l">
              <a:lnSpc>
                <a:spcPct val="118000"/>
              </a:lnSpc>
              <a:spcAft>
                <a:spcPts val="1000"/>
              </a:spcAft>
              <a:buClr>
                <a:srgbClr val="D0955F"/>
              </a:buClr>
              <a:buFont typeface="Arial"/>
              <a:buChar char="•"/>
            </a:pPr>
            <a:r>
              <a:rPr sz="2400" b="0">
                <a:solidFill>
                  <a:srgbClr val="E9D7C2"/>
                </a:solidFill>
                <a:latin typeface="Google Sans"/>
              </a:rPr>
              <a:t>Upright tamper grip</a:t>
            </a:r>
          </a:p>
          <a:p>
            <a:pPr marL="289560" indent="-289560" algn="l">
              <a:lnSpc>
                <a:spcPct val="118000"/>
              </a:lnSpc>
              <a:spcAft>
                <a:spcPts val="1000"/>
              </a:spcAft>
              <a:buClr>
                <a:srgbClr val="D0955F"/>
              </a:buClr>
              <a:buFont typeface="Arial"/>
              <a:buChar char="•"/>
            </a:pPr>
            <a:r>
              <a:rPr sz="2400" b="0">
                <a:solidFill>
                  <a:srgbClr val="E9D7C2"/>
                </a:solidFill>
                <a:latin typeface="Google Sans"/>
              </a:rPr>
              <a:t>Spring tamp: force and level</a:t>
            </a:r>
          </a:p>
          <a:p>
            <a:pPr marL="289560" indent="-289560" algn="l">
              <a:lnSpc>
                <a:spcPct val="118000"/>
              </a:lnSpc>
              <a:spcAft>
                <a:spcPts val="1000"/>
              </a:spcAft>
              <a:buClr>
                <a:srgbClr val="D0955F"/>
              </a:buClr>
              <a:buFont typeface="Arial"/>
              <a:buChar char="•"/>
            </a:pPr>
            <a:r>
              <a:rPr sz="2400" b="0">
                <a:solidFill>
                  <a:srgbClr val="E9D7C2"/>
                </a:solidFill>
                <a:latin typeface="Google Sans"/>
              </a:rPr>
              <a:t>Portafilter sockets</a:t>
            </a:r>
          </a:p>
        </p:txBody>
      </p:sp>
      <p:sp>
        <p:nvSpPr>
          <p:cNvPr id="19" name="TextBox 18"/>
          <p:cNvSpPr txBox="1"/>
          <p:nvPr/>
        </p:nvSpPr>
        <p:spPr>
          <a:xfrm>
            <a:off x="7525512" y="9962083"/>
            <a:ext cx="3959352" cy="365760"/>
          </a:xfrm>
          <a:prstGeom prst="rect">
            <a:avLst/>
          </a:prstGeom>
          <a:noFill/>
        </p:spPr>
        <p:txBody>
          <a:bodyPr wrap="square" lIns="0" tIns="0" rIns="0" bIns="0" anchor="t">
            <a:noAutofit/>
          </a:bodyPr>
          <a:lstStyle/>
          <a:p>
            <a:pPr algn="l">
              <a:lnSpc>
                <a:spcPct val="118000"/>
              </a:lnSpc>
              <a:spcAft>
                <a:spcPts val="0"/>
              </a:spcAft>
            </a:pPr>
            <a:r>
              <a:rPr sz="1400" b="0" spc="200">
                <a:solidFill>
                  <a:srgbClr val="D0955F"/>
                </a:solidFill>
                <a:latin typeface="Google Sans SemiBold"/>
              </a:rPr>
              <a:t>KEY FILES</a:t>
            </a:r>
          </a:p>
        </p:txBody>
      </p:sp>
      <p:sp>
        <p:nvSpPr>
          <p:cNvPr id="20" name="TextBox 19"/>
          <p:cNvSpPr txBox="1"/>
          <p:nvPr/>
        </p:nvSpPr>
        <p:spPr>
          <a:xfrm>
            <a:off x="7525512" y="10373563"/>
            <a:ext cx="3959352" cy="669340"/>
          </a:xfrm>
          <a:prstGeom prst="rect">
            <a:avLst/>
          </a:prstGeom>
          <a:noFill/>
        </p:spPr>
        <p:txBody>
          <a:bodyPr wrap="square" lIns="0" tIns="0" rIns="0" bIns="0" anchor="t">
            <a:noAutofit/>
          </a:bodyPr>
          <a:lstStyle/>
          <a:p>
            <a:pPr algn="l">
              <a:lnSpc>
                <a:spcPct val="120000"/>
              </a:lnSpc>
              <a:spcAft>
                <a:spcPts val="0"/>
              </a:spcAft>
            </a:pPr>
            <a:r>
              <a:rPr sz="1800" b="0">
                <a:solidFill>
                  <a:srgbClr val="C9B29B"/>
                </a:solidFill>
                <a:latin typeface="Google Sans"/>
              </a:rPr>
              <a:t>GrinderStation, GrindDial, Tamper, TamperPress, TamperGrabTransformer</a:t>
            </a:r>
          </a:p>
        </p:txBody>
      </p:sp>
      <p:sp>
        <p:nvSpPr>
          <p:cNvPr id="21" name="Rounded Rectangle 20"/>
          <p:cNvSpPr/>
          <p:nvPr/>
        </p:nvSpPr>
        <p:spPr>
          <a:xfrm>
            <a:off x="12399264" y="3566160"/>
            <a:ext cx="4965192" cy="7979664"/>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2902184" y="4069080"/>
            <a:ext cx="3959352"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D0955F"/>
                </a:solidFill>
                <a:latin typeface="Google Sans SemiBold"/>
              </a:rPr>
              <a:t>MEMBER C</a:t>
            </a:r>
          </a:p>
        </p:txBody>
      </p:sp>
      <p:sp>
        <p:nvSpPr>
          <p:cNvPr id="23" name="TextBox 22"/>
          <p:cNvSpPr txBox="1"/>
          <p:nvPr/>
        </p:nvSpPr>
        <p:spPr>
          <a:xfrm>
            <a:off x="12902184" y="4526280"/>
            <a:ext cx="3959352" cy="457200"/>
          </a:xfrm>
          <a:prstGeom prst="rect">
            <a:avLst/>
          </a:prstGeom>
          <a:noFill/>
        </p:spPr>
        <p:txBody>
          <a:bodyPr wrap="square" lIns="0" tIns="0" rIns="0" bIns="0" anchor="t">
            <a:noAutofit/>
          </a:bodyPr>
          <a:lstStyle/>
          <a:p>
            <a:pPr algn="l">
              <a:lnSpc>
                <a:spcPct val="118000"/>
              </a:lnSpc>
              <a:spcAft>
                <a:spcPts val="0"/>
              </a:spcAft>
            </a:pPr>
            <a:r>
              <a:rPr sz="2200" b="0">
                <a:solidFill>
                  <a:srgbClr val="C9B29B"/>
                </a:solidFill>
                <a:latin typeface="Google Sans"/>
              </a:rPr>
              <a:t>&lt;name&gt;</a:t>
            </a:r>
          </a:p>
        </p:txBody>
      </p:sp>
      <p:sp>
        <p:nvSpPr>
          <p:cNvPr id="24" name="TextBox 23"/>
          <p:cNvSpPr txBox="1"/>
          <p:nvPr/>
        </p:nvSpPr>
        <p:spPr>
          <a:xfrm>
            <a:off x="12902184" y="5120640"/>
            <a:ext cx="3959352" cy="548640"/>
          </a:xfrm>
          <a:prstGeom prst="rect">
            <a:avLst/>
          </a:prstGeom>
          <a:noFill/>
        </p:spPr>
        <p:txBody>
          <a:bodyPr wrap="square" lIns="0" tIns="0" rIns="0" bIns="0" anchor="t">
            <a:noAutofit/>
          </a:bodyPr>
          <a:lstStyle/>
          <a:p>
            <a:pPr algn="l">
              <a:lnSpc>
                <a:spcPct val="118000"/>
              </a:lnSpc>
              <a:spcAft>
                <a:spcPts val="0"/>
              </a:spcAft>
            </a:pPr>
            <a:r>
              <a:rPr sz="3200" b="0">
                <a:solidFill>
                  <a:srgbClr val="E9D7C2"/>
                </a:solidFill>
                <a:latin typeface="Google Sans SemiBold"/>
              </a:rPr>
              <a:t>Brew &amp; model</a:t>
            </a:r>
          </a:p>
        </p:txBody>
      </p:sp>
      <p:cxnSp>
        <p:nvCxnSpPr>
          <p:cNvPr id="25" name="Connector 24"/>
          <p:cNvCxnSpPr/>
          <p:nvPr/>
        </p:nvCxnSpPr>
        <p:spPr>
          <a:xfrm>
            <a:off x="12902184" y="6080760"/>
            <a:ext cx="3959352" cy="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12902184" y="6400800"/>
            <a:ext cx="3959352" cy="3058363"/>
          </a:xfrm>
          <a:prstGeom prst="rect">
            <a:avLst/>
          </a:prstGeom>
          <a:noFill/>
        </p:spPr>
        <p:txBody>
          <a:bodyPr wrap="square" lIns="0" tIns="0" rIns="0" bIns="0" anchor="t">
            <a:noAutofit/>
          </a:bodyPr>
          <a:lstStyle/>
          <a:p>
            <a:pPr marL="289560" indent="-289560" algn="l">
              <a:lnSpc>
                <a:spcPct val="118000"/>
              </a:lnSpc>
              <a:spcAft>
                <a:spcPts val="1000"/>
              </a:spcAft>
              <a:buClr>
                <a:srgbClr val="D0955F"/>
              </a:buClr>
              <a:buFont typeface="Arial"/>
              <a:buChar char="•"/>
            </a:pPr>
            <a:r>
              <a:rPr sz="2400" b="0">
                <a:solidFill>
                  <a:srgbClr val="E9D7C2"/>
                </a:solidFill>
                <a:latin typeface="Google Sans"/>
              </a:rPr>
              <a:t>Group-head bayonet lock</a:t>
            </a:r>
          </a:p>
          <a:p>
            <a:pPr marL="289560" indent="-289560" algn="l">
              <a:lnSpc>
                <a:spcPct val="118000"/>
              </a:lnSpc>
              <a:spcAft>
                <a:spcPts val="1000"/>
              </a:spcAft>
              <a:buClr>
                <a:srgbClr val="D0955F"/>
              </a:buClr>
              <a:buFont typeface="Arial"/>
              <a:buChar char="•"/>
            </a:pPr>
            <a:r>
              <a:rPr sz="2400" b="0">
                <a:solidFill>
                  <a:srgbClr val="E9D7C2"/>
                </a:solidFill>
                <a:latin typeface="Google Sans"/>
              </a:rPr>
              <a:t>Live extraction model</a:t>
            </a:r>
          </a:p>
          <a:p>
            <a:pPr marL="289560" indent="-289560" algn="l">
              <a:lnSpc>
                <a:spcPct val="118000"/>
              </a:lnSpc>
              <a:spcAft>
                <a:spcPts val="1000"/>
              </a:spcAft>
              <a:buClr>
                <a:srgbClr val="D0955F"/>
              </a:buClr>
              <a:buFont typeface="Arial"/>
              <a:buChar char="•"/>
            </a:pPr>
            <a:r>
              <a:rPr sz="2400" b="0">
                <a:solidFill>
                  <a:srgbClr val="E9D7C2"/>
                </a:solidFill>
                <a:latin typeface="Google Sans"/>
              </a:rPr>
              <a:t>Pressure gauge, timer, yield</a:t>
            </a:r>
          </a:p>
        </p:txBody>
      </p:sp>
      <p:sp>
        <p:nvSpPr>
          <p:cNvPr id="27" name="TextBox 26"/>
          <p:cNvSpPr txBox="1"/>
          <p:nvPr/>
        </p:nvSpPr>
        <p:spPr>
          <a:xfrm>
            <a:off x="12902184" y="9962083"/>
            <a:ext cx="3959352" cy="365760"/>
          </a:xfrm>
          <a:prstGeom prst="rect">
            <a:avLst/>
          </a:prstGeom>
          <a:noFill/>
        </p:spPr>
        <p:txBody>
          <a:bodyPr wrap="square" lIns="0" tIns="0" rIns="0" bIns="0" anchor="t">
            <a:noAutofit/>
          </a:bodyPr>
          <a:lstStyle/>
          <a:p>
            <a:pPr algn="l">
              <a:lnSpc>
                <a:spcPct val="118000"/>
              </a:lnSpc>
              <a:spcAft>
                <a:spcPts val="0"/>
              </a:spcAft>
            </a:pPr>
            <a:r>
              <a:rPr sz="1400" b="0" spc="200">
                <a:solidFill>
                  <a:srgbClr val="D0955F"/>
                </a:solidFill>
                <a:latin typeface="Google Sans SemiBold"/>
              </a:rPr>
              <a:t>KEY FILES</a:t>
            </a:r>
          </a:p>
        </p:txBody>
      </p:sp>
      <p:sp>
        <p:nvSpPr>
          <p:cNvPr id="28" name="TextBox 27"/>
          <p:cNvSpPr txBox="1"/>
          <p:nvPr/>
        </p:nvSpPr>
        <p:spPr>
          <a:xfrm>
            <a:off x="12902184" y="10373563"/>
            <a:ext cx="3959352" cy="669340"/>
          </a:xfrm>
          <a:prstGeom prst="rect">
            <a:avLst/>
          </a:prstGeom>
          <a:noFill/>
        </p:spPr>
        <p:txBody>
          <a:bodyPr wrap="square" lIns="0" tIns="0" rIns="0" bIns="0" anchor="t">
            <a:noAutofit/>
          </a:bodyPr>
          <a:lstStyle/>
          <a:p>
            <a:pPr algn="l">
              <a:lnSpc>
                <a:spcPct val="120000"/>
              </a:lnSpc>
              <a:spcAft>
                <a:spcPts val="0"/>
              </a:spcAft>
            </a:pPr>
            <a:r>
              <a:rPr sz="1800" b="0">
                <a:solidFill>
                  <a:srgbClr val="C9B29B"/>
                </a:solidFill>
                <a:latin typeface="Google Sans"/>
              </a:rPr>
              <a:t>GroupHead, ExtractionModel, MachineGauge</a:t>
            </a:r>
          </a:p>
        </p:txBody>
      </p:sp>
      <p:sp>
        <p:nvSpPr>
          <p:cNvPr id="29" name="Rounded Rectangle 28"/>
          <p:cNvSpPr/>
          <p:nvPr/>
        </p:nvSpPr>
        <p:spPr>
          <a:xfrm>
            <a:off x="17775936" y="3566160"/>
            <a:ext cx="4965192" cy="7979664"/>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8278856" y="4069080"/>
            <a:ext cx="3959352"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D0955F"/>
                </a:solidFill>
                <a:latin typeface="Google Sans SemiBold"/>
              </a:rPr>
              <a:t>MEMBER D</a:t>
            </a:r>
          </a:p>
        </p:txBody>
      </p:sp>
      <p:sp>
        <p:nvSpPr>
          <p:cNvPr id="31" name="TextBox 30"/>
          <p:cNvSpPr txBox="1"/>
          <p:nvPr/>
        </p:nvSpPr>
        <p:spPr>
          <a:xfrm>
            <a:off x="18278856" y="4526280"/>
            <a:ext cx="3959352" cy="457200"/>
          </a:xfrm>
          <a:prstGeom prst="rect">
            <a:avLst/>
          </a:prstGeom>
          <a:noFill/>
        </p:spPr>
        <p:txBody>
          <a:bodyPr wrap="square" lIns="0" tIns="0" rIns="0" bIns="0" anchor="t">
            <a:noAutofit/>
          </a:bodyPr>
          <a:lstStyle/>
          <a:p>
            <a:pPr algn="l">
              <a:lnSpc>
                <a:spcPct val="118000"/>
              </a:lnSpc>
              <a:spcAft>
                <a:spcPts val="0"/>
              </a:spcAft>
            </a:pPr>
            <a:r>
              <a:rPr sz="2200" b="0">
                <a:solidFill>
                  <a:srgbClr val="C9B29B"/>
                </a:solidFill>
                <a:latin typeface="Google Sans"/>
              </a:rPr>
              <a:t>&lt;name&gt;</a:t>
            </a:r>
          </a:p>
        </p:txBody>
      </p:sp>
      <p:sp>
        <p:nvSpPr>
          <p:cNvPr id="32" name="TextBox 31"/>
          <p:cNvSpPr txBox="1"/>
          <p:nvPr/>
        </p:nvSpPr>
        <p:spPr>
          <a:xfrm>
            <a:off x="18278856" y="5120640"/>
            <a:ext cx="3959352" cy="548640"/>
          </a:xfrm>
          <a:prstGeom prst="rect">
            <a:avLst/>
          </a:prstGeom>
          <a:noFill/>
        </p:spPr>
        <p:txBody>
          <a:bodyPr wrap="square" lIns="0" tIns="0" rIns="0" bIns="0" anchor="t">
            <a:noAutofit/>
          </a:bodyPr>
          <a:lstStyle/>
          <a:p>
            <a:pPr algn="l">
              <a:lnSpc>
                <a:spcPct val="118000"/>
              </a:lnSpc>
              <a:spcAft>
                <a:spcPts val="0"/>
              </a:spcAft>
            </a:pPr>
            <a:r>
              <a:rPr sz="3200" b="0">
                <a:solidFill>
                  <a:srgbClr val="E9D7C2"/>
                </a:solidFill>
                <a:latin typeface="Google Sans SemiBold"/>
              </a:rPr>
              <a:t>Milk, flow &amp; audio</a:t>
            </a:r>
          </a:p>
        </p:txBody>
      </p:sp>
      <p:cxnSp>
        <p:nvCxnSpPr>
          <p:cNvPr id="33" name="Connector 32"/>
          <p:cNvCxnSpPr/>
          <p:nvPr/>
        </p:nvCxnSpPr>
        <p:spPr>
          <a:xfrm>
            <a:off x="18278856" y="6080760"/>
            <a:ext cx="3959352" cy="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18278856" y="6400800"/>
            <a:ext cx="3959352" cy="3058363"/>
          </a:xfrm>
          <a:prstGeom prst="rect">
            <a:avLst/>
          </a:prstGeom>
          <a:noFill/>
        </p:spPr>
        <p:txBody>
          <a:bodyPr wrap="square" lIns="0" tIns="0" rIns="0" bIns="0" anchor="t">
            <a:noAutofit/>
          </a:bodyPr>
          <a:lstStyle/>
          <a:p>
            <a:pPr marL="289560" indent="-289560" algn="l">
              <a:lnSpc>
                <a:spcPct val="118000"/>
              </a:lnSpc>
              <a:spcAft>
                <a:spcPts val="1000"/>
              </a:spcAft>
              <a:buClr>
                <a:srgbClr val="D0955F"/>
              </a:buClr>
              <a:buFont typeface="Arial"/>
              <a:buChar char="•"/>
            </a:pPr>
            <a:r>
              <a:rPr sz="2400" b="0">
                <a:solidFill>
                  <a:srgbClr val="E9D7C2"/>
                </a:solidFill>
                <a:latin typeface="Google Sans"/>
              </a:rPr>
              <a:t>Steam to 65 °C and pour</a:t>
            </a:r>
          </a:p>
          <a:p>
            <a:pPr marL="289560" indent="-289560" algn="l">
              <a:lnSpc>
                <a:spcPct val="118000"/>
              </a:lnSpc>
              <a:spcAft>
                <a:spcPts val="1000"/>
              </a:spcAft>
              <a:buClr>
                <a:srgbClr val="D0955F"/>
              </a:buClr>
              <a:buFont typeface="Arial"/>
              <a:buChar char="•"/>
            </a:pPr>
            <a:r>
              <a:rPr sz="2400" b="0">
                <a:solidFill>
                  <a:srgbClr val="E9D7C2"/>
                </a:solidFill>
                <a:latin typeface="Google Sans"/>
              </a:rPr>
              <a:t>ShiftFlow, ticket, result dial</a:t>
            </a:r>
          </a:p>
          <a:p>
            <a:pPr marL="289560" indent="-289560" algn="l">
              <a:lnSpc>
                <a:spcPct val="118000"/>
              </a:lnSpc>
              <a:spcAft>
                <a:spcPts val="1000"/>
              </a:spcAft>
              <a:buClr>
                <a:srgbClr val="D0955F"/>
              </a:buClr>
              <a:buFont typeface="Arial"/>
              <a:buChar char="•"/>
            </a:pPr>
            <a:r>
              <a:rPr sz="2400" b="0">
                <a:solidFill>
                  <a:srgbClr val="E9D7C2"/>
                </a:solidFill>
                <a:latin typeface="Google Sans"/>
              </a:rPr>
              <a:t>Spatial audio</a:t>
            </a:r>
          </a:p>
          <a:p>
            <a:pPr marL="289560" indent="-289560" algn="l">
              <a:lnSpc>
                <a:spcPct val="118000"/>
              </a:lnSpc>
              <a:spcAft>
                <a:spcPts val="1000"/>
              </a:spcAft>
              <a:buClr>
                <a:srgbClr val="D0955F"/>
              </a:buClr>
              <a:buFont typeface="Arial"/>
              <a:buChar char="•"/>
            </a:pPr>
            <a:r>
              <a:rPr sz="2400" b="0">
                <a:solidFill>
                  <a:srgbClr val="E9D7C2"/>
                </a:solidFill>
                <a:latin typeface="Google Sans"/>
              </a:rPr>
              <a:t>Welcome &amp; credits boards</a:t>
            </a:r>
          </a:p>
        </p:txBody>
      </p:sp>
      <p:sp>
        <p:nvSpPr>
          <p:cNvPr id="35" name="TextBox 34"/>
          <p:cNvSpPr txBox="1"/>
          <p:nvPr/>
        </p:nvSpPr>
        <p:spPr>
          <a:xfrm>
            <a:off x="18278856" y="9962083"/>
            <a:ext cx="3959352" cy="365760"/>
          </a:xfrm>
          <a:prstGeom prst="rect">
            <a:avLst/>
          </a:prstGeom>
          <a:noFill/>
        </p:spPr>
        <p:txBody>
          <a:bodyPr wrap="square" lIns="0" tIns="0" rIns="0" bIns="0" anchor="t">
            <a:noAutofit/>
          </a:bodyPr>
          <a:lstStyle/>
          <a:p>
            <a:pPr algn="l">
              <a:lnSpc>
                <a:spcPct val="118000"/>
              </a:lnSpc>
              <a:spcAft>
                <a:spcPts val="0"/>
              </a:spcAft>
            </a:pPr>
            <a:r>
              <a:rPr sz="1400" b="0" spc="200">
                <a:solidFill>
                  <a:srgbClr val="D0955F"/>
                </a:solidFill>
                <a:latin typeface="Google Sans SemiBold"/>
              </a:rPr>
              <a:t>KEY FILES</a:t>
            </a:r>
          </a:p>
        </p:txBody>
      </p:sp>
      <p:sp>
        <p:nvSpPr>
          <p:cNvPr id="36" name="TextBox 35"/>
          <p:cNvSpPr txBox="1"/>
          <p:nvPr/>
        </p:nvSpPr>
        <p:spPr>
          <a:xfrm>
            <a:off x="18278856" y="10373563"/>
            <a:ext cx="3959352" cy="669340"/>
          </a:xfrm>
          <a:prstGeom prst="rect">
            <a:avLst/>
          </a:prstGeom>
          <a:noFill/>
        </p:spPr>
        <p:txBody>
          <a:bodyPr wrap="square" lIns="0" tIns="0" rIns="0" bIns="0" anchor="t">
            <a:noAutofit/>
          </a:bodyPr>
          <a:lstStyle/>
          <a:p>
            <a:pPr algn="l">
              <a:lnSpc>
                <a:spcPct val="120000"/>
              </a:lnSpc>
              <a:spcAft>
                <a:spcPts val="0"/>
              </a:spcAft>
            </a:pPr>
            <a:r>
              <a:rPr sz="1800" b="0">
                <a:solidFill>
                  <a:srgbClr val="C9B29B"/>
                </a:solidFill>
                <a:latin typeface="Google Sans"/>
              </a:rPr>
              <a:t>SteamWand, MilkPour, ShiftFlow, OrderTicket, ResultDial, AudioKit</a:t>
            </a:r>
          </a:p>
        </p:txBody>
      </p:sp>
      <p:sp>
        <p:nvSpPr>
          <p:cNvPr id="37" name="TextBox 36"/>
          <p:cNvSpPr txBox="1"/>
          <p:nvPr/>
        </p:nvSpPr>
        <p:spPr>
          <a:xfrm>
            <a:off x="1645920" y="12048744"/>
            <a:ext cx="21095208" cy="457200"/>
          </a:xfrm>
          <a:prstGeom prst="rect">
            <a:avLst/>
          </a:prstGeom>
          <a:noFill/>
        </p:spPr>
        <p:txBody>
          <a:bodyPr wrap="square" lIns="0" tIns="0" rIns="0" bIns="0" anchor="t">
            <a:noAutofit/>
          </a:bodyPr>
          <a:lstStyle/>
          <a:p>
            <a:pPr algn="l">
              <a:lnSpc>
                <a:spcPct val="118000"/>
              </a:lnSpc>
              <a:spcAft>
                <a:spcPts val="0"/>
              </a:spcAft>
            </a:pPr>
            <a:r>
              <a:rPr sz="2100" b="0">
                <a:solidFill>
                  <a:srgbClr val="C9B29B"/>
                </a:solidFill>
                <a:latin typeface="Google Sans"/>
              </a:rPr>
              <a:t>Each member operates and explains their own part live in the demo.</a:t>
            </a:r>
          </a:p>
        </p:txBody>
      </p:sp>
      <p:sp>
        <p:nvSpPr>
          <p:cNvPr id="38" name="TextBox 37"/>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39" name="TextBox 38"/>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2206" y="6057900"/>
            <a:ext cx="12726988" cy="76581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03 · PROJECT MANAGEMENT</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Plan vs. what actually happened</a:t>
            </a:r>
          </a:p>
        </p:txBody>
      </p:sp>
      <p:sp>
        <p:nvSpPr>
          <p:cNvPr id="5" name="Rounded Rectangle 4"/>
          <p:cNvSpPr/>
          <p:nvPr/>
        </p:nvSpPr>
        <p:spPr>
          <a:xfrm>
            <a:off x="14328648" y="2103120"/>
            <a:ext cx="685800" cy="256032"/>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5197328" y="1993392"/>
            <a:ext cx="2377440" cy="457200"/>
          </a:xfrm>
          <a:prstGeom prst="rect">
            <a:avLst/>
          </a:prstGeom>
          <a:noFill/>
        </p:spPr>
        <p:txBody>
          <a:bodyPr wrap="square" lIns="0" tIns="0" rIns="0" bIns="0" anchor="t">
            <a:noAutofit/>
          </a:bodyPr>
          <a:lstStyle/>
          <a:p>
            <a:pPr algn="l">
              <a:lnSpc>
                <a:spcPct val="118000"/>
              </a:lnSpc>
              <a:spcAft>
                <a:spcPts val="0"/>
              </a:spcAft>
            </a:pPr>
            <a:r>
              <a:rPr sz="1900" b="0">
                <a:solidFill>
                  <a:srgbClr val="4A3B31"/>
                </a:solidFill>
                <a:latin typeface="Google Sans"/>
              </a:rPr>
              <a:t>Planned</a:t>
            </a:r>
          </a:p>
        </p:txBody>
      </p:sp>
      <p:sp>
        <p:nvSpPr>
          <p:cNvPr id="7" name="Rounded Rectangle 6"/>
          <p:cNvSpPr/>
          <p:nvPr/>
        </p:nvSpPr>
        <p:spPr>
          <a:xfrm>
            <a:off x="17437608" y="2103120"/>
            <a:ext cx="685800" cy="256032"/>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306288" y="1993392"/>
            <a:ext cx="4480560" cy="457200"/>
          </a:xfrm>
          <a:prstGeom prst="rect">
            <a:avLst/>
          </a:prstGeom>
          <a:noFill/>
        </p:spPr>
        <p:txBody>
          <a:bodyPr wrap="square" lIns="0" tIns="0" rIns="0" bIns="0" anchor="t">
            <a:noAutofit/>
          </a:bodyPr>
          <a:lstStyle/>
          <a:p>
            <a:pPr algn="l">
              <a:lnSpc>
                <a:spcPct val="118000"/>
              </a:lnSpc>
              <a:spcAft>
                <a:spcPts val="0"/>
              </a:spcAft>
            </a:pPr>
            <a:r>
              <a:rPr sz="1900" b="0">
                <a:solidFill>
                  <a:srgbClr val="4A3B31"/>
                </a:solidFill>
                <a:latin typeface="Google Sans"/>
              </a:rPr>
              <a:t>Actual (drag to match)</a:t>
            </a:r>
          </a:p>
        </p:txBody>
      </p:sp>
      <p:sp>
        <p:nvSpPr>
          <p:cNvPr id="9" name="TextBox 8"/>
          <p:cNvSpPr txBox="1"/>
          <p:nvPr/>
        </p:nvSpPr>
        <p:spPr>
          <a:xfrm>
            <a:off x="1645920" y="3474720"/>
            <a:ext cx="6766560" cy="457200"/>
          </a:xfrm>
          <a:prstGeom prst="rect">
            <a:avLst/>
          </a:prstGeom>
          <a:noFill/>
        </p:spPr>
        <p:txBody>
          <a:bodyPr wrap="square" lIns="0" tIns="0" rIns="0" bIns="0" anchor="t">
            <a:noAutofit/>
          </a:bodyPr>
          <a:lstStyle/>
          <a:p>
            <a:pPr algn="l">
              <a:lnSpc>
                <a:spcPct val="118000"/>
              </a:lnSpc>
              <a:spcAft>
                <a:spcPts val="0"/>
              </a:spcAft>
            </a:pPr>
            <a:r>
              <a:rPr sz="1500" b="0" spc="200">
                <a:solidFill>
                  <a:srgbClr val="8A7260"/>
                </a:solidFill>
                <a:latin typeface="Google Sans SemiBold"/>
              </a:rPr>
              <a:t>TASK</a:t>
            </a:r>
          </a:p>
        </p:txBody>
      </p:sp>
      <p:sp>
        <p:nvSpPr>
          <p:cNvPr id="10" name="TextBox 9"/>
          <p:cNvSpPr txBox="1"/>
          <p:nvPr/>
        </p:nvSpPr>
        <p:spPr>
          <a:xfrm>
            <a:off x="8412480" y="3474720"/>
            <a:ext cx="2388108" cy="457200"/>
          </a:xfrm>
          <a:prstGeom prst="rect">
            <a:avLst/>
          </a:prstGeom>
          <a:noFill/>
        </p:spPr>
        <p:txBody>
          <a:bodyPr wrap="square" lIns="0" tIns="0" rIns="0" bIns="0" anchor="t">
            <a:noAutofit/>
          </a:bodyPr>
          <a:lstStyle/>
          <a:p>
            <a:pPr algn="ctr">
              <a:lnSpc>
                <a:spcPct val="118000"/>
              </a:lnSpc>
              <a:spcAft>
                <a:spcPts val="0"/>
              </a:spcAft>
            </a:pPr>
            <a:r>
              <a:rPr sz="1500" b="0" spc="150">
                <a:solidFill>
                  <a:srgbClr val="8A7260"/>
                </a:solidFill>
                <a:latin typeface="Google Sans SemiBold"/>
              </a:rPr>
              <a:t>MON 5 OCT</a:t>
            </a:r>
          </a:p>
        </p:txBody>
      </p:sp>
      <p:sp>
        <p:nvSpPr>
          <p:cNvPr id="11" name="TextBox 10"/>
          <p:cNvSpPr txBox="1"/>
          <p:nvPr/>
        </p:nvSpPr>
        <p:spPr>
          <a:xfrm>
            <a:off x="10800588" y="3474720"/>
            <a:ext cx="2388108" cy="457200"/>
          </a:xfrm>
          <a:prstGeom prst="rect">
            <a:avLst/>
          </a:prstGeom>
          <a:noFill/>
        </p:spPr>
        <p:txBody>
          <a:bodyPr wrap="square" lIns="0" tIns="0" rIns="0" bIns="0" anchor="t">
            <a:noAutofit/>
          </a:bodyPr>
          <a:lstStyle/>
          <a:p>
            <a:pPr algn="ctr">
              <a:lnSpc>
                <a:spcPct val="118000"/>
              </a:lnSpc>
              <a:spcAft>
                <a:spcPts val="0"/>
              </a:spcAft>
            </a:pPr>
            <a:r>
              <a:rPr sz="1500" b="0" spc="150">
                <a:solidFill>
                  <a:srgbClr val="8A7260"/>
                </a:solidFill>
                <a:latin typeface="Google Sans SemiBold"/>
              </a:rPr>
              <a:t>TUE 6 OCT</a:t>
            </a:r>
          </a:p>
        </p:txBody>
      </p:sp>
      <p:sp>
        <p:nvSpPr>
          <p:cNvPr id="12" name="TextBox 11"/>
          <p:cNvSpPr txBox="1"/>
          <p:nvPr/>
        </p:nvSpPr>
        <p:spPr>
          <a:xfrm>
            <a:off x="13188696" y="3474720"/>
            <a:ext cx="2388108" cy="457200"/>
          </a:xfrm>
          <a:prstGeom prst="rect">
            <a:avLst/>
          </a:prstGeom>
          <a:noFill/>
        </p:spPr>
        <p:txBody>
          <a:bodyPr wrap="square" lIns="0" tIns="0" rIns="0" bIns="0" anchor="t">
            <a:noAutofit/>
          </a:bodyPr>
          <a:lstStyle/>
          <a:p>
            <a:pPr algn="ctr">
              <a:lnSpc>
                <a:spcPct val="118000"/>
              </a:lnSpc>
              <a:spcAft>
                <a:spcPts val="0"/>
              </a:spcAft>
            </a:pPr>
            <a:r>
              <a:rPr sz="1500" b="0" spc="150">
                <a:solidFill>
                  <a:srgbClr val="8A7260"/>
                </a:solidFill>
                <a:latin typeface="Google Sans SemiBold"/>
              </a:rPr>
              <a:t>WED 7 OCT</a:t>
            </a:r>
          </a:p>
        </p:txBody>
      </p:sp>
      <p:sp>
        <p:nvSpPr>
          <p:cNvPr id="13" name="TextBox 12"/>
          <p:cNvSpPr txBox="1"/>
          <p:nvPr/>
        </p:nvSpPr>
        <p:spPr>
          <a:xfrm>
            <a:off x="15576804" y="3474720"/>
            <a:ext cx="2388108" cy="457200"/>
          </a:xfrm>
          <a:prstGeom prst="rect">
            <a:avLst/>
          </a:prstGeom>
          <a:noFill/>
        </p:spPr>
        <p:txBody>
          <a:bodyPr wrap="square" lIns="0" tIns="0" rIns="0" bIns="0" anchor="t">
            <a:noAutofit/>
          </a:bodyPr>
          <a:lstStyle/>
          <a:p>
            <a:pPr algn="ctr">
              <a:lnSpc>
                <a:spcPct val="118000"/>
              </a:lnSpc>
              <a:spcAft>
                <a:spcPts val="0"/>
              </a:spcAft>
            </a:pPr>
            <a:r>
              <a:rPr sz="1500" b="0" spc="150">
                <a:solidFill>
                  <a:srgbClr val="8A7260"/>
                </a:solidFill>
                <a:latin typeface="Google Sans SemiBold"/>
              </a:rPr>
              <a:t>THU 8 OCT</a:t>
            </a:r>
          </a:p>
        </p:txBody>
      </p:sp>
      <p:sp>
        <p:nvSpPr>
          <p:cNvPr id="14" name="TextBox 13"/>
          <p:cNvSpPr txBox="1"/>
          <p:nvPr/>
        </p:nvSpPr>
        <p:spPr>
          <a:xfrm>
            <a:off x="17964912" y="3474720"/>
            <a:ext cx="2388108" cy="457200"/>
          </a:xfrm>
          <a:prstGeom prst="rect">
            <a:avLst/>
          </a:prstGeom>
          <a:noFill/>
        </p:spPr>
        <p:txBody>
          <a:bodyPr wrap="square" lIns="0" tIns="0" rIns="0" bIns="0" anchor="t">
            <a:noAutofit/>
          </a:bodyPr>
          <a:lstStyle/>
          <a:p>
            <a:pPr algn="ctr">
              <a:lnSpc>
                <a:spcPct val="118000"/>
              </a:lnSpc>
              <a:spcAft>
                <a:spcPts val="0"/>
              </a:spcAft>
            </a:pPr>
            <a:r>
              <a:rPr sz="1500" b="0" spc="150">
                <a:solidFill>
                  <a:srgbClr val="8A7260"/>
                </a:solidFill>
                <a:latin typeface="Google Sans SemiBold"/>
              </a:rPr>
              <a:t>FRI 9 OCT</a:t>
            </a:r>
          </a:p>
        </p:txBody>
      </p:sp>
      <p:sp>
        <p:nvSpPr>
          <p:cNvPr id="15" name="TextBox 14"/>
          <p:cNvSpPr txBox="1"/>
          <p:nvPr/>
        </p:nvSpPr>
        <p:spPr>
          <a:xfrm>
            <a:off x="20353020" y="3474720"/>
            <a:ext cx="2388108" cy="457200"/>
          </a:xfrm>
          <a:prstGeom prst="rect">
            <a:avLst/>
          </a:prstGeom>
          <a:noFill/>
        </p:spPr>
        <p:txBody>
          <a:bodyPr wrap="square" lIns="0" tIns="0" rIns="0" bIns="0" anchor="t">
            <a:noAutofit/>
          </a:bodyPr>
          <a:lstStyle/>
          <a:p>
            <a:pPr algn="ctr">
              <a:lnSpc>
                <a:spcPct val="118000"/>
              </a:lnSpc>
              <a:spcAft>
                <a:spcPts val="0"/>
              </a:spcAft>
            </a:pPr>
            <a:r>
              <a:rPr sz="1500" b="0" spc="150">
                <a:solidFill>
                  <a:srgbClr val="8A7260"/>
                </a:solidFill>
                <a:latin typeface="Google Sans SemiBold"/>
              </a:rPr>
              <a:t>SAT 10 OCT</a:t>
            </a:r>
          </a:p>
        </p:txBody>
      </p:sp>
      <p:cxnSp>
        <p:nvCxnSpPr>
          <p:cNvPr id="16" name="Connector 15"/>
          <p:cNvCxnSpPr/>
          <p:nvPr/>
        </p:nvCxnSpPr>
        <p:spPr>
          <a:xfrm>
            <a:off x="1645920" y="4023359"/>
            <a:ext cx="21095208" cy="0"/>
          </a:xfrm>
          <a:prstGeom prst="line">
            <a:avLst/>
          </a:prstGeom>
          <a:ln w="15875">
            <a:solidFill>
              <a:srgbClr val="D6C0A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1463040" y="4160520"/>
            <a:ext cx="21460968" cy="987552"/>
          </a:xfrm>
          <a:prstGeom prst="roundRect">
            <a:avLst>
              <a:gd name="adj" fmla="val 12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45920" y="4160520"/>
            <a:ext cx="6492240" cy="987552"/>
          </a:xfrm>
          <a:prstGeom prst="rect">
            <a:avLst/>
          </a:prstGeom>
          <a:noFill/>
        </p:spPr>
        <p:txBody>
          <a:bodyPr wrap="square" lIns="0" tIns="0" rIns="0" bIns="0" anchor="ctr">
            <a:noAutofit/>
          </a:bodyPr>
          <a:lstStyle/>
          <a:p>
            <a:pPr algn="l">
              <a:lnSpc>
                <a:spcPct val="118000"/>
              </a:lnSpc>
              <a:spcAft>
                <a:spcPts val="0"/>
              </a:spcAft>
            </a:pPr>
            <a:r>
              <a:rPr sz="2100" b="0">
                <a:solidFill>
                  <a:srgbClr val="2B221D"/>
                </a:solidFill>
                <a:latin typeface="Google Sans"/>
              </a:rPr>
              <a:t>Rig, packages, grey-box café</a:t>
            </a:r>
          </a:p>
        </p:txBody>
      </p:sp>
      <p:sp>
        <p:nvSpPr>
          <p:cNvPr id="19" name="Rounded Rectangle 18"/>
          <p:cNvSpPr/>
          <p:nvPr/>
        </p:nvSpPr>
        <p:spPr>
          <a:xfrm>
            <a:off x="8549640" y="4379976"/>
            <a:ext cx="2113788" cy="237744"/>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ACTUAL bar - Rig, packages, grey-box café"/>
          <p:cNvSpPr/>
          <p:nvPr/>
        </p:nvSpPr>
        <p:spPr>
          <a:xfrm>
            <a:off x="8549640" y="4709159"/>
            <a:ext cx="2113788" cy="237744"/>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645920" y="5148072"/>
            <a:ext cx="6492240" cy="987552"/>
          </a:xfrm>
          <a:prstGeom prst="rect">
            <a:avLst/>
          </a:prstGeom>
          <a:noFill/>
        </p:spPr>
        <p:txBody>
          <a:bodyPr wrap="square" lIns="0" tIns="0" rIns="0" bIns="0" anchor="ctr">
            <a:noAutofit/>
          </a:bodyPr>
          <a:lstStyle/>
          <a:p>
            <a:pPr algn="l">
              <a:lnSpc>
                <a:spcPct val="118000"/>
              </a:lnSpc>
              <a:spcAft>
                <a:spcPts val="0"/>
              </a:spcAft>
            </a:pPr>
            <a:r>
              <a:rPr sz="2100" b="0">
                <a:solidFill>
                  <a:srgbClr val="2B221D"/>
                </a:solidFill>
                <a:latin typeface="Google Sans"/>
              </a:rPr>
              <a:t>Dose &amp; tamp</a:t>
            </a:r>
          </a:p>
        </p:txBody>
      </p:sp>
      <p:sp>
        <p:nvSpPr>
          <p:cNvPr id="22" name="Rounded Rectangle 21"/>
          <p:cNvSpPr/>
          <p:nvPr/>
        </p:nvSpPr>
        <p:spPr>
          <a:xfrm>
            <a:off x="10937748" y="5367528"/>
            <a:ext cx="2113788" cy="237744"/>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ACTUAL bar - Dose &amp; tamp"/>
          <p:cNvSpPr/>
          <p:nvPr/>
        </p:nvSpPr>
        <p:spPr>
          <a:xfrm>
            <a:off x="10937748" y="5696712"/>
            <a:ext cx="2113788" cy="237744"/>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1463040" y="6135624"/>
            <a:ext cx="21460968" cy="987552"/>
          </a:xfrm>
          <a:prstGeom prst="roundRect">
            <a:avLst>
              <a:gd name="adj" fmla="val 12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645920" y="6135624"/>
            <a:ext cx="6492240" cy="987552"/>
          </a:xfrm>
          <a:prstGeom prst="rect">
            <a:avLst/>
          </a:prstGeom>
          <a:noFill/>
        </p:spPr>
        <p:txBody>
          <a:bodyPr wrap="square" lIns="0" tIns="0" rIns="0" bIns="0" anchor="ctr">
            <a:noAutofit/>
          </a:bodyPr>
          <a:lstStyle/>
          <a:p>
            <a:pPr algn="l">
              <a:lnSpc>
                <a:spcPct val="118000"/>
              </a:lnSpc>
              <a:spcAft>
                <a:spcPts val="0"/>
              </a:spcAft>
            </a:pPr>
            <a:r>
              <a:rPr sz="2100" b="0">
                <a:solidFill>
                  <a:srgbClr val="2B221D"/>
                </a:solidFill>
                <a:latin typeface="Google Sans"/>
              </a:rPr>
              <a:t>Lock, extraction model, gauge</a:t>
            </a:r>
          </a:p>
        </p:txBody>
      </p:sp>
      <p:sp>
        <p:nvSpPr>
          <p:cNvPr id="26" name="Rounded Rectangle 25"/>
          <p:cNvSpPr/>
          <p:nvPr/>
        </p:nvSpPr>
        <p:spPr>
          <a:xfrm>
            <a:off x="13325856" y="6355080"/>
            <a:ext cx="2113788" cy="237744"/>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ACTUAL bar - Lock, extraction model, gauge"/>
          <p:cNvSpPr/>
          <p:nvPr/>
        </p:nvSpPr>
        <p:spPr>
          <a:xfrm>
            <a:off x="13325856" y="6684264"/>
            <a:ext cx="2113788" cy="237744"/>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45920" y="7123176"/>
            <a:ext cx="6492240" cy="987552"/>
          </a:xfrm>
          <a:prstGeom prst="rect">
            <a:avLst/>
          </a:prstGeom>
          <a:noFill/>
        </p:spPr>
        <p:txBody>
          <a:bodyPr wrap="square" lIns="0" tIns="0" rIns="0" bIns="0" anchor="ctr">
            <a:noAutofit/>
          </a:bodyPr>
          <a:lstStyle/>
          <a:p>
            <a:pPr algn="l">
              <a:lnSpc>
                <a:spcPct val="118000"/>
              </a:lnSpc>
              <a:spcAft>
                <a:spcPts val="0"/>
              </a:spcAft>
            </a:pPr>
            <a:r>
              <a:rPr sz="2100" b="0">
                <a:solidFill>
                  <a:srgbClr val="2B221D"/>
                </a:solidFill>
                <a:latin typeface="Google Sans"/>
              </a:rPr>
              <a:t>Steam, pour, flow, audio</a:t>
            </a:r>
          </a:p>
        </p:txBody>
      </p:sp>
      <p:sp>
        <p:nvSpPr>
          <p:cNvPr id="29" name="Rounded Rectangle 28"/>
          <p:cNvSpPr/>
          <p:nvPr/>
        </p:nvSpPr>
        <p:spPr>
          <a:xfrm>
            <a:off x="15713964" y="7342631"/>
            <a:ext cx="2113788" cy="237744"/>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ACTUAL bar - Steam, pour, flow, audio"/>
          <p:cNvSpPr/>
          <p:nvPr/>
        </p:nvSpPr>
        <p:spPr>
          <a:xfrm>
            <a:off x="15713964" y="7671816"/>
            <a:ext cx="2113788" cy="237744"/>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1463040" y="8110728"/>
            <a:ext cx="21460968" cy="987552"/>
          </a:xfrm>
          <a:prstGeom prst="roundRect">
            <a:avLst>
              <a:gd name="adj" fmla="val 12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645920" y="8110728"/>
            <a:ext cx="6492240" cy="987552"/>
          </a:xfrm>
          <a:prstGeom prst="rect">
            <a:avLst/>
          </a:prstGeom>
          <a:noFill/>
        </p:spPr>
        <p:txBody>
          <a:bodyPr wrap="square" lIns="0" tIns="0" rIns="0" bIns="0" anchor="ctr">
            <a:noAutofit/>
          </a:bodyPr>
          <a:lstStyle/>
          <a:p>
            <a:pPr algn="l">
              <a:lnSpc>
                <a:spcPct val="118000"/>
              </a:lnSpc>
              <a:spcAft>
                <a:spcPts val="0"/>
              </a:spcAft>
            </a:pPr>
            <a:r>
              <a:rPr sz="2100" b="0">
                <a:solidFill>
                  <a:srgbClr val="2B221D"/>
                </a:solidFill>
                <a:latin typeface="Google Sans"/>
              </a:rPr>
              <a:t>UX, physics &amp; text polish</a:t>
            </a:r>
          </a:p>
        </p:txBody>
      </p:sp>
      <p:sp>
        <p:nvSpPr>
          <p:cNvPr id="33" name="Rounded Rectangle 32"/>
          <p:cNvSpPr/>
          <p:nvPr/>
        </p:nvSpPr>
        <p:spPr>
          <a:xfrm>
            <a:off x="15713964" y="8330184"/>
            <a:ext cx="4501896" cy="237744"/>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ACTUAL bar - UX, physics &amp; text polish"/>
          <p:cNvSpPr/>
          <p:nvPr/>
        </p:nvSpPr>
        <p:spPr>
          <a:xfrm>
            <a:off x="15713964" y="8659368"/>
            <a:ext cx="4501896" cy="237744"/>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1645920" y="9098280"/>
            <a:ext cx="6492240" cy="987552"/>
          </a:xfrm>
          <a:prstGeom prst="rect">
            <a:avLst/>
          </a:prstGeom>
          <a:noFill/>
        </p:spPr>
        <p:txBody>
          <a:bodyPr wrap="square" lIns="0" tIns="0" rIns="0" bIns="0" anchor="ctr">
            <a:noAutofit/>
          </a:bodyPr>
          <a:lstStyle/>
          <a:p>
            <a:pPr algn="l">
              <a:lnSpc>
                <a:spcPct val="118000"/>
              </a:lnSpc>
              <a:spcAft>
                <a:spcPts val="0"/>
              </a:spcAft>
            </a:pPr>
            <a:r>
              <a:rPr sz="2100" b="0">
                <a:solidFill>
                  <a:srgbClr val="2B221D"/>
                </a:solidFill>
                <a:latin typeface="Google Sans"/>
              </a:rPr>
              <a:t>Windows build, cross-testing, credits</a:t>
            </a:r>
          </a:p>
        </p:txBody>
      </p:sp>
      <p:sp>
        <p:nvSpPr>
          <p:cNvPr id="36" name="Rounded Rectangle 35"/>
          <p:cNvSpPr/>
          <p:nvPr/>
        </p:nvSpPr>
        <p:spPr>
          <a:xfrm>
            <a:off x="18102072" y="9317736"/>
            <a:ext cx="2113788" cy="237744"/>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ACTUAL bar - Windows build, cross-testing, credits"/>
          <p:cNvSpPr/>
          <p:nvPr/>
        </p:nvSpPr>
        <p:spPr>
          <a:xfrm>
            <a:off x="18102072" y="9646919"/>
            <a:ext cx="2113788" cy="237744"/>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1463040" y="10085832"/>
            <a:ext cx="21460968" cy="987552"/>
          </a:xfrm>
          <a:prstGeom prst="roundRect">
            <a:avLst>
              <a:gd name="adj" fmla="val 12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645920" y="10085832"/>
            <a:ext cx="6492240" cy="987552"/>
          </a:xfrm>
          <a:prstGeom prst="rect">
            <a:avLst/>
          </a:prstGeom>
          <a:noFill/>
        </p:spPr>
        <p:txBody>
          <a:bodyPr wrap="square" lIns="0" tIns="0" rIns="0" bIns="0" anchor="ctr">
            <a:noAutofit/>
          </a:bodyPr>
          <a:lstStyle/>
          <a:p>
            <a:pPr algn="l">
              <a:lnSpc>
                <a:spcPct val="118000"/>
              </a:lnSpc>
              <a:spcAft>
                <a:spcPts val="0"/>
              </a:spcAft>
            </a:pPr>
            <a:r>
              <a:rPr sz="2100" b="0">
                <a:solidFill>
                  <a:srgbClr val="2B221D"/>
                </a:solidFill>
                <a:latin typeface="Google Sans"/>
              </a:rPr>
              <a:t>Rehearse, submit &amp; present</a:t>
            </a:r>
          </a:p>
        </p:txBody>
      </p:sp>
      <p:sp>
        <p:nvSpPr>
          <p:cNvPr id="40" name="Rounded Rectangle 39"/>
          <p:cNvSpPr/>
          <p:nvPr/>
        </p:nvSpPr>
        <p:spPr>
          <a:xfrm>
            <a:off x="20490180" y="10305288"/>
            <a:ext cx="2113788" cy="237744"/>
          </a:xfrm>
          <a:prstGeom prst="roundRect">
            <a:avLst>
              <a:gd name="adj" fmla="val 5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ACTUAL bar - Rehearse, submit &amp; present"/>
          <p:cNvSpPr/>
          <p:nvPr/>
        </p:nvSpPr>
        <p:spPr>
          <a:xfrm>
            <a:off x="20490180" y="10634472"/>
            <a:ext cx="2113788" cy="237744"/>
          </a:xfrm>
          <a:prstGeom prst="roundRect">
            <a:avLst>
              <a:gd name="adj" fmla="val 5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1645920" y="11393424"/>
            <a:ext cx="82296" cy="722376"/>
          </a:xfrm>
          <a:prstGeom prst="rect">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011680" y="11393424"/>
            <a:ext cx="20729448" cy="722376"/>
          </a:xfrm>
          <a:prstGeom prst="rect">
            <a:avLst/>
          </a:prstGeom>
          <a:noFill/>
        </p:spPr>
        <p:txBody>
          <a:bodyPr wrap="square" lIns="0" tIns="0" rIns="0" bIns="0" anchor="ctr">
            <a:noAutofit/>
          </a:bodyPr>
          <a:lstStyle/>
          <a:p>
            <a:pPr algn="l">
              <a:lnSpc>
                <a:spcPct val="120000"/>
              </a:lnSpc>
              <a:spcAft>
                <a:spcPts val="600"/>
              </a:spcAft>
            </a:pPr>
            <a:r>
              <a:rPr sz="1500" b="0" spc="200">
                <a:solidFill>
                  <a:srgbClr val="9A5F33"/>
                </a:solidFill>
                <a:latin typeface="Google Sans SemiBold"/>
              </a:rPr>
              <a:t>DEVIATIONS &amp; WHY</a:t>
            </a:r>
          </a:p>
          <a:p>
            <a:pPr algn="l">
              <a:lnSpc>
                <a:spcPct val="120000"/>
              </a:lnSpc>
              <a:spcAft>
                <a:spcPts val="0"/>
              </a:spcAft>
            </a:pPr>
            <a:r>
              <a:rPr sz="2100" b="0">
                <a:solidFill>
                  <a:srgbClr val="4A3B31"/>
                </a:solidFill>
                <a:latin typeface="Google Sans"/>
              </a:rPr>
              <a:t>&lt;e.g. Unity 6 + XR packages took most of day 1 · text and physics feel needed an extra polish pass after the first simulator tests · the exe showed an old scene until the build menu regenerated it&gt;</a:t>
            </a:r>
          </a:p>
        </p:txBody>
      </p:sp>
      <p:sp>
        <p:nvSpPr>
          <p:cNvPr id="44" name="TextBox 43"/>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45" name="TextBox 44"/>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04 · PROBLEM STATEMENT</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Baristas learn on the live machine</a:t>
            </a:r>
          </a:p>
        </p:txBody>
      </p:sp>
      <p:sp>
        <p:nvSpPr>
          <p:cNvPr id="5" name="TextBox 4"/>
          <p:cNvSpPr txBox="1"/>
          <p:nvPr/>
        </p:nvSpPr>
        <p:spPr>
          <a:xfrm>
            <a:off x="1645920" y="3657600"/>
            <a:ext cx="9692640" cy="8549640"/>
          </a:xfrm>
          <a:prstGeom prst="rect">
            <a:avLst/>
          </a:prstGeom>
          <a:noFill/>
        </p:spPr>
        <p:txBody>
          <a:bodyPr wrap="square" lIns="0" tIns="0" rIns="0" bIns="0" anchor="t">
            <a:noAutofit/>
          </a:bodyPr>
          <a:lstStyle/>
          <a:p>
            <a:pPr algn="l">
              <a:lnSpc>
                <a:spcPct val="125000"/>
              </a:lnSpc>
              <a:spcAft>
                <a:spcPts val="2200"/>
              </a:spcAft>
            </a:pPr>
            <a:r>
              <a:rPr sz="2800" b="0">
                <a:solidFill>
                  <a:srgbClr val="E9D7C2"/>
                </a:solidFill>
                <a:latin typeface="Google Sans"/>
              </a:rPr>
              <a:t>New café staff learn espresso on the café's only machine, often during service.</a:t>
            </a:r>
          </a:p>
          <a:p>
            <a:pPr algn="l">
              <a:lnSpc>
                <a:spcPct val="125000"/>
              </a:lnSpc>
              <a:spcAft>
                <a:spcPts val="2200"/>
              </a:spcAft>
            </a:pPr>
            <a:r>
              <a:rPr sz="2800" b="0">
                <a:solidFill>
                  <a:srgbClr val="E9D7C2"/>
                </a:solidFill>
                <a:latin typeface="Google Sans"/>
              </a:rPr>
              <a:t>Every practice shot uses about 18 g of specialty coffee and every practice latte uses milk. Dialling in a grinder takes many shots.</a:t>
            </a:r>
          </a:p>
          <a:p>
            <a:pPr algn="l">
              <a:lnSpc>
                <a:spcPct val="125000"/>
              </a:lnSpc>
              <a:spcAft>
                <a:spcPts val="0"/>
              </a:spcAft>
            </a:pPr>
            <a:r>
              <a:rPr sz="2800" b="0">
                <a:solidFill>
                  <a:srgbClr val="E9D7C2"/>
                </a:solidFill>
                <a:latin typeface="Google Sans"/>
              </a:rPr>
              <a:t>The group head is blocked, customers wait, and a shift lead has to stand beside the trainee.</a:t>
            </a:r>
          </a:p>
        </p:txBody>
      </p:sp>
      <p:sp>
        <p:nvSpPr>
          <p:cNvPr id="6" name="TextBox 5"/>
          <p:cNvSpPr txBox="1"/>
          <p:nvPr/>
        </p:nvSpPr>
        <p:spPr>
          <a:xfrm>
            <a:off x="13075920" y="3840480"/>
            <a:ext cx="3931920" cy="2194560"/>
          </a:xfrm>
          <a:prstGeom prst="rect">
            <a:avLst/>
          </a:prstGeom>
          <a:noFill/>
        </p:spPr>
        <p:txBody>
          <a:bodyPr wrap="square" lIns="0" tIns="0" rIns="0" bIns="0" anchor="ctr">
            <a:noAutofit/>
          </a:bodyPr>
          <a:lstStyle/>
          <a:p>
            <a:pPr algn="l">
              <a:lnSpc>
                <a:spcPct val="118000"/>
              </a:lnSpc>
              <a:spcAft>
                <a:spcPts val="0"/>
              </a:spcAft>
            </a:pPr>
            <a:r>
              <a:rPr sz="10000" b="0">
                <a:solidFill>
                  <a:srgbClr val="D0955F"/>
                </a:solidFill>
                <a:latin typeface="Google Sans SemiBold"/>
              </a:rPr>
              <a:t>18 g</a:t>
            </a:r>
          </a:p>
        </p:txBody>
      </p:sp>
      <p:sp>
        <p:nvSpPr>
          <p:cNvPr id="7" name="TextBox 6"/>
          <p:cNvSpPr txBox="1"/>
          <p:nvPr/>
        </p:nvSpPr>
        <p:spPr>
          <a:xfrm>
            <a:off x="17282160" y="3840480"/>
            <a:ext cx="5458968" cy="2194560"/>
          </a:xfrm>
          <a:prstGeom prst="rect">
            <a:avLst/>
          </a:prstGeom>
          <a:noFill/>
        </p:spPr>
        <p:txBody>
          <a:bodyPr wrap="square" lIns="0" tIns="0" rIns="0" bIns="0" anchor="ctr">
            <a:noAutofit/>
          </a:bodyPr>
          <a:lstStyle/>
          <a:p>
            <a:pPr algn="l">
              <a:lnSpc>
                <a:spcPct val="120000"/>
              </a:lnSpc>
              <a:spcAft>
                <a:spcPts val="0"/>
              </a:spcAft>
            </a:pPr>
            <a:r>
              <a:rPr sz="2600" b="0">
                <a:solidFill>
                  <a:srgbClr val="E9D7C2"/>
                </a:solidFill>
                <a:latin typeface="Google Sans"/>
              </a:rPr>
              <a:t>of coffee binned on every practice shot</a:t>
            </a:r>
          </a:p>
        </p:txBody>
      </p:sp>
      <p:cxnSp>
        <p:nvCxnSpPr>
          <p:cNvPr id="8" name="Connector 7"/>
          <p:cNvCxnSpPr/>
          <p:nvPr/>
        </p:nvCxnSpPr>
        <p:spPr>
          <a:xfrm>
            <a:off x="13075920" y="6400800"/>
            <a:ext cx="9665208" cy="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3075920" y="6675120"/>
            <a:ext cx="3931920" cy="2194560"/>
          </a:xfrm>
          <a:prstGeom prst="rect">
            <a:avLst/>
          </a:prstGeom>
          <a:noFill/>
        </p:spPr>
        <p:txBody>
          <a:bodyPr wrap="square" lIns="0" tIns="0" rIns="0" bIns="0" anchor="ctr">
            <a:noAutofit/>
          </a:bodyPr>
          <a:lstStyle/>
          <a:p>
            <a:pPr algn="l">
              <a:lnSpc>
                <a:spcPct val="118000"/>
              </a:lnSpc>
              <a:spcAft>
                <a:spcPts val="0"/>
              </a:spcAft>
            </a:pPr>
            <a:r>
              <a:rPr sz="10000" b="0">
                <a:solidFill>
                  <a:srgbClr val="D0955F"/>
                </a:solidFill>
                <a:latin typeface="Google Sans SemiBold"/>
              </a:rPr>
              <a:t>1</a:t>
            </a:r>
          </a:p>
        </p:txBody>
      </p:sp>
      <p:sp>
        <p:nvSpPr>
          <p:cNvPr id="10" name="TextBox 9"/>
          <p:cNvSpPr txBox="1"/>
          <p:nvPr/>
        </p:nvSpPr>
        <p:spPr>
          <a:xfrm>
            <a:off x="17282160" y="6675120"/>
            <a:ext cx="5458968" cy="2194560"/>
          </a:xfrm>
          <a:prstGeom prst="rect">
            <a:avLst/>
          </a:prstGeom>
          <a:noFill/>
        </p:spPr>
        <p:txBody>
          <a:bodyPr wrap="square" lIns="0" tIns="0" rIns="0" bIns="0" anchor="ctr">
            <a:noAutofit/>
          </a:bodyPr>
          <a:lstStyle/>
          <a:p>
            <a:pPr algn="l">
              <a:lnSpc>
                <a:spcPct val="120000"/>
              </a:lnSpc>
              <a:spcAft>
                <a:spcPts val="0"/>
              </a:spcAft>
            </a:pPr>
            <a:r>
              <a:rPr sz="2600" b="0">
                <a:solidFill>
                  <a:srgbClr val="E9D7C2"/>
                </a:solidFill>
                <a:latin typeface="Google Sans"/>
              </a:rPr>
              <a:t>group head tied up while a trainee practises</a:t>
            </a:r>
          </a:p>
        </p:txBody>
      </p:sp>
      <p:cxnSp>
        <p:nvCxnSpPr>
          <p:cNvPr id="11" name="Connector 10"/>
          <p:cNvCxnSpPr/>
          <p:nvPr/>
        </p:nvCxnSpPr>
        <p:spPr>
          <a:xfrm>
            <a:off x="13075920" y="9235440"/>
            <a:ext cx="9665208" cy="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3075920" y="9509760"/>
            <a:ext cx="3931920" cy="2194560"/>
          </a:xfrm>
          <a:prstGeom prst="rect">
            <a:avLst/>
          </a:prstGeom>
          <a:noFill/>
        </p:spPr>
        <p:txBody>
          <a:bodyPr wrap="square" lIns="0" tIns="0" rIns="0" bIns="0" anchor="ctr">
            <a:noAutofit/>
          </a:bodyPr>
          <a:lstStyle/>
          <a:p>
            <a:pPr algn="l">
              <a:lnSpc>
                <a:spcPct val="118000"/>
              </a:lnSpc>
              <a:spcAft>
                <a:spcPts val="0"/>
              </a:spcAft>
            </a:pPr>
            <a:r>
              <a:rPr sz="10000" b="0">
                <a:solidFill>
                  <a:srgbClr val="D0955F"/>
                </a:solidFill>
                <a:latin typeface="Google Sans SemiBold"/>
              </a:rPr>
              <a:t>3</a:t>
            </a:r>
          </a:p>
        </p:txBody>
      </p:sp>
      <p:sp>
        <p:nvSpPr>
          <p:cNvPr id="13" name="TextBox 12"/>
          <p:cNvSpPr txBox="1"/>
          <p:nvPr/>
        </p:nvSpPr>
        <p:spPr>
          <a:xfrm>
            <a:off x="17282160" y="9509760"/>
            <a:ext cx="5458968" cy="2194560"/>
          </a:xfrm>
          <a:prstGeom prst="rect">
            <a:avLst/>
          </a:prstGeom>
          <a:noFill/>
        </p:spPr>
        <p:txBody>
          <a:bodyPr wrap="square" lIns="0" tIns="0" rIns="0" bIns="0" anchor="ctr">
            <a:noAutofit/>
          </a:bodyPr>
          <a:lstStyle/>
          <a:p>
            <a:pPr algn="l">
              <a:lnSpc>
                <a:spcPct val="120000"/>
              </a:lnSpc>
              <a:spcAft>
                <a:spcPts val="0"/>
              </a:spcAft>
            </a:pPr>
            <a:r>
              <a:rPr sz="2600" b="0">
                <a:solidFill>
                  <a:srgbClr val="E9D7C2"/>
                </a:solidFill>
                <a:latin typeface="Google Sans"/>
              </a:rPr>
              <a:t>people affected: trainee, shift lead, owner</a:t>
            </a:r>
          </a:p>
        </p:txBody>
      </p:sp>
      <p:sp>
        <p:nvSpPr>
          <p:cNvPr id="14" name="TextBox 13"/>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15" name="TextBox 14"/>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pic>
        <p:nvPicPr>
          <p:cNvPr id="5"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16327" y="1866900"/>
            <a:ext cx="5966698" cy="4437887"/>
          </a:xfrm>
          <a:prstGeom prst="rect">
            <a:avLst/>
          </a:prstGeom>
        </p:spPr>
      </p:pic>
      <p:sp>
        <p:nvSpPr>
          <p:cNvPr id="6" name="TextBox 5"/>
          <p:cNvSpPr txBox="1"/>
          <p:nvPr/>
        </p:nvSpPr>
        <p:spPr>
          <a:xfrm>
            <a:off x="5852160" y="1051560"/>
            <a:ext cx="14630400"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05 · VISION STATEMENT</a:t>
            </a:r>
          </a:p>
        </p:txBody>
      </p:sp>
      <p:sp>
        <p:nvSpPr>
          <p:cNvPr id="7" name="TextBox 6"/>
          <p:cNvSpPr txBox="1"/>
          <p:nvPr/>
        </p:nvSpPr>
        <p:spPr>
          <a:xfrm>
            <a:off x="5852160" y="3383280"/>
            <a:ext cx="14996159" cy="5486400"/>
          </a:xfrm>
          <a:prstGeom prst="rect">
            <a:avLst/>
          </a:prstGeom>
          <a:noFill/>
        </p:spPr>
        <p:txBody>
          <a:bodyPr wrap="square" lIns="0" tIns="0" rIns="0" bIns="0" anchor="ctr">
            <a:noAutofit/>
          </a:bodyPr>
          <a:lstStyle/>
          <a:p>
            <a:pPr algn="l">
              <a:lnSpc>
                <a:spcPct val="115000"/>
              </a:lnSpc>
              <a:spcAft>
                <a:spcPts val="0"/>
              </a:spcAft>
            </a:pPr>
            <a:r>
              <a:rPr sz="5000" b="0">
                <a:solidFill>
                  <a:srgbClr val="E9D7C2"/>
                </a:solidFill>
                <a:latin typeface="Google Sans SemiBold"/>
              </a:rPr>
              <a:t>A new barista sits down, reads one order ticket and pulls a correctly calibrated flat white, without anyone showing them how and without wasting a single real bean.</a:t>
            </a:r>
          </a:p>
        </p:txBody>
      </p:sp>
      <p:cxnSp>
        <p:nvCxnSpPr>
          <p:cNvPr id="8" name="Connector 7"/>
          <p:cNvCxnSpPr/>
          <p:nvPr/>
        </p:nvCxnSpPr>
        <p:spPr>
          <a:xfrm>
            <a:off x="5852160" y="9464040"/>
            <a:ext cx="1280160" cy="0"/>
          </a:xfrm>
          <a:prstGeom prst="line">
            <a:avLst/>
          </a:prstGeom>
          <a:ln w="38100">
            <a:solidFill>
              <a:srgbClr val="D0955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852160" y="9738360"/>
            <a:ext cx="14630400" cy="548640"/>
          </a:xfrm>
          <a:prstGeom prst="rect">
            <a:avLst/>
          </a:prstGeom>
          <a:noFill/>
        </p:spPr>
        <p:txBody>
          <a:bodyPr wrap="square" lIns="0" tIns="0" rIns="0" bIns="0" anchor="t">
            <a:noAutofit/>
          </a:bodyPr>
          <a:lstStyle/>
          <a:p>
            <a:pPr algn="l">
              <a:lnSpc>
                <a:spcPct val="118000"/>
              </a:lnSpc>
              <a:spcAft>
                <a:spcPts val="0"/>
              </a:spcAft>
            </a:pPr>
            <a:r>
              <a:rPr sz="2600" b="0">
                <a:solidFill>
                  <a:srgbClr val="C9B29B"/>
                </a:solidFill>
                <a:latin typeface="Google Sans"/>
              </a:rPr>
              <a:t>What success looks like for the trainee</a:t>
            </a:r>
          </a:p>
        </p:txBody>
      </p:sp>
      <p:sp>
        <p:nvSpPr>
          <p:cNvPr id="10" name="TextBox 9"/>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11" name="TextBox 10"/>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93337" y="0"/>
            <a:ext cx="19293711" cy="13716000"/>
          </a:xfrm>
          <a:prstGeom prst="rect">
            <a:avLst/>
          </a:prstGeom>
        </p:spPr>
      </p:pic>
      <p:sp>
        <p:nvSpPr>
          <p:cNvPr id="3" name="Rectangle 2"/>
          <p:cNvSpPr/>
          <p:nvPr/>
        </p:nvSpPr>
        <p:spPr>
          <a:xfrm>
            <a:off x="0" y="0"/>
            <a:ext cx="7680960" cy="13716000"/>
          </a:xfrm>
          <a:prstGeom prst="rect">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Barista illustration" descr="barista_cropped.png"/>
          <p:cNvPicPr>
            <a:picLocks noChangeAspect="1"/>
          </p:cNvPicPr>
          <p:nvPr/>
        </p:nvPicPr>
        <p:blipFill>
          <a:blip r:embed="rId5"/>
          <a:stretch>
            <a:fillRect/>
          </a:stretch>
        </p:blipFill>
        <p:spPr>
          <a:xfrm>
            <a:off x="777240" y="2194560"/>
            <a:ext cx="6070949" cy="11521440"/>
          </a:xfrm>
          <a:prstGeom prst="rect">
            <a:avLst/>
          </a:prstGeom>
        </p:spPr>
      </p:pic>
      <p:sp>
        <p:nvSpPr>
          <p:cNvPr id="5" name="TextBox 4"/>
          <p:cNvSpPr txBox="1"/>
          <p:nvPr/>
        </p:nvSpPr>
        <p:spPr>
          <a:xfrm>
            <a:off x="8869680" y="1051560"/>
            <a:ext cx="1387144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06 · OBJECTIVES</a:t>
            </a:r>
          </a:p>
        </p:txBody>
      </p:sp>
      <p:sp>
        <p:nvSpPr>
          <p:cNvPr id="6" name="TextBox 5"/>
          <p:cNvSpPr txBox="1"/>
          <p:nvPr/>
        </p:nvSpPr>
        <p:spPr>
          <a:xfrm>
            <a:off x="8869680" y="1463040"/>
            <a:ext cx="1387144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Three measurable objectives</a:t>
            </a:r>
          </a:p>
        </p:txBody>
      </p:sp>
      <p:sp>
        <p:nvSpPr>
          <p:cNvPr id="7" name="Rounded Rectangle 6"/>
          <p:cNvSpPr/>
          <p:nvPr/>
        </p:nvSpPr>
        <p:spPr>
          <a:xfrm>
            <a:off x="8869680" y="3566160"/>
            <a:ext cx="13871448" cy="2606039"/>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372600" y="3566160"/>
            <a:ext cx="1463040" cy="2606039"/>
          </a:xfrm>
          <a:prstGeom prst="rect">
            <a:avLst/>
          </a:prstGeom>
          <a:noFill/>
        </p:spPr>
        <p:txBody>
          <a:bodyPr wrap="square" lIns="0" tIns="0" rIns="0" bIns="0" anchor="ctr">
            <a:noAutofit/>
          </a:bodyPr>
          <a:lstStyle/>
          <a:p>
            <a:pPr algn="l">
              <a:lnSpc>
                <a:spcPct val="118000"/>
              </a:lnSpc>
              <a:spcAft>
                <a:spcPts val="0"/>
              </a:spcAft>
            </a:pPr>
            <a:r>
              <a:rPr sz="6000" b="0">
                <a:solidFill>
                  <a:srgbClr val="D0955F"/>
                </a:solidFill>
                <a:latin typeface="Google Sans SemiBold"/>
              </a:rPr>
              <a:t>01</a:t>
            </a:r>
          </a:p>
        </p:txBody>
      </p:sp>
      <p:sp>
        <p:nvSpPr>
          <p:cNvPr id="9" name="TextBox 8"/>
          <p:cNvSpPr txBox="1"/>
          <p:nvPr/>
        </p:nvSpPr>
        <p:spPr>
          <a:xfrm>
            <a:off x="11155680" y="3566160"/>
            <a:ext cx="11082528" cy="2606039"/>
          </a:xfrm>
          <a:prstGeom prst="rect">
            <a:avLst/>
          </a:prstGeom>
          <a:noFill/>
        </p:spPr>
        <p:txBody>
          <a:bodyPr wrap="square" lIns="0" tIns="0" rIns="0" bIns="0" anchor="ctr">
            <a:noAutofit/>
          </a:bodyPr>
          <a:lstStyle/>
          <a:p>
            <a:pPr algn="l">
              <a:lnSpc>
                <a:spcPct val="120000"/>
              </a:lnSpc>
              <a:spcAft>
                <a:spcPts val="800"/>
              </a:spcAft>
            </a:pPr>
            <a:r>
              <a:rPr sz="3000" b="0">
                <a:solidFill>
                  <a:srgbClr val="2B221D"/>
                </a:solidFill>
                <a:latin typeface="Google Sans SemiBold"/>
              </a:rPr>
              <a:t>Unaided, end to end</a:t>
            </a:r>
          </a:p>
          <a:p>
            <a:pPr algn="l">
              <a:lnSpc>
                <a:spcPct val="120000"/>
              </a:lnSpc>
              <a:spcAft>
                <a:spcPts val="0"/>
              </a:spcAft>
            </a:pPr>
            <a:r>
              <a:rPr sz="2300" b="0">
                <a:solidFill>
                  <a:srgbClr val="4A3B31"/>
                </a:solidFill>
                <a:latin typeface="Google Sans"/>
              </a:rPr>
              <a:t>A first-time user completes the order, ticket to verdict, with no help in </a:t>
            </a:r>
            <a:r>
              <a:rPr sz="2300" b="0">
                <a:solidFill>
                  <a:srgbClr val="4A3B31"/>
                </a:solidFill>
                <a:latin typeface="Google Sans SemiBold"/>
              </a:rPr>
              <a:t>under 6 minutes</a:t>
            </a:r>
            <a:r>
              <a:rPr sz="2300" b="0">
                <a:solidFill>
                  <a:srgbClr val="4A3B31"/>
                </a:solidFill>
                <a:latin typeface="Google Sans"/>
              </a:rPr>
              <a:t>.</a:t>
            </a:r>
          </a:p>
        </p:txBody>
      </p:sp>
      <p:sp>
        <p:nvSpPr>
          <p:cNvPr id="10" name="Rounded Rectangle 9"/>
          <p:cNvSpPr/>
          <p:nvPr/>
        </p:nvSpPr>
        <p:spPr>
          <a:xfrm>
            <a:off x="8869680" y="6537959"/>
            <a:ext cx="13871448" cy="2606039"/>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372600" y="6537959"/>
            <a:ext cx="1463040" cy="2606039"/>
          </a:xfrm>
          <a:prstGeom prst="rect">
            <a:avLst/>
          </a:prstGeom>
          <a:noFill/>
        </p:spPr>
        <p:txBody>
          <a:bodyPr wrap="square" lIns="0" tIns="0" rIns="0" bIns="0" anchor="ctr">
            <a:noAutofit/>
          </a:bodyPr>
          <a:lstStyle/>
          <a:p>
            <a:pPr algn="l">
              <a:lnSpc>
                <a:spcPct val="118000"/>
              </a:lnSpc>
              <a:spcAft>
                <a:spcPts val="0"/>
              </a:spcAft>
            </a:pPr>
            <a:r>
              <a:rPr sz="6000" b="0">
                <a:solidFill>
                  <a:srgbClr val="D0955F"/>
                </a:solidFill>
                <a:latin typeface="Google Sans SemiBold"/>
              </a:rPr>
              <a:t>02</a:t>
            </a:r>
          </a:p>
        </p:txBody>
      </p:sp>
      <p:sp>
        <p:nvSpPr>
          <p:cNvPr id="12" name="TextBox 11"/>
          <p:cNvSpPr txBox="1"/>
          <p:nvPr/>
        </p:nvSpPr>
        <p:spPr>
          <a:xfrm>
            <a:off x="11155680" y="6537959"/>
            <a:ext cx="11082528" cy="2606039"/>
          </a:xfrm>
          <a:prstGeom prst="rect">
            <a:avLst/>
          </a:prstGeom>
          <a:noFill/>
        </p:spPr>
        <p:txBody>
          <a:bodyPr wrap="square" lIns="0" tIns="0" rIns="0" bIns="0" anchor="ctr">
            <a:noAutofit/>
          </a:bodyPr>
          <a:lstStyle/>
          <a:p>
            <a:pPr algn="l">
              <a:lnSpc>
                <a:spcPct val="120000"/>
              </a:lnSpc>
              <a:spcAft>
                <a:spcPts val="800"/>
              </a:spcAft>
            </a:pPr>
            <a:r>
              <a:rPr sz="3000" b="0">
                <a:solidFill>
                  <a:srgbClr val="2B221D"/>
                </a:solidFill>
                <a:latin typeface="Google Sans SemiBold"/>
              </a:rPr>
              <a:t>Understands calibration</a:t>
            </a:r>
          </a:p>
          <a:p>
            <a:pPr algn="l">
              <a:lnSpc>
                <a:spcPct val="120000"/>
              </a:lnSpc>
              <a:spcAft>
                <a:spcPts val="0"/>
              </a:spcAft>
            </a:pPr>
            <a:r>
              <a:rPr sz="2300" b="0">
                <a:solidFill>
                  <a:srgbClr val="4A3B31"/>
                </a:solidFill>
                <a:latin typeface="Google Sans"/>
              </a:rPr>
              <a:t>Explains a sour or bitter shot from the result dial and reaches </a:t>
            </a:r>
            <a:r>
              <a:rPr sz="2300" b="0">
                <a:solidFill>
                  <a:srgbClr val="4A3B31"/>
                </a:solidFill>
                <a:latin typeface="Google Sans SemiBold"/>
              </a:rPr>
              <a:t>Balanced within 3 attempts</a:t>
            </a:r>
            <a:r>
              <a:rPr sz="2300" b="0">
                <a:solidFill>
                  <a:srgbClr val="4A3B31"/>
                </a:solidFill>
                <a:latin typeface="Google Sans"/>
              </a:rPr>
              <a:t>.</a:t>
            </a:r>
          </a:p>
        </p:txBody>
      </p:sp>
      <p:sp>
        <p:nvSpPr>
          <p:cNvPr id="13" name="Rounded Rectangle 12"/>
          <p:cNvSpPr/>
          <p:nvPr/>
        </p:nvSpPr>
        <p:spPr>
          <a:xfrm>
            <a:off x="8869680" y="9509759"/>
            <a:ext cx="13871448" cy="2606039"/>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372600" y="9509759"/>
            <a:ext cx="1463040" cy="2606039"/>
          </a:xfrm>
          <a:prstGeom prst="rect">
            <a:avLst/>
          </a:prstGeom>
          <a:noFill/>
        </p:spPr>
        <p:txBody>
          <a:bodyPr wrap="square" lIns="0" tIns="0" rIns="0" bIns="0" anchor="ctr">
            <a:noAutofit/>
          </a:bodyPr>
          <a:lstStyle/>
          <a:p>
            <a:pPr algn="l">
              <a:lnSpc>
                <a:spcPct val="118000"/>
              </a:lnSpc>
              <a:spcAft>
                <a:spcPts val="0"/>
              </a:spcAft>
            </a:pPr>
            <a:r>
              <a:rPr sz="6000" b="0">
                <a:solidFill>
                  <a:srgbClr val="D0955F"/>
                </a:solidFill>
                <a:latin typeface="Google Sans SemiBold"/>
              </a:rPr>
              <a:t>03</a:t>
            </a:r>
          </a:p>
        </p:txBody>
      </p:sp>
      <p:sp>
        <p:nvSpPr>
          <p:cNvPr id="15" name="TextBox 14"/>
          <p:cNvSpPr txBox="1"/>
          <p:nvPr/>
        </p:nvSpPr>
        <p:spPr>
          <a:xfrm>
            <a:off x="11155680" y="9509759"/>
            <a:ext cx="11082528" cy="2606039"/>
          </a:xfrm>
          <a:prstGeom prst="rect">
            <a:avLst/>
          </a:prstGeom>
          <a:noFill/>
        </p:spPr>
        <p:txBody>
          <a:bodyPr wrap="square" lIns="0" tIns="0" rIns="0" bIns="0" anchor="ctr">
            <a:noAutofit/>
          </a:bodyPr>
          <a:lstStyle/>
          <a:p>
            <a:pPr algn="l">
              <a:lnSpc>
                <a:spcPct val="120000"/>
              </a:lnSpc>
              <a:spcAft>
                <a:spcPts val="800"/>
              </a:spcAft>
            </a:pPr>
            <a:r>
              <a:rPr sz="3000" b="0">
                <a:solidFill>
                  <a:srgbClr val="2B221D"/>
                </a:solidFill>
                <a:latin typeface="Google Sans SemiBold"/>
              </a:rPr>
              <a:t>Milk on temperature</a:t>
            </a:r>
          </a:p>
          <a:p>
            <a:pPr algn="l">
              <a:lnSpc>
                <a:spcPct val="120000"/>
              </a:lnSpc>
              <a:spcAft>
                <a:spcPts val="0"/>
              </a:spcAft>
            </a:pPr>
            <a:r>
              <a:rPr sz="2300" b="0">
                <a:solidFill>
                  <a:srgbClr val="4A3B31"/>
                </a:solidFill>
                <a:latin typeface="Google Sans"/>
              </a:rPr>
              <a:t>Steamed milk finishes between </a:t>
            </a:r>
            <a:r>
              <a:rPr sz="2300" b="0">
                <a:solidFill>
                  <a:srgbClr val="4A3B31"/>
                </a:solidFill>
                <a:latin typeface="Google Sans SemiBold"/>
              </a:rPr>
              <a:t>63 and 67 °C</a:t>
            </a:r>
            <a:r>
              <a:rPr sz="2300" b="0">
                <a:solidFill>
                  <a:srgbClr val="4A3B31"/>
                </a:solidFill>
                <a:latin typeface="Google Sans"/>
              </a:rPr>
              <a:t> on at least one attempt.</a:t>
            </a:r>
          </a:p>
        </p:txBody>
      </p:sp>
      <p:sp>
        <p:nvSpPr>
          <p:cNvPr id="16" name="TextBox 15"/>
          <p:cNvSpPr txBox="1"/>
          <p:nvPr/>
        </p:nvSpPr>
        <p:spPr>
          <a:xfrm>
            <a:off x="886968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17" name="TextBox 16"/>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07 · THEORETICAL GROUNDING</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Module theory, applied to real decisions</a:t>
            </a:r>
          </a:p>
        </p:txBody>
      </p:sp>
      <p:sp>
        <p:nvSpPr>
          <p:cNvPr id="5" name="Rounded Rectangle 4"/>
          <p:cNvSpPr/>
          <p:nvPr/>
        </p:nvSpPr>
        <p:spPr>
          <a:xfrm>
            <a:off x="1645920" y="3566160"/>
            <a:ext cx="6665976" cy="400050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40" y="406908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01</a:t>
            </a:r>
          </a:p>
        </p:txBody>
      </p:sp>
      <p:sp>
        <p:nvSpPr>
          <p:cNvPr id="7" name="TextBox 6"/>
          <p:cNvSpPr txBox="1"/>
          <p:nvPr/>
        </p:nvSpPr>
        <p:spPr>
          <a:xfrm>
            <a:off x="2148840" y="452628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Presence</a:t>
            </a:r>
          </a:p>
        </p:txBody>
      </p:sp>
      <p:sp>
        <p:nvSpPr>
          <p:cNvPr id="8" name="TextBox 7"/>
          <p:cNvSpPr txBox="1"/>
          <p:nvPr/>
        </p:nvSpPr>
        <p:spPr>
          <a:xfrm>
            <a:off x="2148840" y="5246370"/>
            <a:ext cx="5660136" cy="1817369"/>
          </a:xfrm>
          <a:prstGeom prst="rect">
            <a:avLst/>
          </a:prstGeom>
          <a:noFill/>
        </p:spPr>
        <p:txBody>
          <a:bodyPr wrap="square" lIns="0" tIns="0" rIns="0" bIns="0" anchor="t">
            <a:noAutofit/>
          </a:bodyPr>
          <a:lstStyle/>
          <a:p>
            <a:pPr algn="l">
              <a:lnSpc>
                <a:spcPct val="122000"/>
              </a:lnSpc>
              <a:spcAft>
                <a:spcPts val="0"/>
              </a:spcAft>
            </a:pPr>
            <a:r>
              <a:rPr sz="2500" b="0">
                <a:solidFill>
                  <a:srgbClr val="4A3B31"/>
                </a:solidFill>
                <a:latin typeface="Google Sans"/>
              </a:rPr>
              <a:t>One coherent café, no menus floating in a void. Instructions on a paper ticket, the gauge on the machine, sounds from their source.</a:t>
            </a:r>
          </a:p>
        </p:txBody>
      </p:sp>
      <p:sp>
        <p:nvSpPr>
          <p:cNvPr id="9" name="Rounded Rectangle 8"/>
          <p:cNvSpPr/>
          <p:nvPr/>
        </p:nvSpPr>
        <p:spPr>
          <a:xfrm>
            <a:off x="8860536" y="3566160"/>
            <a:ext cx="6665976" cy="400050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63456" y="406908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02</a:t>
            </a:r>
          </a:p>
        </p:txBody>
      </p:sp>
      <p:sp>
        <p:nvSpPr>
          <p:cNvPr id="11" name="TextBox 10"/>
          <p:cNvSpPr txBox="1"/>
          <p:nvPr/>
        </p:nvSpPr>
        <p:spPr>
          <a:xfrm>
            <a:off x="9363456" y="452628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Cybersickness</a:t>
            </a:r>
          </a:p>
        </p:txBody>
      </p:sp>
      <p:sp>
        <p:nvSpPr>
          <p:cNvPr id="12" name="TextBox 11"/>
          <p:cNvSpPr txBox="1"/>
          <p:nvPr/>
        </p:nvSpPr>
        <p:spPr>
          <a:xfrm>
            <a:off x="9363456" y="5246370"/>
            <a:ext cx="5660136" cy="1817369"/>
          </a:xfrm>
          <a:prstGeom prst="rect">
            <a:avLst/>
          </a:prstGeom>
          <a:noFill/>
        </p:spPr>
        <p:txBody>
          <a:bodyPr wrap="square" lIns="0" tIns="0" rIns="0" bIns="0" anchor="t">
            <a:noAutofit/>
          </a:bodyPr>
          <a:lstStyle/>
          <a:p>
            <a:pPr algn="l">
              <a:lnSpc>
                <a:spcPct val="122000"/>
              </a:lnSpc>
              <a:spcAft>
                <a:spcPts val="0"/>
              </a:spcAft>
            </a:pPr>
            <a:r>
              <a:rPr sz="2500" b="0">
                <a:solidFill>
                  <a:srgbClr val="4A3B31"/>
                </a:solidFill>
                <a:latin typeface="Google Sans"/>
              </a:rPr>
              <a:t>Seated and stationary, so no vection. The only rotation is an instant 45° snap turn; smooth move and teleport are off.</a:t>
            </a:r>
          </a:p>
        </p:txBody>
      </p:sp>
      <p:sp>
        <p:nvSpPr>
          <p:cNvPr id="13" name="Rounded Rectangle 12"/>
          <p:cNvSpPr/>
          <p:nvPr/>
        </p:nvSpPr>
        <p:spPr>
          <a:xfrm>
            <a:off x="16075151" y="3566160"/>
            <a:ext cx="6665976" cy="400050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578072" y="406908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03</a:t>
            </a:r>
          </a:p>
        </p:txBody>
      </p:sp>
      <p:sp>
        <p:nvSpPr>
          <p:cNvPr id="15" name="TextBox 14"/>
          <p:cNvSpPr txBox="1"/>
          <p:nvPr/>
        </p:nvSpPr>
        <p:spPr>
          <a:xfrm>
            <a:off x="16578072" y="452628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Vergence-accommodation</a:t>
            </a:r>
          </a:p>
        </p:txBody>
      </p:sp>
      <p:sp>
        <p:nvSpPr>
          <p:cNvPr id="16" name="TextBox 15"/>
          <p:cNvSpPr txBox="1"/>
          <p:nvPr/>
        </p:nvSpPr>
        <p:spPr>
          <a:xfrm>
            <a:off x="16578072" y="5246370"/>
            <a:ext cx="5660136" cy="1817369"/>
          </a:xfrm>
          <a:prstGeom prst="rect">
            <a:avLst/>
          </a:prstGeom>
          <a:noFill/>
        </p:spPr>
        <p:txBody>
          <a:bodyPr wrap="square" lIns="0" tIns="0" rIns="0" bIns="0" anchor="t">
            <a:noAutofit/>
          </a:bodyPr>
          <a:lstStyle/>
          <a:p>
            <a:pPr algn="l">
              <a:lnSpc>
                <a:spcPct val="122000"/>
              </a:lnSpc>
              <a:spcAft>
                <a:spcPts val="0"/>
              </a:spcAft>
            </a:pPr>
            <a:r>
              <a:rPr sz="2500" b="0">
                <a:solidFill>
                  <a:srgbClr val="4A3B31"/>
                </a:solidFill>
                <a:latin typeface="Google Sans"/>
              </a:rPr>
              <a:t>Reading panels sit 0.75–1 m away. Tools are within arm's reach but only glanced at, not read.</a:t>
            </a:r>
          </a:p>
        </p:txBody>
      </p:sp>
      <p:sp>
        <p:nvSpPr>
          <p:cNvPr id="17" name="Rounded Rectangle 16"/>
          <p:cNvSpPr/>
          <p:nvPr/>
        </p:nvSpPr>
        <p:spPr>
          <a:xfrm>
            <a:off x="1645920" y="8115300"/>
            <a:ext cx="6665976" cy="400050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48840" y="861822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04</a:t>
            </a:r>
          </a:p>
        </p:txBody>
      </p:sp>
      <p:sp>
        <p:nvSpPr>
          <p:cNvPr id="19" name="TextBox 18"/>
          <p:cNvSpPr txBox="1"/>
          <p:nvPr/>
        </p:nvSpPr>
        <p:spPr>
          <a:xfrm>
            <a:off x="2148840" y="907542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D.I.C.E.</a:t>
            </a:r>
          </a:p>
        </p:txBody>
      </p:sp>
      <p:sp>
        <p:nvSpPr>
          <p:cNvPr id="20" name="TextBox 19"/>
          <p:cNvSpPr txBox="1"/>
          <p:nvPr/>
        </p:nvSpPr>
        <p:spPr>
          <a:xfrm>
            <a:off x="2148840" y="9795510"/>
            <a:ext cx="5660136" cy="1817369"/>
          </a:xfrm>
          <a:prstGeom prst="rect">
            <a:avLst/>
          </a:prstGeom>
          <a:noFill/>
        </p:spPr>
        <p:txBody>
          <a:bodyPr wrap="square" lIns="0" tIns="0" rIns="0" bIns="0" anchor="t">
            <a:noAutofit/>
          </a:bodyPr>
          <a:lstStyle/>
          <a:p>
            <a:pPr algn="l">
              <a:lnSpc>
                <a:spcPct val="122000"/>
              </a:lnSpc>
              <a:spcAft>
                <a:spcPts val="0"/>
              </a:spcAft>
            </a:pPr>
            <a:r>
              <a:rPr sz="2500" b="0">
                <a:solidFill>
                  <a:srgbClr val="4A3B31"/>
                </a:solidFill>
                <a:latin typeface="Google Sans"/>
              </a:rPr>
              <a:t>Practising on the real machine is Counterproductive (blocks service) and Expensive (beans and milk).</a:t>
            </a:r>
          </a:p>
        </p:txBody>
      </p:sp>
      <p:sp>
        <p:nvSpPr>
          <p:cNvPr id="21" name="Rounded Rectangle 20"/>
          <p:cNvSpPr/>
          <p:nvPr/>
        </p:nvSpPr>
        <p:spPr>
          <a:xfrm>
            <a:off x="8860536" y="8115300"/>
            <a:ext cx="6665976" cy="400050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363456" y="861822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05</a:t>
            </a:r>
          </a:p>
        </p:txBody>
      </p:sp>
      <p:sp>
        <p:nvSpPr>
          <p:cNvPr id="23" name="TextBox 22"/>
          <p:cNvSpPr txBox="1"/>
          <p:nvPr/>
        </p:nvSpPr>
        <p:spPr>
          <a:xfrm>
            <a:off x="9363456" y="907542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Embodied learning</a:t>
            </a:r>
          </a:p>
        </p:txBody>
      </p:sp>
      <p:sp>
        <p:nvSpPr>
          <p:cNvPr id="24" name="TextBox 23"/>
          <p:cNvSpPr txBox="1"/>
          <p:nvPr/>
        </p:nvSpPr>
        <p:spPr>
          <a:xfrm>
            <a:off x="9363456" y="9795510"/>
            <a:ext cx="5660136" cy="1817369"/>
          </a:xfrm>
          <a:prstGeom prst="rect">
            <a:avLst/>
          </a:prstGeom>
          <a:noFill/>
        </p:spPr>
        <p:txBody>
          <a:bodyPr wrap="square" lIns="0" tIns="0" rIns="0" bIns="0" anchor="t">
            <a:noAutofit/>
          </a:bodyPr>
          <a:lstStyle/>
          <a:p>
            <a:pPr algn="l">
              <a:lnSpc>
                <a:spcPct val="122000"/>
              </a:lnSpc>
              <a:spcAft>
                <a:spcPts val="0"/>
              </a:spcAft>
            </a:pPr>
            <a:r>
              <a:rPr sz="2500" b="0">
                <a:solidFill>
                  <a:srgbClr val="4A3B31"/>
                </a:solidFill>
                <a:latin typeface="Google Sans"/>
              </a:rPr>
              <a:t>Dose, grind, tamp force and level come from the hands, not a menu, so practice transfers to the real task.</a:t>
            </a:r>
          </a:p>
        </p:txBody>
      </p:sp>
      <p:sp>
        <p:nvSpPr>
          <p:cNvPr id="25" name="Rounded Rectangle 24"/>
          <p:cNvSpPr/>
          <p:nvPr/>
        </p:nvSpPr>
        <p:spPr>
          <a:xfrm>
            <a:off x="16075151" y="8115300"/>
            <a:ext cx="6665976" cy="400050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578072" y="861822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06</a:t>
            </a:r>
          </a:p>
        </p:txBody>
      </p:sp>
      <p:sp>
        <p:nvSpPr>
          <p:cNvPr id="27" name="TextBox 26"/>
          <p:cNvSpPr txBox="1"/>
          <p:nvPr/>
        </p:nvSpPr>
        <p:spPr>
          <a:xfrm>
            <a:off x="16578072" y="907542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Spatial audio</a:t>
            </a:r>
          </a:p>
        </p:txBody>
      </p:sp>
      <p:sp>
        <p:nvSpPr>
          <p:cNvPr id="28" name="TextBox 27"/>
          <p:cNvSpPr txBox="1"/>
          <p:nvPr/>
        </p:nvSpPr>
        <p:spPr>
          <a:xfrm>
            <a:off x="16578072" y="9795510"/>
            <a:ext cx="5660136" cy="1817369"/>
          </a:xfrm>
          <a:prstGeom prst="rect">
            <a:avLst/>
          </a:prstGeom>
          <a:noFill/>
        </p:spPr>
        <p:txBody>
          <a:bodyPr wrap="square" lIns="0" tIns="0" rIns="0" bIns="0" anchor="t">
            <a:noAutofit/>
          </a:bodyPr>
          <a:lstStyle/>
          <a:p>
            <a:pPr algn="l">
              <a:lnSpc>
                <a:spcPct val="122000"/>
              </a:lnSpc>
              <a:spcAft>
                <a:spcPts val="0"/>
              </a:spcAft>
            </a:pPr>
            <a:r>
              <a:rPr sz="2500" b="0">
                <a:solidFill>
                  <a:srgbClr val="4A3B31"/>
                </a:solidFill>
                <a:latin typeface="Google Sans"/>
              </a:rPr>
              <a:t>Every sound is a 3D source at its object: VR's default, the reverse of the mono AR convention.</a:t>
            </a:r>
          </a:p>
        </p:txBody>
      </p:sp>
      <p:sp>
        <p:nvSpPr>
          <p:cNvPr id="29" name="TextBox 28"/>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30" name="TextBox 29"/>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317111" cy="10078318"/>
          </a:xfrm>
          <a:prstGeom prst="rect">
            <a:avLst/>
          </a:prstGeom>
        </p:spPr>
      </p:pic>
      <p:pic>
        <p:nvPicPr>
          <p:cNvPr id="9"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4032" y="3251200"/>
            <a:ext cx="13768521" cy="8166100"/>
          </a:xfrm>
          <a:prstGeom prst="rect">
            <a:avLst/>
          </a:prstGeom>
        </p:spPr>
      </p:pic>
      <p:sp>
        <p:nvSpPr>
          <p:cNvPr id="10" name="TextBox 9"/>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08 · PROPOSED SOLUTION</a:t>
            </a:r>
          </a:p>
        </p:txBody>
      </p:sp>
      <p:sp>
        <p:nvSpPr>
          <p:cNvPr id="11" name="TextBox 10"/>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One shift, one café, one flat white</a:t>
            </a:r>
          </a:p>
        </p:txBody>
      </p:sp>
      <p:pic>
        <p:nvPicPr>
          <p:cNvPr id="12" name="Picture 11" descr="crop_cafe_overview.png_10.82x7.10.png"/>
          <p:cNvPicPr>
            <a:picLocks noChangeAspect="1"/>
          </p:cNvPicPr>
          <p:nvPr/>
        </p:nvPicPr>
        <p:blipFill>
          <a:blip r:embed="rId7"/>
          <a:stretch>
            <a:fillRect/>
          </a:stretch>
        </p:blipFill>
        <p:spPr>
          <a:xfrm>
            <a:off x="2185416" y="3593592"/>
            <a:ext cx="9893808" cy="6492240"/>
          </a:xfrm>
          <a:prstGeom prst="rect">
            <a:avLst/>
          </a:prstGeom>
        </p:spPr>
      </p:pic>
      <p:sp>
        <p:nvSpPr>
          <p:cNvPr id="13" name="TextBox 12"/>
          <p:cNvSpPr txBox="1"/>
          <p:nvPr/>
        </p:nvSpPr>
        <p:spPr>
          <a:xfrm>
            <a:off x="14264640" y="356616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THE BRIEF</a:t>
            </a:r>
          </a:p>
          <a:p>
            <a:pPr algn="l">
              <a:lnSpc>
                <a:spcPct val="120000"/>
              </a:lnSpc>
              <a:spcAft>
                <a:spcPts val="0"/>
              </a:spcAft>
            </a:pPr>
            <a:r>
              <a:rPr sz="2500" b="0">
                <a:solidFill>
                  <a:srgbClr val="2B221D"/>
                </a:solidFill>
                <a:latin typeface="Google Sans"/>
              </a:rPr>
              <a:t>You're the new barista. An order ticket asks for a flat white.</a:t>
            </a:r>
          </a:p>
        </p:txBody>
      </p:sp>
      <p:sp>
        <p:nvSpPr>
          <p:cNvPr id="14" name="TextBox 13"/>
          <p:cNvSpPr txBox="1"/>
          <p:nvPr/>
        </p:nvSpPr>
        <p:spPr>
          <a:xfrm>
            <a:off x="14264640" y="571500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THE WORK</a:t>
            </a:r>
          </a:p>
          <a:p>
            <a:pPr algn="l">
              <a:lnSpc>
                <a:spcPct val="120000"/>
              </a:lnSpc>
              <a:spcAft>
                <a:spcPts val="0"/>
              </a:spcAft>
            </a:pPr>
            <a:r>
              <a:rPr sz="2500" b="0">
                <a:solidFill>
                  <a:srgbClr val="2B221D"/>
                </a:solidFill>
                <a:latin typeface="Google Sans"/>
              </a:rPr>
              <a:t>Unlock, dose, tamp, lock in, pull the shot, steam milk to 65 °C, pour.</a:t>
            </a:r>
          </a:p>
        </p:txBody>
      </p:sp>
      <p:sp>
        <p:nvSpPr>
          <p:cNvPr id="15" name="TextBox 14"/>
          <p:cNvSpPr txBox="1"/>
          <p:nvPr/>
        </p:nvSpPr>
        <p:spPr>
          <a:xfrm>
            <a:off x="14264640" y="786384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THE VERDICT</a:t>
            </a:r>
          </a:p>
          <a:p>
            <a:pPr algn="l">
              <a:lnSpc>
                <a:spcPct val="120000"/>
              </a:lnSpc>
              <a:spcAft>
                <a:spcPts val="0"/>
              </a:spcAft>
            </a:pPr>
            <a:r>
              <a:rPr sz="2500" b="0">
                <a:solidFill>
                  <a:srgbClr val="2B221D"/>
                </a:solidFill>
                <a:latin typeface="Google Sans"/>
              </a:rPr>
              <a:t>A result dial grades the shot Sour, Balanced, Bitter or Channeled and says what to change.</a:t>
            </a:r>
          </a:p>
        </p:txBody>
      </p:sp>
      <p:sp>
        <p:nvSpPr>
          <p:cNvPr id="16" name="TextBox 15"/>
          <p:cNvSpPr txBox="1"/>
          <p:nvPr/>
        </p:nvSpPr>
        <p:spPr>
          <a:xfrm>
            <a:off x="14264640" y="1001268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THE TWIST</a:t>
            </a:r>
          </a:p>
          <a:p>
            <a:pPr algn="l">
              <a:lnSpc>
                <a:spcPct val="120000"/>
              </a:lnSpc>
              <a:spcAft>
                <a:spcPts val="0"/>
              </a:spcAft>
            </a:pPr>
            <a:r>
              <a:rPr sz="2500" b="0">
                <a:solidFill>
                  <a:srgbClr val="2B221D"/>
                </a:solidFill>
                <a:latin typeface="Google Sans"/>
              </a:rPr>
              <a:t>The grinder starts coarse on purpose, so shot one runs sour. You calibrate, like a real barista every morning.</a:t>
            </a:r>
          </a:p>
        </p:txBody>
      </p:sp>
      <p:sp>
        <p:nvSpPr>
          <p:cNvPr id="17" name="TextBox 16"/>
          <p:cNvSpPr txBox="1"/>
          <p:nvPr/>
        </p:nvSpPr>
        <p:spPr>
          <a:xfrm>
            <a:off x="2185416" y="11658600"/>
            <a:ext cx="9893808" cy="457200"/>
          </a:xfrm>
          <a:prstGeom prst="rect">
            <a:avLst/>
          </a:prstGeom>
          <a:noFill/>
        </p:spPr>
        <p:txBody>
          <a:bodyPr wrap="square" lIns="0" tIns="0" rIns="0" bIns="0" anchor="t">
            <a:noAutofit/>
          </a:bodyPr>
          <a:lstStyle/>
          <a:p>
            <a:pPr algn="ctr">
              <a:lnSpc>
                <a:spcPct val="118000"/>
              </a:lnSpc>
              <a:spcAft>
                <a:spcPts val="0"/>
              </a:spcAft>
            </a:pPr>
            <a:r>
              <a:rPr sz="1700" b="0">
                <a:solidFill>
                  <a:srgbClr val="8A7260"/>
                </a:solidFill>
                <a:latin typeface="Google Sans"/>
              </a:rPr>
              <a:t>Seated start in the exported build: welcome board, station panel, menu, machine.</a:t>
            </a:r>
          </a:p>
        </p:txBody>
      </p:sp>
      <p:sp>
        <p:nvSpPr>
          <p:cNvPr id="18" name="TextBox 17"/>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19" name="TextBox 18"/>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2206" y="6057900"/>
            <a:ext cx="12726988" cy="76581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08 · CONCEPT: THE SHIFT</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A clear beginning, middle and end</a:t>
            </a:r>
          </a:p>
        </p:txBody>
      </p:sp>
      <p:sp>
        <p:nvSpPr>
          <p:cNvPr id="5" name="Rounded Rectangle 4"/>
          <p:cNvSpPr/>
          <p:nvPr/>
        </p:nvSpPr>
        <p:spPr>
          <a:xfrm>
            <a:off x="1645920" y="3566160"/>
            <a:ext cx="3657600" cy="1737360"/>
          </a:xfrm>
          <a:prstGeom prst="roundRect">
            <a:avLst>
              <a:gd name="adj" fmla="val 14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20240" y="356616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D0955F"/>
                </a:solidFill>
                <a:latin typeface="Google Sans SemiBold"/>
              </a:rPr>
              <a:t>Briefing</a:t>
            </a:r>
          </a:p>
          <a:p>
            <a:pPr algn="ctr">
              <a:lnSpc>
                <a:spcPct val="115000"/>
              </a:lnSpc>
              <a:spcAft>
                <a:spcPts val="0"/>
              </a:spcAft>
            </a:pPr>
            <a:r>
              <a:rPr sz="1800" b="0">
                <a:solidFill>
                  <a:srgbClr val="C9B29B"/>
                </a:solidFill>
                <a:latin typeface="Google Sans"/>
              </a:rPr>
              <a:t>Welcome board, START</a:t>
            </a:r>
          </a:p>
        </p:txBody>
      </p:sp>
      <p:sp>
        <p:nvSpPr>
          <p:cNvPr id="7" name="Rounded Rectangle 6"/>
          <p:cNvSpPr/>
          <p:nvPr/>
        </p:nvSpPr>
        <p:spPr>
          <a:xfrm>
            <a:off x="6005322" y="3566160"/>
            <a:ext cx="3657600" cy="1737360"/>
          </a:xfrm>
          <a:prstGeom prst="roundRect">
            <a:avLst>
              <a:gd name="adj" fmla="val 14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279642" y="356616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2B221D"/>
                </a:solidFill>
                <a:latin typeface="Google Sans SemiBold"/>
              </a:rPr>
              <a:t>Detach</a:t>
            </a:r>
          </a:p>
          <a:p>
            <a:pPr algn="ctr">
              <a:lnSpc>
                <a:spcPct val="115000"/>
              </a:lnSpc>
              <a:spcAft>
                <a:spcPts val="0"/>
              </a:spcAft>
            </a:pPr>
            <a:r>
              <a:rPr sz="1800" b="0">
                <a:solidFill>
                  <a:srgbClr val="4A3B31"/>
                </a:solidFill>
                <a:latin typeface="Google Sans"/>
              </a:rPr>
              <a:t>Free the portafilter</a:t>
            </a:r>
          </a:p>
        </p:txBody>
      </p:sp>
      <p:sp>
        <p:nvSpPr>
          <p:cNvPr id="9" name="Rounded Rectangle 8"/>
          <p:cNvSpPr/>
          <p:nvPr/>
        </p:nvSpPr>
        <p:spPr>
          <a:xfrm>
            <a:off x="10364724" y="3566160"/>
            <a:ext cx="3657600" cy="1737360"/>
          </a:xfrm>
          <a:prstGeom prst="roundRect">
            <a:avLst>
              <a:gd name="adj" fmla="val 14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639044" y="356616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2B221D"/>
                </a:solidFill>
                <a:latin typeface="Google Sans SemiBold"/>
              </a:rPr>
              <a:t>Dose</a:t>
            </a:r>
          </a:p>
          <a:p>
            <a:pPr algn="ctr">
              <a:lnSpc>
                <a:spcPct val="115000"/>
              </a:lnSpc>
              <a:spcAft>
                <a:spcPts val="0"/>
              </a:spcAft>
            </a:pPr>
            <a:r>
              <a:rPr sz="1800" b="0">
                <a:solidFill>
                  <a:srgbClr val="4A3B31"/>
                </a:solidFill>
                <a:latin typeface="Google Sans"/>
              </a:rPr>
              <a:t>Hold to grind, ~18 g</a:t>
            </a:r>
          </a:p>
        </p:txBody>
      </p:sp>
      <p:sp>
        <p:nvSpPr>
          <p:cNvPr id="11" name="Rounded Rectangle 10"/>
          <p:cNvSpPr/>
          <p:nvPr/>
        </p:nvSpPr>
        <p:spPr>
          <a:xfrm>
            <a:off x="14724126" y="3566160"/>
            <a:ext cx="3657600" cy="1737360"/>
          </a:xfrm>
          <a:prstGeom prst="roundRect">
            <a:avLst>
              <a:gd name="adj" fmla="val 14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4998446" y="356616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2B221D"/>
                </a:solidFill>
                <a:latin typeface="Google Sans SemiBold"/>
              </a:rPr>
              <a:t>Tamp</a:t>
            </a:r>
          </a:p>
          <a:p>
            <a:pPr algn="ctr">
              <a:lnSpc>
                <a:spcPct val="115000"/>
              </a:lnSpc>
              <a:spcAft>
                <a:spcPts val="0"/>
              </a:spcAft>
            </a:pPr>
            <a:r>
              <a:rPr sz="1800" b="0">
                <a:solidFill>
                  <a:srgbClr val="4A3B31"/>
                </a:solidFill>
                <a:latin typeface="Google Sans"/>
              </a:rPr>
              <a:t>Level press, force shown</a:t>
            </a:r>
          </a:p>
        </p:txBody>
      </p:sp>
      <p:sp>
        <p:nvSpPr>
          <p:cNvPr id="13" name="Rounded Rectangle 12"/>
          <p:cNvSpPr/>
          <p:nvPr/>
        </p:nvSpPr>
        <p:spPr>
          <a:xfrm>
            <a:off x="19083528" y="3566160"/>
            <a:ext cx="3657600" cy="1737360"/>
          </a:xfrm>
          <a:prstGeom prst="roundRect">
            <a:avLst>
              <a:gd name="adj" fmla="val 14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357848" y="356616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2B221D"/>
                </a:solidFill>
                <a:latin typeface="Google Sans SemiBold"/>
              </a:rPr>
              <a:t>Lock</a:t>
            </a:r>
          </a:p>
          <a:p>
            <a:pPr algn="ctr">
              <a:lnSpc>
                <a:spcPct val="115000"/>
              </a:lnSpc>
              <a:spcAft>
                <a:spcPts val="0"/>
              </a:spcAft>
            </a:pPr>
            <a:r>
              <a:rPr sz="1800" b="0">
                <a:solidFill>
                  <a:srgbClr val="4A3B31"/>
                </a:solidFill>
                <a:latin typeface="Google Sans"/>
              </a:rPr>
              <a:t>Bayonet into group head</a:t>
            </a:r>
          </a:p>
        </p:txBody>
      </p:sp>
      <p:sp>
        <p:nvSpPr>
          <p:cNvPr id="15" name="Rounded Rectangle 14"/>
          <p:cNvSpPr/>
          <p:nvPr/>
        </p:nvSpPr>
        <p:spPr>
          <a:xfrm>
            <a:off x="19083528" y="6675120"/>
            <a:ext cx="3657600" cy="1737360"/>
          </a:xfrm>
          <a:prstGeom prst="roundRect">
            <a:avLst>
              <a:gd name="adj" fmla="val 14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357848" y="667512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2B221D"/>
                </a:solidFill>
                <a:latin typeface="Google Sans SemiBold"/>
              </a:rPr>
              <a:t>Brew</a:t>
            </a:r>
          </a:p>
          <a:p>
            <a:pPr algn="ctr">
              <a:lnSpc>
                <a:spcPct val="115000"/>
              </a:lnSpc>
              <a:spcAft>
                <a:spcPts val="0"/>
              </a:spcAft>
            </a:pPr>
            <a:r>
              <a:rPr sz="1800" b="0">
                <a:solidFill>
                  <a:srgbClr val="4A3B31"/>
                </a:solidFill>
                <a:latin typeface="Google Sans"/>
              </a:rPr>
              <a:t>Live gauge, time, yield</a:t>
            </a:r>
          </a:p>
        </p:txBody>
      </p:sp>
      <p:sp>
        <p:nvSpPr>
          <p:cNvPr id="17" name="Rounded Rectangle 16"/>
          <p:cNvSpPr/>
          <p:nvPr/>
        </p:nvSpPr>
        <p:spPr>
          <a:xfrm>
            <a:off x="14724126" y="6675120"/>
            <a:ext cx="3657600" cy="1737360"/>
          </a:xfrm>
          <a:prstGeom prst="roundRect">
            <a:avLst>
              <a:gd name="adj" fmla="val 14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998446" y="667512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2B221D"/>
                </a:solidFill>
                <a:latin typeface="Google Sans SemiBold"/>
              </a:rPr>
              <a:t>Steam</a:t>
            </a:r>
          </a:p>
          <a:p>
            <a:pPr algn="ctr">
              <a:lnSpc>
                <a:spcPct val="115000"/>
              </a:lnSpc>
              <a:spcAft>
                <a:spcPts val="0"/>
              </a:spcAft>
            </a:pPr>
            <a:r>
              <a:rPr sz="1800" b="0">
                <a:solidFill>
                  <a:srgbClr val="4A3B31"/>
                </a:solidFill>
                <a:latin typeface="Google Sans"/>
              </a:rPr>
              <a:t>Stop at 65 °C</a:t>
            </a:r>
          </a:p>
        </p:txBody>
      </p:sp>
      <p:sp>
        <p:nvSpPr>
          <p:cNvPr id="19" name="Rounded Rectangle 18"/>
          <p:cNvSpPr/>
          <p:nvPr/>
        </p:nvSpPr>
        <p:spPr>
          <a:xfrm>
            <a:off x="10364724" y="6675120"/>
            <a:ext cx="3657600" cy="1737360"/>
          </a:xfrm>
          <a:prstGeom prst="roundRect">
            <a:avLst>
              <a:gd name="adj" fmla="val 14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639044" y="667512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2B221D"/>
                </a:solidFill>
                <a:latin typeface="Google Sans SemiBold"/>
              </a:rPr>
              <a:t>Pour</a:t>
            </a:r>
          </a:p>
          <a:p>
            <a:pPr algn="ctr">
              <a:lnSpc>
                <a:spcPct val="115000"/>
              </a:lnSpc>
              <a:spcAft>
                <a:spcPts val="0"/>
              </a:spcAft>
            </a:pPr>
            <a:r>
              <a:rPr sz="1800" b="0">
                <a:solidFill>
                  <a:srgbClr val="4A3B31"/>
                </a:solidFill>
                <a:latin typeface="Google Sans"/>
              </a:rPr>
              <a:t>Tilt pitcher over cup</a:t>
            </a:r>
          </a:p>
        </p:txBody>
      </p:sp>
      <p:sp>
        <p:nvSpPr>
          <p:cNvPr id="21" name="Rounded Rectangle 20"/>
          <p:cNvSpPr/>
          <p:nvPr/>
        </p:nvSpPr>
        <p:spPr>
          <a:xfrm>
            <a:off x="6005322" y="6675120"/>
            <a:ext cx="3657600" cy="1737360"/>
          </a:xfrm>
          <a:prstGeom prst="roundRect">
            <a:avLst>
              <a:gd name="adj" fmla="val 14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79642" y="6675120"/>
            <a:ext cx="3108960" cy="1737360"/>
          </a:xfrm>
          <a:prstGeom prst="rect">
            <a:avLst/>
          </a:prstGeom>
          <a:noFill/>
        </p:spPr>
        <p:txBody>
          <a:bodyPr wrap="square" lIns="0" tIns="0" rIns="0" bIns="0" anchor="ctr">
            <a:noAutofit/>
          </a:bodyPr>
          <a:lstStyle/>
          <a:p>
            <a:pPr algn="ctr">
              <a:lnSpc>
                <a:spcPct val="115000"/>
              </a:lnSpc>
              <a:spcAft>
                <a:spcPts val="400"/>
              </a:spcAft>
            </a:pPr>
            <a:r>
              <a:rPr sz="2800" b="0">
                <a:solidFill>
                  <a:srgbClr val="D0955F"/>
                </a:solidFill>
                <a:latin typeface="Google Sans SemiBold"/>
              </a:rPr>
              <a:t>Result</a:t>
            </a:r>
          </a:p>
          <a:p>
            <a:pPr algn="ctr">
              <a:lnSpc>
                <a:spcPct val="115000"/>
              </a:lnSpc>
              <a:spcAft>
                <a:spcPts val="0"/>
              </a:spcAft>
            </a:pPr>
            <a:r>
              <a:rPr sz="1800" b="0">
                <a:solidFill>
                  <a:srgbClr val="C9B29B"/>
                </a:solidFill>
                <a:latin typeface="Google Sans"/>
              </a:rPr>
              <a:t>Verdict + what to change</a:t>
            </a:r>
          </a:p>
        </p:txBody>
      </p:sp>
      <p:cxnSp>
        <p:nvCxnSpPr>
          <p:cNvPr id="23" name="Connector 22"/>
          <p:cNvCxnSpPr/>
          <p:nvPr/>
        </p:nvCxnSpPr>
        <p:spPr>
          <a:xfrm>
            <a:off x="5394959" y="4434840"/>
            <a:ext cx="518923"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18473166" y="7543800"/>
            <a:ext cx="518922"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9754361" y="4434840"/>
            <a:ext cx="518923"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14113764" y="7543800"/>
            <a:ext cx="518921"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113764" y="4434840"/>
            <a:ext cx="518921"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a:off x="9754361" y="7543800"/>
            <a:ext cx="518923"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8473166" y="4434840"/>
            <a:ext cx="518922"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5394959" y="7543800"/>
            <a:ext cx="518923"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0912328" y="5394959"/>
            <a:ext cx="0" cy="1188721"/>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7834121" y="5394959"/>
            <a:ext cx="0" cy="1188721"/>
          </a:xfrm>
          <a:prstGeom prst="line">
            <a:avLst/>
          </a:prstGeom>
          <a:ln w="31750">
            <a:solidFill>
              <a:srgbClr val="9A5F33"/>
            </a:solidFill>
            <a:tailEnd type="triangle" w="med" len="med"/>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062721" y="5486400"/>
            <a:ext cx="4114800" cy="1005840"/>
          </a:xfrm>
          <a:prstGeom prst="rect">
            <a:avLst/>
          </a:prstGeom>
          <a:noFill/>
        </p:spPr>
        <p:txBody>
          <a:bodyPr wrap="square" lIns="0" tIns="0" rIns="0" bIns="0" anchor="ctr">
            <a:noAutofit/>
          </a:bodyPr>
          <a:lstStyle/>
          <a:p>
            <a:pPr algn="l">
              <a:lnSpc>
                <a:spcPct val="110000"/>
              </a:lnSpc>
              <a:spcAft>
                <a:spcPts val="0"/>
              </a:spcAft>
            </a:pPr>
            <a:r>
              <a:rPr sz="1800" b="0">
                <a:solidFill>
                  <a:srgbClr val="9A5F33"/>
                </a:solidFill>
                <a:latin typeface="Google Sans SemiBold"/>
              </a:rPr>
              <a:t>Pull another shot</a:t>
            </a:r>
          </a:p>
          <a:p>
            <a:pPr algn="l">
              <a:lnSpc>
                <a:spcPct val="110000"/>
              </a:lnSpc>
              <a:spcAft>
                <a:spcPts val="0"/>
              </a:spcAft>
            </a:pPr>
            <a:r>
              <a:rPr sz="1800" b="0">
                <a:solidFill>
                  <a:srgbClr val="8A7260"/>
                </a:solidFill>
                <a:latin typeface="Google Sans"/>
              </a:rPr>
              <a:t>grind setting is kept</a:t>
            </a:r>
          </a:p>
        </p:txBody>
      </p:sp>
      <p:sp>
        <p:nvSpPr>
          <p:cNvPr id="34" name="Rounded Rectangle 33"/>
          <p:cNvSpPr/>
          <p:nvPr/>
        </p:nvSpPr>
        <p:spPr>
          <a:xfrm>
            <a:off x="1645920" y="9098280"/>
            <a:ext cx="10273284" cy="301752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2148840" y="9601200"/>
            <a:ext cx="9267444" cy="548640"/>
          </a:xfrm>
          <a:prstGeom prst="rect">
            <a:avLst/>
          </a:prstGeom>
          <a:noFill/>
        </p:spPr>
        <p:txBody>
          <a:bodyPr wrap="square" lIns="0" tIns="0" rIns="0" bIns="0" anchor="t">
            <a:noAutofit/>
          </a:bodyPr>
          <a:lstStyle/>
          <a:p>
            <a:pPr algn="l">
              <a:lnSpc>
                <a:spcPct val="100000"/>
              </a:lnSpc>
              <a:spcAft>
                <a:spcPts val="0"/>
              </a:spcAft>
            </a:pPr>
            <a:r>
              <a:rPr sz="2600" b="0">
                <a:solidFill>
                  <a:srgbClr val="2B221D"/>
                </a:solidFill>
                <a:latin typeface="Google Sans SemiBold"/>
              </a:rPr>
              <a:t>Clear start</a:t>
            </a:r>
          </a:p>
        </p:txBody>
      </p:sp>
      <p:sp>
        <p:nvSpPr>
          <p:cNvPr id="36" name="TextBox 35"/>
          <p:cNvSpPr txBox="1"/>
          <p:nvPr/>
        </p:nvSpPr>
        <p:spPr>
          <a:xfrm>
            <a:off x="2148840" y="10267950"/>
            <a:ext cx="9267444" cy="1344930"/>
          </a:xfrm>
          <a:prstGeom prst="rect">
            <a:avLst/>
          </a:prstGeom>
          <a:noFill/>
        </p:spPr>
        <p:txBody>
          <a:bodyPr wrap="square" lIns="0" tIns="0" rIns="0" bIns="0" anchor="t">
            <a:noAutofit/>
          </a:bodyPr>
          <a:lstStyle/>
          <a:p>
            <a:pPr algn="l">
              <a:lnSpc>
                <a:spcPct val="122000"/>
              </a:lnSpc>
              <a:spcAft>
                <a:spcPts val="0"/>
              </a:spcAft>
            </a:pPr>
            <a:r>
              <a:rPr sz="2200" b="0">
                <a:solidFill>
                  <a:srgbClr val="4A3B31"/>
                </a:solidFill>
                <a:latin typeface="Google Sans"/>
              </a:rPr>
              <a:t>The welcome board and order ticket explain the goal in seconds; a glowing marker points at the next thing to touch.</a:t>
            </a:r>
          </a:p>
        </p:txBody>
      </p:sp>
      <p:sp>
        <p:nvSpPr>
          <p:cNvPr id="37" name="Rounded Rectangle 36"/>
          <p:cNvSpPr/>
          <p:nvPr/>
        </p:nvSpPr>
        <p:spPr>
          <a:xfrm>
            <a:off x="12467844" y="9098280"/>
            <a:ext cx="10273284" cy="301752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2970764" y="9601200"/>
            <a:ext cx="9267444" cy="548640"/>
          </a:xfrm>
          <a:prstGeom prst="rect">
            <a:avLst/>
          </a:prstGeom>
          <a:noFill/>
        </p:spPr>
        <p:txBody>
          <a:bodyPr wrap="square" lIns="0" tIns="0" rIns="0" bIns="0" anchor="t">
            <a:noAutofit/>
          </a:bodyPr>
          <a:lstStyle/>
          <a:p>
            <a:pPr algn="l">
              <a:lnSpc>
                <a:spcPct val="100000"/>
              </a:lnSpc>
              <a:spcAft>
                <a:spcPts val="0"/>
              </a:spcAft>
            </a:pPr>
            <a:r>
              <a:rPr sz="2600" b="0">
                <a:solidFill>
                  <a:srgbClr val="2B221D"/>
                </a:solidFill>
                <a:latin typeface="Google Sans SemiBold"/>
              </a:rPr>
              <a:t>Real conclusion</a:t>
            </a:r>
          </a:p>
        </p:txBody>
      </p:sp>
      <p:sp>
        <p:nvSpPr>
          <p:cNvPr id="39" name="TextBox 38"/>
          <p:cNvSpPr txBox="1"/>
          <p:nvPr/>
        </p:nvSpPr>
        <p:spPr>
          <a:xfrm>
            <a:off x="12970764" y="10267950"/>
            <a:ext cx="9267444" cy="1344930"/>
          </a:xfrm>
          <a:prstGeom prst="rect">
            <a:avLst/>
          </a:prstGeom>
          <a:noFill/>
        </p:spPr>
        <p:txBody>
          <a:bodyPr wrap="square" lIns="0" tIns="0" rIns="0" bIns="0" anchor="t">
            <a:noAutofit/>
          </a:bodyPr>
          <a:lstStyle/>
          <a:p>
            <a:pPr algn="l">
              <a:lnSpc>
                <a:spcPct val="122000"/>
              </a:lnSpc>
              <a:spcAft>
                <a:spcPts val="0"/>
              </a:spcAft>
            </a:pPr>
            <a:r>
              <a:rPr sz="2200" b="0">
                <a:solidFill>
                  <a:srgbClr val="4A3B31"/>
                </a:solidFill>
                <a:latin typeface="Google Sans"/>
              </a:rPr>
              <a:t>The result dial resolves the order and says how to improve. Reset, Exit and Credits stay on the station panel.</a:t>
            </a:r>
          </a:p>
        </p:txBody>
      </p:sp>
      <p:sp>
        <p:nvSpPr>
          <p:cNvPr id="40" name="TextBox 39"/>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41" name="TextBox 40"/>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07626" y="0"/>
            <a:ext cx="6579422" cy="5651791"/>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8013700"/>
            <a:ext cx="3798714" cy="4844988"/>
          </a:xfrm>
          <a:prstGeom prst="rect">
            <a:avLst/>
          </a:prstGeom>
        </p:spPr>
      </p:pic>
      <p:sp>
        <p:nvSpPr>
          <p:cNvPr id="4" name="TextBox 3"/>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09 · BRIDGE DECISION 1</a:t>
            </a:r>
          </a:p>
        </p:txBody>
      </p:sp>
      <p:sp>
        <p:nvSpPr>
          <p:cNvPr id="5" name="TextBox 4"/>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Tracking origin: Device, seated</a:t>
            </a:r>
          </a:p>
        </p:txBody>
      </p:sp>
      <p:sp>
        <p:nvSpPr>
          <p:cNvPr id="6" name="TextBox 5"/>
          <p:cNvSpPr txBox="1"/>
          <p:nvPr/>
        </p:nvSpPr>
        <p:spPr>
          <a:xfrm>
            <a:off x="1645920" y="3566160"/>
            <a:ext cx="9692640" cy="4206240"/>
          </a:xfrm>
          <a:prstGeom prst="rect">
            <a:avLst/>
          </a:prstGeom>
          <a:noFill/>
        </p:spPr>
        <p:txBody>
          <a:bodyPr wrap="square" lIns="0" tIns="0" rIns="0" bIns="0" anchor="t">
            <a:noAutofit/>
          </a:bodyPr>
          <a:lstStyle/>
          <a:p>
            <a:pPr marL="289560" indent="-289560" algn="l">
              <a:lnSpc>
                <a:spcPct val="120000"/>
              </a:lnSpc>
              <a:spcAft>
                <a:spcPts val="1400"/>
              </a:spcAft>
              <a:buClr>
                <a:srgbClr val="D0955F"/>
              </a:buClr>
              <a:buFont typeface="Arial"/>
              <a:buChar char="•"/>
            </a:pPr>
            <a:r>
              <a:rPr sz="2400" b="0">
                <a:solidFill>
                  <a:srgbClr val="E9D7C2"/>
                </a:solidFill>
                <a:latin typeface="Google Sans"/>
              </a:rPr>
              <a:t>The task is a fixed reach envelope in front of a seated person.</a:t>
            </a:r>
          </a:p>
          <a:p>
            <a:pPr marL="289560" indent="-289560" algn="l">
              <a:lnSpc>
                <a:spcPct val="120000"/>
              </a:lnSpc>
              <a:spcAft>
                <a:spcPts val="1400"/>
              </a:spcAft>
              <a:buClr>
                <a:srgbClr val="D0955F"/>
              </a:buClr>
              <a:buFont typeface="Arial"/>
              <a:buChar char="•"/>
            </a:pPr>
            <a:r>
              <a:rPr sz="2400" b="0">
                <a:solidFill>
                  <a:srgbClr val="E9D7C2"/>
                </a:solidFill>
                <a:latin typeface="Google Sans"/>
              </a:rPr>
              <a:t>Device origin places the counter relative to where the headset starts.</a:t>
            </a:r>
          </a:p>
          <a:p>
            <a:pPr marL="289560" indent="-289560" algn="l">
              <a:lnSpc>
                <a:spcPct val="120000"/>
              </a:lnSpc>
              <a:spcAft>
                <a:spcPts val="1400"/>
              </a:spcAft>
              <a:buClr>
                <a:srgbClr val="D0955F"/>
              </a:buClr>
              <a:buFont typeface="Arial"/>
              <a:buChar char="•"/>
            </a:pPr>
            <a:r>
              <a:rPr sz="2400" b="0">
                <a:solidFill>
                  <a:srgbClr val="E9D7C2"/>
                </a:solidFill>
                <a:latin typeface="Google Sans"/>
              </a:rPr>
              <a:t>A 1.2 m Camera Y Offset gives the same seated eye height in the simulator and on a headset.</a:t>
            </a:r>
          </a:p>
        </p:txBody>
      </p:sp>
      <p:pic>
        <p:nvPicPr>
          <p:cNvPr id="7" name="Picture 6" descr="crop_xr_origin.png_8.70x3.78.png"/>
          <p:cNvPicPr>
            <a:picLocks noChangeAspect="1"/>
          </p:cNvPicPr>
          <p:nvPr/>
        </p:nvPicPr>
        <p:blipFill>
          <a:blip r:embed="rId7"/>
          <a:stretch>
            <a:fillRect/>
          </a:stretch>
        </p:blipFill>
        <p:spPr>
          <a:xfrm>
            <a:off x="1645920" y="7909560"/>
            <a:ext cx="7955279" cy="3454266"/>
          </a:xfrm>
          <a:prstGeom prst="roundRect">
            <a:avLst>
              <a:gd name="adj" fmla="val 8060"/>
            </a:avLst>
          </a:prstGeom>
          <a:ln w="19050">
            <a:solidFill>
              <a:srgbClr val="7D5A46"/>
            </a:solidFill>
          </a:ln>
        </p:spPr>
      </p:pic>
      <p:sp>
        <p:nvSpPr>
          <p:cNvPr id="8" name="TextBox 7"/>
          <p:cNvSpPr txBox="1"/>
          <p:nvPr/>
        </p:nvSpPr>
        <p:spPr>
          <a:xfrm>
            <a:off x="1645920" y="11473554"/>
            <a:ext cx="9692640" cy="365760"/>
          </a:xfrm>
          <a:prstGeom prst="rect">
            <a:avLst/>
          </a:prstGeom>
          <a:noFill/>
        </p:spPr>
        <p:txBody>
          <a:bodyPr wrap="square" lIns="0" tIns="0" rIns="0" bIns="0" anchor="t">
            <a:noAutofit/>
          </a:bodyPr>
          <a:lstStyle/>
          <a:p>
            <a:pPr algn="l">
              <a:lnSpc>
                <a:spcPct val="118000"/>
              </a:lnSpc>
              <a:spcAft>
                <a:spcPts val="0"/>
              </a:spcAft>
            </a:pPr>
            <a:r>
              <a:rPr sz="1600" b="0">
                <a:solidFill>
                  <a:srgbClr val="C9B29B"/>
                </a:solidFill>
                <a:latin typeface="Google Sans"/>
              </a:rPr>
              <a:t>XR Origin on the rig: Tracking Origin Mode Device, Camera Y Offset 1.2</a:t>
            </a:r>
          </a:p>
        </p:txBody>
      </p:sp>
      <p:sp>
        <p:nvSpPr>
          <p:cNvPr id="9" name="Rounded Rectangle 8"/>
          <p:cNvSpPr/>
          <p:nvPr/>
        </p:nvSpPr>
        <p:spPr>
          <a:xfrm>
            <a:off x="12161520" y="3566160"/>
            <a:ext cx="10579608" cy="329184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2664440" y="4069080"/>
            <a:ext cx="9573768" cy="2286000"/>
          </a:xfrm>
          <a:prstGeom prst="rect">
            <a:avLst/>
          </a:prstGeom>
          <a:noFill/>
        </p:spPr>
        <p:txBody>
          <a:bodyPr wrap="square" lIns="0" tIns="0" rIns="0" bIns="0" anchor="t">
            <a:noAutofit/>
          </a:bodyPr>
          <a:lstStyle/>
          <a:p>
            <a:pPr algn="l">
              <a:lnSpc>
                <a:spcPct val="120000"/>
              </a:lnSpc>
              <a:spcAft>
                <a:spcPts val="600"/>
              </a:spcAft>
            </a:pPr>
            <a:r>
              <a:rPr sz="1500" b="0" spc="200">
                <a:solidFill>
                  <a:srgbClr val="C9B29B"/>
                </a:solidFill>
                <a:latin typeface="Google Sans SemiBold"/>
              </a:rPr>
              <a:t>NOT CHOSEN</a:t>
            </a:r>
          </a:p>
          <a:p>
            <a:pPr algn="l">
              <a:lnSpc>
                <a:spcPct val="120000"/>
              </a:lnSpc>
              <a:spcAft>
                <a:spcPts val="1000"/>
              </a:spcAft>
            </a:pPr>
            <a:r>
              <a:rPr sz="3000" b="0">
                <a:solidFill>
                  <a:srgbClr val="E9D7C2"/>
                </a:solidFill>
                <a:latin typeface="Google Sans SemiBold"/>
              </a:rPr>
              <a:t>Floor-referenced</a:t>
            </a:r>
          </a:p>
          <a:p>
            <a:pPr algn="l">
              <a:lnSpc>
                <a:spcPct val="120000"/>
              </a:lnSpc>
              <a:spcAft>
                <a:spcPts val="0"/>
              </a:spcAft>
            </a:pPr>
            <a:r>
              <a:rPr sz="2200" b="0">
                <a:solidFill>
                  <a:srgbClr val="C9B29B"/>
                </a:solidFill>
                <a:latin typeface="Google Sans"/>
              </a:rPr>
              <a:t>Virtual floor = real floor, ideal for standing and room-scale. A seated user would end up with their eyes at counter height.</a:t>
            </a:r>
          </a:p>
        </p:txBody>
      </p:sp>
      <p:sp>
        <p:nvSpPr>
          <p:cNvPr id="11" name="Rounded Rectangle 10"/>
          <p:cNvSpPr/>
          <p:nvPr/>
        </p:nvSpPr>
        <p:spPr>
          <a:xfrm>
            <a:off x="12161520" y="7269480"/>
            <a:ext cx="10579608" cy="4846320"/>
          </a:xfrm>
          <a:prstGeom prst="roundRect">
            <a:avLst>
              <a:gd name="adj" fmla="val 6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2664440" y="7772400"/>
            <a:ext cx="9573768" cy="3840479"/>
          </a:xfrm>
          <a:prstGeom prst="rect">
            <a:avLst/>
          </a:prstGeom>
          <a:noFill/>
        </p:spPr>
        <p:txBody>
          <a:bodyPr wrap="square" lIns="0" tIns="0" rIns="0" bIns="0" anchor="t">
            <a:noAutofit/>
          </a:bodyPr>
          <a:lstStyle/>
          <a:p>
            <a:pPr algn="l">
              <a:lnSpc>
                <a:spcPct val="120000"/>
              </a:lnSpc>
              <a:spcAft>
                <a:spcPts val="600"/>
              </a:spcAft>
            </a:pPr>
            <a:r>
              <a:rPr sz="1500" b="0" spc="200">
                <a:solidFill>
                  <a:srgbClr val="3D261A"/>
                </a:solidFill>
                <a:latin typeface="Google Sans SemiBold"/>
              </a:rPr>
              <a:t>OUR CHOICE</a:t>
            </a:r>
          </a:p>
          <a:p>
            <a:pPr algn="l">
              <a:lnSpc>
                <a:spcPct val="120000"/>
              </a:lnSpc>
              <a:spcAft>
                <a:spcPts val="1200"/>
              </a:spcAft>
            </a:pPr>
            <a:r>
              <a:rPr sz="3000" b="0">
                <a:solidFill>
                  <a:srgbClr val="3D261A"/>
                </a:solidFill>
                <a:latin typeface="Google Sans SemiBold"/>
              </a:rPr>
              <a:t>Device-referenced</a:t>
            </a:r>
          </a:p>
          <a:p>
            <a:pPr algn="l">
              <a:lnSpc>
                <a:spcPct val="120000"/>
              </a:lnSpc>
              <a:spcAft>
                <a:spcPts val="1000"/>
              </a:spcAft>
            </a:pPr>
            <a:r>
              <a:rPr sz="2200" b="0">
                <a:solidFill>
                  <a:srgbClr val="3D261A"/>
                </a:solidFill>
                <a:latin typeface="Google Sans"/>
              </a:rPr>
              <a:t>Origin = where the headset started, ideal for a seated workstation.</a:t>
            </a:r>
          </a:p>
          <a:p>
            <a:pPr marL="265430" indent="-265430" algn="l">
              <a:lnSpc>
                <a:spcPct val="120000"/>
              </a:lnSpc>
              <a:spcAft>
                <a:spcPts val="600"/>
              </a:spcAft>
              <a:buClr>
                <a:srgbClr val="D0955F"/>
              </a:buClr>
              <a:buFont typeface="Arial"/>
              <a:buChar char="•"/>
            </a:pPr>
            <a:r>
              <a:rPr sz="2200" b="0">
                <a:solidFill>
                  <a:srgbClr val="3D261A"/>
                </a:solidFill>
                <a:latin typeface="Google Sans"/>
              </a:rPr>
              <a:t>Consistent 1.2 m eye height over a 0.84 m counter.</a:t>
            </a:r>
          </a:p>
          <a:p>
            <a:pPr marL="265430" indent="-265430" algn="l">
              <a:lnSpc>
                <a:spcPct val="120000"/>
              </a:lnSpc>
              <a:spcAft>
                <a:spcPts val="0"/>
              </a:spcAft>
              <a:buClr>
                <a:srgbClr val="D0955F"/>
              </a:buClr>
              <a:buFont typeface="Arial"/>
              <a:buChar char="•"/>
            </a:pPr>
            <a:r>
              <a:rPr sz="2200" b="0">
                <a:solidFill>
                  <a:srgbClr val="3D261A"/>
                </a:solidFill>
                <a:latin typeface="Google Sans"/>
              </a:rPr>
              <a:t>Works at a desk with the simulator and in a seated headset.</a:t>
            </a:r>
          </a:p>
        </p:txBody>
      </p:sp>
      <p:sp>
        <p:nvSpPr>
          <p:cNvPr id="13" name="TextBox 12"/>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14" name="TextBox 13"/>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09 · BRIDGE DECISION 2</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Why VR, not AR: D.I.C.E.</a:t>
            </a:r>
          </a:p>
        </p:txBody>
      </p:sp>
      <p:sp>
        <p:nvSpPr>
          <p:cNvPr id="5" name="Rounded Rectangle 4"/>
          <p:cNvSpPr/>
          <p:nvPr/>
        </p:nvSpPr>
        <p:spPr>
          <a:xfrm>
            <a:off x="1645920" y="3566160"/>
            <a:ext cx="4965192" cy="512064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40" y="3794760"/>
            <a:ext cx="2011680" cy="1828800"/>
          </a:xfrm>
          <a:prstGeom prst="rect">
            <a:avLst/>
          </a:prstGeom>
          <a:noFill/>
        </p:spPr>
        <p:txBody>
          <a:bodyPr wrap="square" lIns="0" tIns="0" rIns="0" bIns="0" anchor="t">
            <a:noAutofit/>
          </a:bodyPr>
          <a:lstStyle/>
          <a:p>
            <a:pPr algn="l">
              <a:lnSpc>
                <a:spcPct val="118000"/>
              </a:lnSpc>
              <a:spcAft>
                <a:spcPts val="0"/>
              </a:spcAft>
            </a:pPr>
            <a:r>
              <a:rPr sz="11000" b="0">
                <a:solidFill>
                  <a:srgbClr val="D0955F"/>
                </a:solidFill>
                <a:latin typeface="Google Sans SemiBold"/>
              </a:rPr>
              <a:t>D</a:t>
            </a:r>
          </a:p>
        </p:txBody>
      </p:sp>
      <p:sp>
        <p:nvSpPr>
          <p:cNvPr id="7" name="TextBox 6"/>
          <p:cNvSpPr txBox="1"/>
          <p:nvPr/>
        </p:nvSpPr>
        <p:spPr>
          <a:xfrm>
            <a:off x="3364991" y="4069080"/>
            <a:ext cx="2743200" cy="365760"/>
          </a:xfrm>
          <a:prstGeom prst="rect">
            <a:avLst/>
          </a:prstGeom>
          <a:noFill/>
        </p:spPr>
        <p:txBody>
          <a:bodyPr wrap="square" lIns="0" tIns="0" rIns="0" bIns="0" anchor="t">
            <a:noAutofit/>
          </a:bodyPr>
          <a:lstStyle/>
          <a:p>
            <a:pPr algn="r">
              <a:lnSpc>
                <a:spcPct val="118000"/>
              </a:lnSpc>
              <a:spcAft>
                <a:spcPts val="0"/>
              </a:spcAft>
            </a:pPr>
            <a:r>
              <a:rPr sz="1400" b="0" spc="200">
                <a:solidFill>
                  <a:srgbClr val="8A7260"/>
                </a:solidFill>
                <a:latin typeface="Google Sans SemiBold"/>
              </a:rPr>
              <a:t>PARTLY</a:t>
            </a:r>
          </a:p>
        </p:txBody>
      </p:sp>
      <p:sp>
        <p:nvSpPr>
          <p:cNvPr id="8" name="TextBox 7"/>
          <p:cNvSpPr txBox="1"/>
          <p:nvPr/>
        </p:nvSpPr>
        <p:spPr>
          <a:xfrm>
            <a:off x="2148840" y="5806440"/>
            <a:ext cx="3959352" cy="2377439"/>
          </a:xfrm>
          <a:prstGeom prst="rect">
            <a:avLst/>
          </a:prstGeom>
          <a:noFill/>
        </p:spPr>
        <p:txBody>
          <a:bodyPr wrap="square" lIns="0" tIns="0" rIns="0" bIns="0" anchor="t">
            <a:noAutofit/>
          </a:bodyPr>
          <a:lstStyle/>
          <a:p>
            <a:pPr algn="l">
              <a:lnSpc>
                <a:spcPct val="120000"/>
              </a:lnSpc>
              <a:spcAft>
                <a:spcPts val="800"/>
              </a:spcAft>
            </a:pPr>
            <a:r>
              <a:rPr sz="2700" b="0">
                <a:solidFill>
                  <a:srgbClr val="2B221D"/>
                </a:solidFill>
                <a:latin typeface="Google Sans SemiBold"/>
              </a:rPr>
              <a:t>Dangerous</a:t>
            </a:r>
          </a:p>
          <a:p>
            <a:pPr algn="l">
              <a:lnSpc>
                <a:spcPct val="120000"/>
              </a:lnSpc>
              <a:spcAft>
                <a:spcPts val="0"/>
              </a:spcAft>
            </a:pPr>
            <a:r>
              <a:rPr sz="2100" b="0">
                <a:solidFill>
                  <a:srgbClr val="4A3B31"/>
                </a:solidFill>
                <a:latin typeface="Google Sans"/>
              </a:rPr>
              <a:t>Hot steam and a 9-bar group head, but a minor factor here.</a:t>
            </a:r>
          </a:p>
        </p:txBody>
      </p:sp>
      <p:sp>
        <p:nvSpPr>
          <p:cNvPr id="9" name="Rounded Rectangle 8"/>
          <p:cNvSpPr/>
          <p:nvPr/>
        </p:nvSpPr>
        <p:spPr>
          <a:xfrm>
            <a:off x="7022592" y="3566160"/>
            <a:ext cx="4965192" cy="512064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525512" y="3794760"/>
            <a:ext cx="2011680" cy="1828800"/>
          </a:xfrm>
          <a:prstGeom prst="rect">
            <a:avLst/>
          </a:prstGeom>
          <a:noFill/>
        </p:spPr>
        <p:txBody>
          <a:bodyPr wrap="square" lIns="0" tIns="0" rIns="0" bIns="0" anchor="t">
            <a:noAutofit/>
          </a:bodyPr>
          <a:lstStyle/>
          <a:p>
            <a:pPr algn="l">
              <a:lnSpc>
                <a:spcPct val="118000"/>
              </a:lnSpc>
              <a:spcAft>
                <a:spcPts val="0"/>
              </a:spcAft>
            </a:pPr>
            <a:r>
              <a:rPr sz="11000" b="0">
                <a:solidFill>
                  <a:srgbClr val="D0955F"/>
                </a:solidFill>
                <a:latin typeface="Google Sans SemiBold"/>
              </a:rPr>
              <a:t>I</a:t>
            </a:r>
          </a:p>
        </p:txBody>
      </p:sp>
      <p:sp>
        <p:nvSpPr>
          <p:cNvPr id="11" name="TextBox 10"/>
          <p:cNvSpPr txBox="1"/>
          <p:nvPr/>
        </p:nvSpPr>
        <p:spPr>
          <a:xfrm>
            <a:off x="8741663" y="4069080"/>
            <a:ext cx="2743200" cy="365760"/>
          </a:xfrm>
          <a:prstGeom prst="rect">
            <a:avLst/>
          </a:prstGeom>
          <a:noFill/>
        </p:spPr>
        <p:txBody>
          <a:bodyPr wrap="square" lIns="0" tIns="0" rIns="0" bIns="0" anchor="t">
            <a:noAutofit/>
          </a:bodyPr>
          <a:lstStyle/>
          <a:p>
            <a:pPr algn="r">
              <a:lnSpc>
                <a:spcPct val="118000"/>
              </a:lnSpc>
              <a:spcAft>
                <a:spcPts val="0"/>
              </a:spcAft>
            </a:pPr>
            <a:r>
              <a:rPr sz="1400" b="0" spc="200">
                <a:solidFill>
                  <a:srgbClr val="8A7260"/>
                </a:solidFill>
                <a:latin typeface="Google Sans SemiBold"/>
              </a:rPr>
              <a:t>PARTLY</a:t>
            </a:r>
          </a:p>
        </p:txBody>
      </p:sp>
      <p:sp>
        <p:nvSpPr>
          <p:cNvPr id="12" name="TextBox 11"/>
          <p:cNvSpPr txBox="1"/>
          <p:nvPr/>
        </p:nvSpPr>
        <p:spPr>
          <a:xfrm>
            <a:off x="7525512" y="5806440"/>
            <a:ext cx="3959352" cy="2377439"/>
          </a:xfrm>
          <a:prstGeom prst="rect">
            <a:avLst/>
          </a:prstGeom>
          <a:noFill/>
        </p:spPr>
        <p:txBody>
          <a:bodyPr wrap="square" lIns="0" tIns="0" rIns="0" bIns="0" anchor="t">
            <a:noAutofit/>
          </a:bodyPr>
          <a:lstStyle/>
          <a:p>
            <a:pPr algn="l">
              <a:lnSpc>
                <a:spcPct val="120000"/>
              </a:lnSpc>
              <a:spcAft>
                <a:spcPts val="800"/>
              </a:spcAft>
            </a:pPr>
            <a:r>
              <a:rPr sz="2700" b="0">
                <a:solidFill>
                  <a:srgbClr val="2B221D"/>
                </a:solidFill>
                <a:latin typeface="Google Sans SemiBold"/>
              </a:rPr>
              <a:t>Impossible</a:t>
            </a:r>
          </a:p>
          <a:p>
            <a:pPr algn="l">
              <a:lnSpc>
                <a:spcPct val="120000"/>
              </a:lnSpc>
              <a:spcAft>
                <a:spcPts val="0"/>
              </a:spcAft>
            </a:pPr>
            <a:r>
              <a:rPr sz="2100" b="0">
                <a:solidFill>
                  <a:srgbClr val="4A3B31"/>
                </a:solidFill>
                <a:latin typeface="Google Sans"/>
              </a:rPr>
              <a:t>A real machine can't show live pressure or extraction. VR can.</a:t>
            </a:r>
          </a:p>
        </p:txBody>
      </p:sp>
      <p:sp>
        <p:nvSpPr>
          <p:cNvPr id="13" name="Rounded Rectangle 12"/>
          <p:cNvSpPr/>
          <p:nvPr/>
        </p:nvSpPr>
        <p:spPr>
          <a:xfrm>
            <a:off x="12399264" y="3566160"/>
            <a:ext cx="4965192" cy="5120640"/>
          </a:xfrm>
          <a:prstGeom prst="roundRect">
            <a:avLst>
              <a:gd name="adj" fmla="val 6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902184" y="3794760"/>
            <a:ext cx="2011680" cy="1828800"/>
          </a:xfrm>
          <a:prstGeom prst="rect">
            <a:avLst/>
          </a:prstGeom>
          <a:noFill/>
        </p:spPr>
        <p:txBody>
          <a:bodyPr wrap="square" lIns="0" tIns="0" rIns="0" bIns="0" anchor="t">
            <a:noAutofit/>
          </a:bodyPr>
          <a:lstStyle/>
          <a:p>
            <a:pPr algn="l">
              <a:lnSpc>
                <a:spcPct val="118000"/>
              </a:lnSpc>
              <a:spcAft>
                <a:spcPts val="0"/>
              </a:spcAft>
            </a:pPr>
            <a:r>
              <a:rPr sz="11000" b="0">
                <a:solidFill>
                  <a:srgbClr val="D0955F"/>
                </a:solidFill>
                <a:latin typeface="Google Sans SemiBold"/>
              </a:rPr>
              <a:t>C</a:t>
            </a:r>
          </a:p>
        </p:txBody>
      </p:sp>
      <p:sp>
        <p:nvSpPr>
          <p:cNvPr id="15" name="TextBox 14"/>
          <p:cNvSpPr txBox="1"/>
          <p:nvPr/>
        </p:nvSpPr>
        <p:spPr>
          <a:xfrm>
            <a:off x="14118336" y="4069080"/>
            <a:ext cx="2743200" cy="365760"/>
          </a:xfrm>
          <a:prstGeom prst="rect">
            <a:avLst/>
          </a:prstGeom>
          <a:noFill/>
        </p:spPr>
        <p:txBody>
          <a:bodyPr wrap="square" lIns="0" tIns="0" rIns="0" bIns="0" anchor="t">
            <a:noAutofit/>
          </a:bodyPr>
          <a:lstStyle/>
          <a:p>
            <a:pPr algn="r">
              <a:lnSpc>
                <a:spcPct val="118000"/>
              </a:lnSpc>
              <a:spcAft>
                <a:spcPts val="0"/>
              </a:spcAft>
            </a:pPr>
            <a:r>
              <a:rPr sz="1400" b="0" spc="200">
                <a:solidFill>
                  <a:srgbClr val="D0955F"/>
                </a:solidFill>
                <a:latin typeface="Google Sans SemiBold"/>
              </a:rPr>
              <a:t>MAIN REASON</a:t>
            </a:r>
          </a:p>
        </p:txBody>
      </p:sp>
      <p:sp>
        <p:nvSpPr>
          <p:cNvPr id="16" name="TextBox 15"/>
          <p:cNvSpPr txBox="1"/>
          <p:nvPr/>
        </p:nvSpPr>
        <p:spPr>
          <a:xfrm>
            <a:off x="12902184" y="5806440"/>
            <a:ext cx="3959352" cy="2377439"/>
          </a:xfrm>
          <a:prstGeom prst="rect">
            <a:avLst/>
          </a:prstGeom>
          <a:noFill/>
        </p:spPr>
        <p:txBody>
          <a:bodyPr wrap="square" lIns="0" tIns="0" rIns="0" bIns="0" anchor="t">
            <a:noAutofit/>
          </a:bodyPr>
          <a:lstStyle/>
          <a:p>
            <a:pPr algn="l">
              <a:lnSpc>
                <a:spcPct val="120000"/>
              </a:lnSpc>
              <a:spcAft>
                <a:spcPts val="800"/>
              </a:spcAft>
            </a:pPr>
            <a:r>
              <a:rPr sz="2700" b="0">
                <a:solidFill>
                  <a:srgbClr val="E9D7C2"/>
                </a:solidFill>
                <a:latin typeface="Google Sans SemiBold"/>
              </a:rPr>
              <a:t>Counterproductive</a:t>
            </a:r>
          </a:p>
          <a:p>
            <a:pPr algn="l">
              <a:lnSpc>
                <a:spcPct val="120000"/>
              </a:lnSpc>
              <a:spcAft>
                <a:spcPts val="0"/>
              </a:spcAft>
            </a:pPr>
            <a:r>
              <a:rPr sz="2100" b="0">
                <a:solidFill>
                  <a:srgbClr val="C9B29B"/>
                </a:solidFill>
                <a:latin typeface="Google Sans"/>
              </a:rPr>
              <a:t>Practice blocks the only group head and delays customers.</a:t>
            </a:r>
          </a:p>
        </p:txBody>
      </p:sp>
      <p:sp>
        <p:nvSpPr>
          <p:cNvPr id="17" name="Rounded Rectangle 16"/>
          <p:cNvSpPr/>
          <p:nvPr/>
        </p:nvSpPr>
        <p:spPr>
          <a:xfrm>
            <a:off x="17775936" y="3566160"/>
            <a:ext cx="4965192" cy="5120640"/>
          </a:xfrm>
          <a:prstGeom prst="roundRect">
            <a:avLst>
              <a:gd name="adj" fmla="val 6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278856" y="3794760"/>
            <a:ext cx="2011680" cy="1828800"/>
          </a:xfrm>
          <a:prstGeom prst="rect">
            <a:avLst/>
          </a:prstGeom>
          <a:noFill/>
        </p:spPr>
        <p:txBody>
          <a:bodyPr wrap="square" lIns="0" tIns="0" rIns="0" bIns="0" anchor="t">
            <a:noAutofit/>
          </a:bodyPr>
          <a:lstStyle/>
          <a:p>
            <a:pPr algn="l">
              <a:lnSpc>
                <a:spcPct val="118000"/>
              </a:lnSpc>
              <a:spcAft>
                <a:spcPts val="0"/>
              </a:spcAft>
            </a:pPr>
            <a:r>
              <a:rPr sz="11000" b="0">
                <a:solidFill>
                  <a:srgbClr val="D0955F"/>
                </a:solidFill>
                <a:latin typeface="Google Sans SemiBold"/>
              </a:rPr>
              <a:t>E</a:t>
            </a:r>
          </a:p>
        </p:txBody>
      </p:sp>
      <p:sp>
        <p:nvSpPr>
          <p:cNvPr id="19" name="TextBox 18"/>
          <p:cNvSpPr txBox="1"/>
          <p:nvPr/>
        </p:nvSpPr>
        <p:spPr>
          <a:xfrm>
            <a:off x="19495008" y="4069080"/>
            <a:ext cx="2743200" cy="365760"/>
          </a:xfrm>
          <a:prstGeom prst="rect">
            <a:avLst/>
          </a:prstGeom>
          <a:noFill/>
        </p:spPr>
        <p:txBody>
          <a:bodyPr wrap="square" lIns="0" tIns="0" rIns="0" bIns="0" anchor="t">
            <a:noAutofit/>
          </a:bodyPr>
          <a:lstStyle/>
          <a:p>
            <a:pPr algn="r">
              <a:lnSpc>
                <a:spcPct val="118000"/>
              </a:lnSpc>
              <a:spcAft>
                <a:spcPts val="0"/>
              </a:spcAft>
            </a:pPr>
            <a:r>
              <a:rPr sz="1400" b="0" spc="200">
                <a:solidFill>
                  <a:srgbClr val="D0955F"/>
                </a:solidFill>
                <a:latin typeface="Google Sans SemiBold"/>
              </a:rPr>
              <a:t>MAIN REASON</a:t>
            </a:r>
          </a:p>
        </p:txBody>
      </p:sp>
      <p:sp>
        <p:nvSpPr>
          <p:cNvPr id="20" name="TextBox 19"/>
          <p:cNvSpPr txBox="1"/>
          <p:nvPr/>
        </p:nvSpPr>
        <p:spPr>
          <a:xfrm>
            <a:off x="18278856" y="5806440"/>
            <a:ext cx="3959352" cy="2377439"/>
          </a:xfrm>
          <a:prstGeom prst="rect">
            <a:avLst/>
          </a:prstGeom>
          <a:noFill/>
        </p:spPr>
        <p:txBody>
          <a:bodyPr wrap="square" lIns="0" tIns="0" rIns="0" bIns="0" anchor="t">
            <a:noAutofit/>
          </a:bodyPr>
          <a:lstStyle/>
          <a:p>
            <a:pPr algn="l">
              <a:lnSpc>
                <a:spcPct val="120000"/>
              </a:lnSpc>
              <a:spcAft>
                <a:spcPts val="800"/>
              </a:spcAft>
            </a:pPr>
            <a:r>
              <a:rPr sz="2700" b="0">
                <a:solidFill>
                  <a:srgbClr val="E9D7C2"/>
                </a:solidFill>
                <a:latin typeface="Google Sans SemiBold"/>
              </a:rPr>
              <a:t>Expensive</a:t>
            </a:r>
          </a:p>
          <a:p>
            <a:pPr algn="l">
              <a:lnSpc>
                <a:spcPct val="120000"/>
              </a:lnSpc>
              <a:spcAft>
                <a:spcPts val="0"/>
              </a:spcAft>
            </a:pPr>
            <a:r>
              <a:rPr sz="2100" b="0">
                <a:solidFill>
                  <a:srgbClr val="C9B29B"/>
                </a:solidFill>
                <a:latin typeface="Google Sans"/>
              </a:rPr>
              <a:t>About 18 g of beans, plus milk, wasted on every practice shot.</a:t>
            </a:r>
          </a:p>
        </p:txBody>
      </p:sp>
      <p:sp>
        <p:nvSpPr>
          <p:cNvPr id="21" name="Rounded Rectangle 20"/>
          <p:cNvSpPr/>
          <p:nvPr/>
        </p:nvSpPr>
        <p:spPr>
          <a:xfrm>
            <a:off x="1645920" y="9144000"/>
            <a:ext cx="21095208" cy="297180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148840" y="9646920"/>
            <a:ext cx="6400800" cy="1965960"/>
          </a:xfrm>
          <a:prstGeom prst="rect">
            <a:avLst/>
          </a:prstGeom>
          <a:noFill/>
        </p:spPr>
        <p:txBody>
          <a:bodyPr wrap="square" lIns="0" tIns="0" rIns="0" bIns="0" anchor="t">
            <a:noAutofit/>
          </a:bodyPr>
          <a:lstStyle/>
          <a:p>
            <a:pPr algn="l">
              <a:lnSpc>
                <a:spcPct val="115000"/>
              </a:lnSpc>
              <a:spcAft>
                <a:spcPts val="0"/>
              </a:spcAft>
            </a:pPr>
            <a:r>
              <a:rPr sz="2700" b="0">
                <a:solidFill>
                  <a:srgbClr val="2B221D"/>
                </a:solidFill>
                <a:latin typeface="Google Sans SemiBold"/>
              </a:rPr>
              <a:t>What replacing the world gives us that adding to it cannot</a:t>
            </a:r>
          </a:p>
        </p:txBody>
      </p:sp>
      <p:sp>
        <p:nvSpPr>
          <p:cNvPr id="23" name="TextBox 22"/>
          <p:cNvSpPr txBox="1"/>
          <p:nvPr/>
        </p:nvSpPr>
        <p:spPr>
          <a:xfrm>
            <a:off x="9235440" y="9646920"/>
            <a:ext cx="13002767" cy="1965960"/>
          </a:xfrm>
          <a:prstGeom prst="rect">
            <a:avLst/>
          </a:prstGeom>
          <a:noFill/>
        </p:spPr>
        <p:txBody>
          <a:bodyPr wrap="square" lIns="0" tIns="0" rIns="0" bIns="0" anchor="t">
            <a:noAutofit/>
          </a:bodyPr>
          <a:lstStyle/>
          <a:p>
            <a:pPr marL="265430" indent="-265430" algn="l">
              <a:lnSpc>
                <a:spcPct val="118000"/>
              </a:lnSpc>
              <a:spcAft>
                <a:spcPts val="800"/>
              </a:spcAft>
              <a:buClr>
                <a:srgbClr val="D0955F"/>
              </a:buClr>
              <a:buFont typeface="Arial"/>
              <a:buChar char="•"/>
            </a:pPr>
            <a:r>
              <a:rPr sz="2200" b="0">
                <a:solidFill>
                  <a:srgbClr val="4A3B31"/>
                </a:solidFill>
                <a:latin typeface="Google Sans"/>
              </a:rPr>
              <a:t>AR still needs the real machine, beans, milk and service floor. VR removes all four.</a:t>
            </a:r>
          </a:p>
          <a:p>
            <a:pPr marL="265430" indent="-265430" algn="l">
              <a:lnSpc>
                <a:spcPct val="118000"/>
              </a:lnSpc>
              <a:spcAft>
                <a:spcPts val="800"/>
              </a:spcAft>
              <a:buClr>
                <a:srgbClr val="D0955F"/>
              </a:buClr>
              <a:buFont typeface="Arial"/>
              <a:buChar char="•"/>
            </a:pPr>
            <a:r>
              <a:rPr sz="2200" b="0">
                <a:solidFill>
                  <a:srgbClr val="4A3B31"/>
                </a:solidFill>
                <a:latin typeface="Google Sans"/>
              </a:rPr>
              <a:t>We can show hidden state (live pressure, extraction time) and repeat a shot instantly.</a:t>
            </a:r>
          </a:p>
          <a:p>
            <a:pPr marL="265430" indent="-265430" algn="l">
              <a:lnSpc>
                <a:spcPct val="118000"/>
              </a:lnSpc>
              <a:spcAft>
                <a:spcPts val="800"/>
              </a:spcAft>
              <a:buClr>
                <a:srgbClr val="D0955F"/>
              </a:buClr>
              <a:buFont typeface="Arial"/>
              <a:buChar char="•"/>
            </a:pPr>
            <a:r>
              <a:rPr sz="2200" b="0">
                <a:solidFill>
                  <a:srgbClr val="4A3B31"/>
                </a:solidFill>
                <a:latin typeface="Google Sans"/>
              </a:rPr>
              <a:t>We keep the café's sound but remove its rush, so the trainee can focus.</a:t>
            </a:r>
          </a:p>
        </p:txBody>
      </p:sp>
      <p:sp>
        <p:nvSpPr>
          <p:cNvPr id="24" name="TextBox 23"/>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25" name="TextBox 24"/>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318115" y="0"/>
            <a:ext cx="9068933" cy="7315202"/>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7988502"/>
            <a:ext cx="7049381" cy="5727498"/>
          </a:xfrm>
          <a:prstGeom prst="rect">
            <a:avLst/>
          </a:prstGeom>
        </p:spPr>
      </p:pic>
      <p:pic>
        <p:nvPicPr>
          <p:cNvPr id="6"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06669" y="9994570"/>
            <a:ext cx="2671709" cy="3413288"/>
          </a:xfrm>
          <a:prstGeom prst="rect">
            <a:avLst/>
          </a:prstGeom>
        </p:spPr>
      </p:pic>
      <p:sp>
        <p:nvSpPr>
          <p:cNvPr id="7" name="TextBox 6"/>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09 · DESIGN RATIONALE</a:t>
            </a:r>
          </a:p>
        </p:txBody>
      </p:sp>
      <p:sp>
        <p:nvSpPr>
          <p:cNvPr id="8" name="TextBox 7"/>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Comfort, interaction, UI and audio</a:t>
            </a:r>
          </a:p>
        </p:txBody>
      </p:sp>
      <p:sp>
        <p:nvSpPr>
          <p:cNvPr id="9" name="Rounded Rectangle 8"/>
          <p:cNvSpPr/>
          <p:nvPr/>
        </p:nvSpPr>
        <p:spPr>
          <a:xfrm>
            <a:off x="1645920" y="3566160"/>
            <a:ext cx="1034186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48840" y="4069080"/>
            <a:ext cx="9336024" cy="548640"/>
          </a:xfrm>
          <a:prstGeom prst="rect">
            <a:avLst/>
          </a:prstGeom>
          <a:noFill/>
        </p:spPr>
        <p:txBody>
          <a:bodyPr wrap="square" lIns="0" tIns="0" rIns="0" bIns="0" anchor="t">
            <a:noAutofit/>
          </a:bodyPr>
          <a:lstStyle/>
          <a:p>
            <a:pPr algn="l">
              <a:lnSpc>
                <a:spcPct val="100000"/>
              </a:lnSpc>
              <a:spcAft>
                <a:spcPts val="0"/>
              </a:spcAft>
            </a:pPr>
            <a:r>
              <a:rPr sz="3000" b="0">
                <a:solidFill>
                  <a:srgbClr val="E9D7C2"/>
                </a:solidFill>
                <a:latin typeface="Google Sans SemiBold"/>
              </a:rPr>
              <a:t>Locomotion &amp; comfort</a:t>
            </a:r>
          </a:p>
        </p:txBody>
      </p:sp>
      <p:sp>
        <p:nvSpPr>
          <p:cNvPr id="11" name="TextBox 10"/>
          <p:cNvSpPr txBox="1"/>
          <p:nvPr/>
        </p:nvSpPr>
        <p:spPr>
          <a:xfrm>
            <a:off x="2148840" y="4789170"/>
            <a:ext cx="9336024" cy="2343149"/>
          </a:xfrm>
          <a:prstGeom prst="rect">
            <a:avLst/>
          </a:prstGeom>
          <a:noFill/>
        </p:spPr>
        <p:txBody>
          <a:bodyPr wrap="square" lIns="0" tIns="0" rIns="0" bIns="0" anchor="t">
            <a:noAutofit/>
          </a:bodyPr>
          <a:lstStyle/>
          <a:p>
            <a:pPr marL="301625" indent="-301625" algn="l">
              <a:lnSpc>
                <a:spcPct val="118000"/>
              </a:lnSpc>
              <a:spcAft>
                <a:spcPts val="1000"/>
              </a:spcAft>
              <a:buClr>
                <a:srgbClr val="D0955F"/>
              </a:buClr>
              <a:buFont typeface="Arial"/>
              <a:buChar char="•"/>
            </a:pPr>
            <a:r>
              <a:rPr sz="2500" b="0">
                <a:solidFill>
                  <a:srgbClr val="C9B29B"/>
                </a:solidFill>
                <a:latin typeface="Google Sans"/>
              </a:rPr>
              <a:t>No movement provider: seated, everything within reach</a:t>
            </a:r>
          </a:p>
          <a:p>
            <a:pPr marL="301625" indent="-301625" algn="l">
              <a:lnSpc>
                <a:spcPct val="118000"/>
              </a:lnSpc>
              <a:spcAft>
                <a:spcPts val="1000"/>
              </a:spcAft>
              <a:buClr>
                <a:srgbClr val="D0955F"/>
              </a:buClr>
              <a:buFont typeface="Arial"/>
              <a:buChar char="•"/>
            </a:pPr>
            <a:r>
              <a:rPr sz="2500" b="0">
                <a:solidFill>
                  <a:srgbClr val="C9B29B"/>
                </a:solidFill>
                <a:latin typeface="Google Sans"/>
              </a:rPr>
              <a:t>45° snap turn only: instant, so no vection</a:t>
            </a:r>
          </a:p>
          <a:p>
            <a:pPr marL="301625" indent="-301625" algn="l">
              <a:lnSpc>
                <a:spcPct val="118000"/>
              </a:lnSpc>
              <a:spcAft>
                <a:spcPts val="1000"/>
              </a:spcAft>
              <a:buClr>
                <a:srgbClr val="D0955F"/>
              </a:buClr>
              <a:buFont typeface="Arial"/>
              <a:buChar char="•"/>
            </a:pPr>
            <a:r>
              <a:rPr sz="2500" b="0">
                <a:solidFill>
                  <a:srgbClr val="C9B29B"/>
                </a:solidFill>
                <a:latin typeface="Google Sans"/>
              </a:rPr>
              <a:t>No smooth move or teleport: the task never needs travel</a:t>
            </a:r>
          </a:p>
        </p:txBody>
      </p:sp>
      <p:sp>
        <p:nvSpPr>
          <p:cNvPr id="12" name="Rounded Rectangle 11"/>
          <p:cNvSpPr/>
          <p:nvPr/>
        </p:nvSpPr>
        <p:spPr>
          <a:xfrm>
            <a:off x="12399264" y="3566160"/>
            <a:ext cx="1034186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902184" y="4069080"/>
            <a:ext cx="9336024" cy="548640"/>
          </a:xfrm>
          <a:prstGeom prst="rect">
            <a:avLst/>
          </a:prstGeom>
          <a:noFill/>
        </p:spPr>
        <p:txBody>
          <a:bodyPr wrap="square" lIns="0" tIns="0" rIns="0" bIns="0" anchor="t">
            <a:noAutofit/>
          </a:bodyPr>
          <a:lstStyle/>
          <a:p>
            <a:pPr algn="l">
              <a:lnSpc>
                <a:spcPct val="100000"/>
              </a:lnSpc>
              <a:spcAft>
                <a:spcPts val="0"/>
              </a:spcAft>
            </a:pPr>
            <a:r>
              <a:rPr sz="3000" b="0">
                <a:solidFill>
                  <a:srgbClr val="E9D7C2"/>
                </a:solidFill>
                <a:latin typeface="Google Sans SemiBold"/>
              </a:rPr>
              <a:t>Interaction</a:t>
            </a:r>
          </a:p>
        </p:txBody>
      </p:sp>
      <p:sp>
        <p:nvSpPr>
          <p:cNvPr id="14" name="TextBox 13"/>
          <p:cNvSpPr txBox="1"/>
          <p:nvPr/>
        </p:nvSpPr>
        <p:spPr>
          <a:xfrm>
            <a:off x="12902184" y="4789170"/>
            <a:ext cx="9336024" cy="2343149"/>
          </a:xfrm>
          <a:prstGeom prst="rect">
            <a:avLst/>
          </a:prstGeom>
          <a:noFill/>
        </p:spPr>
        <p:txBody>
          <a:bodyPr wrap="square" lIns="0" tIns="0" rIns="0" bIns="0" anchor="t">
            <a:noAutofit/>
          </a:bodyPr>
          <a:lstStyle/>
          <a:p>
            <a:pPr marL="301625" indent="-301625" algn="l">
              <a:lnSpc>
                <a:spcPct val="118000"/>
              </a:lnSpc>
              <a:spcAft>
                <a:spcPts val="1000"/>
              </a:spcAft>
              <a:buClr>
                <a:srgbClr val="D0955F"/>
              </a:buClr>
              <a:buFont typeface="Arial"/>
              <a:buChar char="•"/>
            </a:pPr>
            <a:r>
              <a:rPr sz="2500" b="0">
                <a:solidFill>
                  <a:srgbClr val="C9B29B"/>
                </a:solidFill>
                <a:latin typeface="Google Sans"/>
              </a:rPr>
              <a:t>XRI grab interactables with velocity tracking, so tools feel weighty</a:t>
            </a:r>
          </a:p>
          <a:p>
            <a:pPr marL="301625" indent="-301625" algn="l">
              <a:lnSpc>
                <a:spcPct val="118000"/>
              </a:lnSpc>
              <a:spcAft>
                <a:spcPts val="1000"/>
              </a:spcAft>
              <a:buClr>
                <a:srgbClr val="D0955F"/>
              </a:buClr>
              <a:buFont typeface="Arial"/>
              <a:buChar char="•"/>
            </a:pPr>
            <a:r>
              <a:rPr sz="2500" b="0">
                <a:solidFill>
                  <a:srgbClr val="C9B29B"/>
                </a:solidFill>
                <a:latin typeface="Google Sans"/>
              </a:rPr>
              <a:t>Sockets hold the portafilter (fork, mat) and the pitcher (steam rest)</a:t>
            </a:r>
          </a:p>
          <a:p>
            <a:pPr marL="301625" indent="-301625" algn="l">
              <a:lnSpc>
                <a:spcPct val="118000"/>
              </a:lnSpc>
              <a:spcAft>
                <a:spcPts val="1000"/>
              </a:spcAft>
              <a:buClr>
                <a:srgbClr val="D0955F"/>
              </a:buClr>
              <a:buFont typeface="Arial"/>
              <a:buChar char="•"/>
            </a:pPr>
            <a:r>
              <a:rPr sz="2500" b="0">
                <a:solidFill>
                  <a:srgbClr val="C9B29B"/>
                </a:solidFill>
                <a:latin typeface="Google Sans"/>
              </a:rPr>
              <a:t>Dials and lock are hand-position drags; all input via named XRI actions</a:t>
            </a:r>
          </a:p>
        </p:txBody>
      </p:sp>
      <p:sp>
        <p:nvSpPr>
          <p:cNvPr id="15" name="Rounded Rectangle 14"/>
          <p:cNvSpPr/>
          <p:nvPr/>
        </p:nvSpPr>
        <p:spPr>
          <a:xfrm>
            <a:off x="1645920" y="8046720"/>
            <a:ext cx="1034186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48840" y="8549640"/>
            <a:ext cx="9336024" cy="548640"/>
          </a:xfrm>
          <a:prstGeom prst="rect">
            <a:avLst/>
          </a:prstGeom>
          <a:noFill/>
        </p:spPr>
        <p:txBody>
          <a:bodyPr wrap="square" lIns="0" tIns="0" rIns="0" bIns="0" anchor="t">
            <a:noAutofit/>
          </a:bodyPr>
          <a:lstStyle/>
          <a:p>
            <a:pPr algn="l">
              <a:lnSpc>
                <a:spcPct val="100000"/>
              </a:lnSpc>
              <a:spcAft>
                <a:spcPts val="0"/>
              </a:spcAft>
            </a:pPr>
            <a:r>
              <a:rPr sz="3000" b="0">
                <a:solidFill>
                  <a:srgbClr val="E9D7C2"/>
                </a:solidFill>
                <a:latin typeface="Google Sans SemiBold"/>
              </a:rPr>
              <a:t>Spatial UI</a:t>
            </a:r>
          </a:p>
        </p:txBody>
      </p:sp>
      <p:sp>
        <p:nvSpPr>
          <p:cNvPr id="17" name="TextBox 16"/>
          <p:cNvSpPr txBox="1"/>
          <p:nvPr/>
        </p:nvSpPr>
        <p:spPr>
          <a:xfrm>
            <a:off x="2148840" y="9269730"/>
            <a:ext cx="9336024" cy="2343149"/>
          </a:xfrm>
          <a:prstGeom prst="rect">
            <a:avLst/>
          </a:prstGeom>
          <a:noFill/>
        </p:spPr>
        <p:txBody>
          <a:bodyPr wrap="square" lIns="0" tIns="0" rIns="0" bIns="0" anchor="t">
            <a:noAutofit/>
          </a:bodyPr>
          <a:lstStyle/>
          <a:p>
            <a:pPr marL="301625" indent="-301625" algn="l">
              <a:lnSpc>
                <a:spcPct val="118000"/>
              </a:lnSpc>
              <a:spcAft>
                <a:spcPts val="1000"/>
              </a:spcAft>
              <a:buClr>
                <a:srgbClr val="D0955F"/>
              </a:buClr>
              <a:buFont typeface="Arial"/>
              <a:buChar char="•"/>
            </a:pPr>
            <a:r>
              <a:rPr sz="2500" b="0">
                <a:solidFill>
                  <a:srgbClr val="C9B29B"/>
                </a:solidFill>
                <a:latin typeface="Google Sans"/>
              </a:rPr>
              <a:t>Ticket, gauge, thermometer and result dial are objects in the café: no HUD</a:t>
            </a:r>
          </a:p>
          <a:p>
            <a:pPr marL="301625" indent="-301625" algn="l">
              <a:lnSpc>
                <a:spcPct val="118000"/>
              </a:lnSpc>
              <a:spcAft>
                <a:spcPts val="1000"/>
              </a:spcAft>
              <a:buClr>
                <a:srgbClr val="D0955F"/>
              </a:buClr>
              <a:buFont typeface="Arial"/>
              <a:buChar char="•"/>
            </a:pPr>
            <a:r>
              <a:rPr sz="2500" b="0">
                <a:solidFill>
                  <a:srgbClr val="C9B29B"/>
                </a:solidFill>
                <a:latin typeface="Google Sans"/>
              </a:rPr>
              <a:t>Reading panels at 0.75–1 m to limit vergence-accommodation strain</a:t>
            </a:r>
          </a:p>
          <a:p>
            <a:pPr marL="301625" indent="-301625" algn="l">
              <a:lnSpc>
                <a:spcPct val="118000"/>
              </a:lnSpc>
              <a:spcAft>
                <a:spcPts val="1000"/>
              </a:spcAft>
              <a:buClr>
                <a:srgbClr val="D0955F"/>
              </a:buClr>
              <a:buFont typeface="Arial"/>
              <a:buChar char="•"/>
            </a:pPr>
            <a:r>
              <a:rPr sz="2500" b="0">
                <a:solidFill>
                  <a:srgbClr val="C9B29B"/>
                </a:solidFill>
                <a:latin typeface="Google Sans"/>
              </a:rPr>
              <a:t>A glowing marker hovers over the next step</a:t>
            </a:r>
          </a:p>
        </p:txBody>
      </p:sp>
      <p:sp>
        <p:nvSpPr>
          <p:cNvPr id="18" name="Rounded Rectangle 17"/>
          <p:cNvSpPr/>
          <p:nvPr/>
        </p:nvSpPr>
        <p:spPr>
          <a:xfrm>
            <a:off x="12399264" y="8046720"/>
            <a:ext cx="1034186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902184" y="8549640"/>
            <a:ext cx="9336024" cy="548640"/>
          </a:xfrm>
          <a:prstGeom prst="rect">
            <a:avLst/>
          </a:prstGeom>
          <a:noFill/>
        </p:spPr>
        <p:txBody>
          <a:bodyPr wrap="square" lIns="0" tIns="0" rIns="0" bIns="0" anchor="t">
            <a:noAutofit/>
          </a:bodyPr>
          <a:lstStyle/>
          <a:p>
            <a:pPr algn="l">
              <a:lnSpc>
                <a:spcPct val="100000"/>
              </a:lnSpc>
              <a:spcAft>
                <a:spcPts val="0"/>
              </a:spcAft>
            </a:pPr>
            <a:r>
              <a:rPr sz="3000" b="0">
                <a:solidFill>
                  <a:srgbClr val="E9D7C2"/>
                </a:solidFill>
                <a:latin typeface="Google Sans SemiBold"/>
              </a:rPr>
              <a:t>Audio</a:t>
            </a:r>
          </a:p>
        </p:txBody>
      </p:sp>
      <p:sp>
        <p:nvSpPr>
          <p:cNvPr id="20" name="TextBox 19"/>
          <p:cNvSpPr txBox="1"/>
          <p:nvPr/>
        </p:nvSpPr>
        <p:spPr>
          <a:xfrm>
            <a:off x="12902184" y="9269730"/>
            <a:ext cx="9336024" cy="2343149"/>
          </a:xfrm>
          <a:prstGeom prst="rect">
            <a:avLst/>
          </a:prstGeom>
          <a:noFill/>
        </p:spPr>
        <p:txBody>
          <a:bodyPr wrap="square" lIns="0" tIns="0" rIns="0" bIns="0" anchor="t">
            <a:noAutofit/>
          </a:bodyPr>
          <a:lstStyle/>
          <a:p>
            <a:pPr marL="301625" indent="-301625" algn="l">
              <a:lnSpc>
                <a:spcPct val="118000"/>
              </a:lnSpc>
              <a:spcAft>
                <a:spcPts val="1000"/>
              </a:spcAft>
              <a:buClr>
                <a:srgbClr val="D0955F"/>
              </a:buClr>
              <a:buFont typeface="Arial"/>
              <a:buChar char="•"/>
            </a:pPr>
            <a:r>
              <a:rPr sz="2500" b="0">
                <a:solidFill>
                  <a:srgbClr val="C9B29B"/>
                </a:solidFill>
                <a:latin typeface="Google Sans"/>
              </a:rPr>
              <a:t>Every sound is a 3D source at its object, logarithmic roll-off</a:t>
            </a:r>
          </a:p>
          <a:p>
            <a:pPr marL="301625" indent="-301625" algn="l">
              <a:lnSpc>
                <a:spcPct val="118000"/>
              </a:lnSpc>
              <a:spcAft>
                <a:spcPts val="1000"/>
              </a:spcAft>
              <a:buClr>
                <a:srgbClr val="D0955F"/>
              </a:buClr>
              <a:buFont typeface="Arial"/>
              <a:buChar char="•"/>
            </a:pPr>
            <a:r>
              <a:rPr sz="2500" b="0">
                <a:solidFill>
                  <a:srgbClr val="C9B29B"/>
                </a:solidFill>
                <a:latin typeface="Google Sans"/>
              </a:rPr>
              <a:t>Grinder, pump, steam hiss (pitch falls as milk heats), pour, knock, chimes</a:t>
            </a:r>
          </a:p>
          <a:p>
            <a:pPr marL="301625" indent="-301625" algn="l">
              <a:lnSpc>
                <a:spcPct val="118000"/>
              </a:lnSpc>
              <a:spcAft>
                <a:spcPts val="1000"/>
              </a:spcAft>
              <a:buClr>
                <a:srgbClr val="D0955F"/>
              </a:buClr>
              <a:buFont typeface="Arial"/>
              <a:buChar char="•"/>
            </a:pPr>
            <a:r>
              <a:rPr sz="2500" b="0">
                <a:solidFill>
                  <a:srgbClr val="C9B29B"/>
                </a:solidFill>
                <a:latin typeface="Google Sans"/>
              </a:rPr>
              <a:t>All synthesised in code: nothing to license</a:t>
            </a:r>
          </a:p>
        </p:txBody>
      </p:sp>
      <p:sp>
        <p:nvSpPr>
          <p:cNvPr id="21" name="TextBox 20"/>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22" name="TextBox 21"/>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2206" y="6057900"/>
            <a:ext cx="12726988" cy="76581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10 · SYSTEM ARCHITECTURE</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From XR Origin to game logic</a:t>
            </a:r>
          </a:p>
        </p:txBody>
      </p:sp>
      <p:sp>
        <p:nvSpPr>
          <p:cNvPr id="5" name="Rounded Rectangle 4"/>
          <p:cNvSpPr/>
          <p:nvPr/>
        </p:nvSpPr>
        <p:spPr>
          <a:xfrm>
            <a:off x="1645920" y="3566160"/>
            <a:ext cx="6126480" cy="6263640"/>
          </a:xfrm>
          <a:prstGeom prst="roundRect">
            <a:avLst>
              <a:gd name="adj" fmla="val 5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20240" y="3886200"/>
            <a:ext cx="5577840" cy="365760"/>
          </a:xfrm>
          <a:prstGeom prst="rect">
            <a:avLst/>
          </a:prstGeom>
          <a:noFill/>
        </p:spPr>
        <p:txBody>
          <a:bodyPr wrap="square" lIns="0" tIns="0" rIns="0" bIns="0" anchor="t">
            <a:noAutofit/>
          </a:bodyPr>
          <a:lstStyle/>
          <a:p>
            <a:pPr algn="ctr">
              <a:lnSpc>
                <a:spcPct val="118000"/>
              </a:lnSpc>
              <a:spcAft>
                <a:spcPts val="0"/>
              </a:spcAft>
            </a:pPr>
            <a:r>
              <a:rPr sz="1400" b="0" spc="200">
                <a:solidFill>
                  <a:srgbClr val="D0955F"/>
                </a:solidFill>
                <a:latin typeface="Google Sans SemiBold"/>
              </a:rPr>
              <a:t>XR ORIGIN · DEVICE, SEATED</a:t>
            </a:r>
          </a:p>
        </p:txBody>
      </p:sp>
      <p:sp>
        <p:nvSpPr>
          <p:cNvPr id="7" name="Rounded Rectangle 6"/>
          <p:cNvSpPr/>
          <p:nvPr/>
        </p:nvSpPr>
        <p:spPr>
          <a:xfrm>
            <a:off x="1965960" y="4434840"/>
            <a:ext cx="5486400" cy="1600200"/>
          </a:xfrm>
          <a:prstGeom prst="roundRect">
            <a:avLst>
              <a:gd name="adj" fmla="val 10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240279" y="4434840"/>
            <a:ext cx="4937760" cy="1600200"/>
          </a:xfrm>
          <a:prstGeom prst="rect">
            <a:avLst/>
          </a:prstGeom>
          <a:noFill/>
        </p:spPr>
        <p:txBody>
          <a:bodyPr wrap="square" lIns="0" tIns="0" rIns="0" bIns="0" anchor="ctr">
            <a:noAutofit/>
          </a:bodyPr>
          <a:lstStyle/>
          <a:p>
            <a:pPr algn="ctr">
              <a:lnSpc>
                <a:spcPct val="112000"/>
              </a:lnSpc>
              <a:spcAft>
                <a:spcPts val="300"/>
              </a:spcAft>
            </a:pPr>
            <a:r>
              <a:rPr sz="2100" b="0">
                <a:solidFill>
                  <a:srgbClr val="E9D7C2"/>
                </a:solidFill>
                <a:latin typeface="Google Sans SemiBold"/>
              </a:rPr>
              <a:t>Main Camera</a:t>
            </a:r>
          </a:p>
          <a:p>
            <a:pPr algn="ctr">
              <a:lnSpc>
                <a:spcPct val="112000"/>
              </a:lnSpc>
              <a:spcAft>
                <a:spcPts val="0"/>
              </a:spcAft>
            </a:pPr>
            <a:r>
              <a:rPr sz="1600" b="0">
                <a:solidFill>
                  <a:srgbClr val="C9B29B"/>
                </a:solidFill>
                <a:latin typeface="Google Sans"/>
              </a:rPr>
              <a:t>Tracked Pose Driver</a:t>
            </a:r>
          </a:p>
        </p:txBody>
      </p:sp>
      <p:sp>
        <p:nvSpPr>
          <p:cNvPr id="9" name="Rounded Rectangle 8"/>
          <p:cNvSpPr/>
          <p:nvPr/>
        </p:nvSpPr>
        <p:spPr>
          <a:xfrm>
            <a:off x="1965960" y="6217920"/>
            <a:ext cx="5486400" cy="1600200"/>
          </a:xfrm>
          <a:prstGeom prst="roundRect">
            <a:avLst>
              <a:gd name="adj" fmla="val 10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240279" y="6217920"/>
            <a:ext cx="4937760" cy="1600200"/>
          </a:xfrm>
          <a:prstGeom prst="rect">
            <a:avLst/>
          </a:prstGeom>
          <a:noFill/>
        </p:spPr>
        <p:txBody>
          <a:bodyPr wrap="square" lIns="0" tIns="0" rIns="0" bIns="0" anchor="ctr">
            <a:noAutofit/>
          </a:bodyPr>
          <a:lstStyle/>
          <a:p>
            <a:pPr algn="ctr">
              <a:lnSpc>
                <a:spcPct val="112000"/>
              </a:lnSpc>
              <a:spcAft>
                <a:spcPts val="300"/>
              </a:spcAft>
            </a:pPr>
            <a:r>
              <a:rPr sz="2100" b="0">
                <a:solidFill>
                  <a:srgbClr val="E9D7C2"/>
                </a:solidFill>
                <a:latin typeface="Google Sans SemiBold"/>
              </a:rPr>
              <a:t>Left / Right controller</a:t>
            </a:r>
          </a:p>
          <a:p>
            <a:pPr algn="ctr">
              <a:lnSpc>
                <a:spcPct val="112000"/>
              </a:lnSpc>
              <a:spcAft>
                <a:spcPts val="0"/>
              </a:spcAft>
            </a:pPr>
            <a:r>
              <a:rPr sz="1600" b="0">
                <a:solidFill>
                  <a:srgbClr val="C9B29B"/>
                </a:solidFill>
                <a:latin typeface="Google Sans"/>
              </a:rPr>
              <a:t>Near-Far Interactor</a:t>
            </a:r>
          </a:p>
        </p:txBody>
      </p:sp>
      <p:sp>
        <p:nvSpPr>
          <p:cNvPr id="11" name="Rounded Rectangle 10"/>
          <p:cNvSpPr/>
          <p:nvPr/>
        </p:nvSpPr>
        <p:spPr>
          <a:xfrm>
            <a:off x="1965960" y="8001000"/>
            <a:ext cx="5486400" cy="1600200"/>
          </a:xfrm>
          <a:prstGeom prst="roundRect">
            <a:avLst>
              <a:gd name="adj" fmla="val 10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240279" y="8001000"/>
            <a:ext cx="4937760" cy="1600200"/>
          </a:xfrm>
          <a:prstGeom prst="rect">
            <a:avLst/>
          </a:prstGeom>
          <a:noFill/>
        </p:spPr>
        <p:txBody>
          <a:bodyPr wrap="square" lIns="0" tIns="0" rIns="0" bIns="0" anchor="ctr">
            <a:noAutofit/>
          </a:bodyPr>
          <a:lstStyle/>
          <a:p>
            <a:pPr algn="ctr">
              <a:lnSpc>
                <a:spcPct val="112000"/>
              </a:lnSpc>
              <a:spcAft>
                <a:spcPts val="300"/>
              </a:spcAft>
            </a:pPr>
            <a:r>
              <a:rPr sz="2100" b="0">
                <a:solidFill>
                  <a:srgbClr val="E9D7C2"/>
                </a:solidFill>
                <a:latin typeface="Google Sans SemiBold"/>
              </a:rPr>
              <a:t>Snap Turn Provider</a:t>
            </a:r>
          </a:p>
          <a:p>
            <a:pPr algn="ctr">
              <a:lnSpc>
                <a:spcPct val="112000"/>
              </a:lnSpc>
              <a:spcAft>
                <a:spcPts val="0"/>
              </a:spcAft>
            </a:pPr>
            <a:r>
              <a:rPr sz="1600" b="0">
                <a:solidFill>
                  <a:srgbClr val="C9B29B"/>
                </a:solidFill>
                <a:latin typeface="Google Sans"/>
              </a:rPr>
              <a:t>45°, the only locomotion</a:t>
            </a:r>
          </a:p>
        </p:txBody>
      </p:sp>
      <p:sp>
        <p:nvSpPr>
          <p:cNvPr id="13" name="Rounded Rectangle 12"/>
          <p:cNvSpPr/>
          <p:nvPr/>
        </p:nvSpPr>
        <p:spPr>
          <a:xfrm>
            <a:off x="1645920" y="10241280"/>
            <a:ext cx="6126480" cy="868680"/>
          </a:xfrm>
          <a:prstGeom prst="roundRect">
            <a:avLst>
              <a:gd name="adj" fmla="val 1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920240" y="10241280"/>
            <a:ext cx="5577840" cy="868680"/>
          </a:xfrm>
          <a:prstGeom prst="rect">
            <a:avLst/>
          </a:prstGeom>
          <a:noFill/>
        </p:spPr>
        <p:txBody>
          <a:bodyPr wrap="square" lIns="0" tIns="0" rIns="0" bIns="0" anchor="ctr">
            <a:noAutofit/>
          </a:bodyPr>
          <a:lstStyle/>
          <a:p>
            <a:pPr algn="ctr">
              <a:lnSpc>
                <a:spcPct val="112000"/>
              </a:lnSpc>
              <a:spcAft>
                <a:spcPts val="300"/>
              </a:spcAft>
            </a:pPr>
            <a:r>
              <a:rPr sz="2100" b="0">
                <a:solidFill>
                  <a:srgbClr val="3D261A"/>
                </a:solidFill>
                <a:latin typeface="Google Sans SemiBold"/>
              </a:rPr>
              <a:t>Named XRI input actions</a:t>
            </a:r>
          </a:p>
        </p:txBody>
      </p:sp>
      <p:sp>
        <p:nvSpPr>
          <p:cNvPr id="15" name="Rounded Rectangle 14"/>
          <p:cNvSpPr/>
          <p:nvPr/>
        </p:nvSpPr>
        <p:spPr>
          <a:xfrm>
            <a:off x="1645920" y="11292840"/>
            <a:ext cx="6126480" cy="822960"/>
          </a:xfrm>
          <a:prstGeom prst="roundRect">
            <a:avLst>
              <a:gd name="adj" fmla="val 10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20240" y="11292840"/>
            <a:ext cx="5577840" cy="822960"/>
          </a:xfrm>
          <a:prstGeom prst="rect">
            <a:avLst/>
          </a:prstGeom>
          <a:noFill/>
        </p:spPr>
        <p:txBody>
          <a:bodyPr wrap="square" lIns="0" tIns="0" rIns="0" bIns="0" anchor="ctr">
            <a:noAutofit/>
          </a:bodyPr>
          <a:lstStyle/>
          <a:p>
            <a:pPr algn="ctr">
              <a:lnSpc>
                <a:spcPct val="112000"/>
              </a:lnSpc>
              <a:spcAft>
                <a:spcPts val="300"/>
              </a:spcAft>
            </a:pPr>
            <a:r>
              <a:rPr sz="2100" b="0">
                <a:solidFill>
                  <a:srgbClr val="2B221D"/>
                </a:solidFill>
                <a:latin typeface="Google Sans SemiBold"/>
              </a:rPr>
              <a:t>DesktopRigDriver</a:t>
            </a:r>
          </a:p>
          <a:p>
            <a:pPr algn="ctr">
              <a:lnSpc>
                <a:spcPct val="112000"/>
              </a:lnSpc>
              <a:spcAft>
                <a:spcPts val="0"/>
              </a:spcAft>
            </a:pPr>
            <a:r>
              <a:rPr sz="1600" b="0">
                <a:solidFill>
                  <a:srgbClr val="4A3B31"/>
                </a:solidFill>
                <a:latin typeface="Google Sans"/>
              </a:rPr>
              <a:t>adds keyboard &amp; mouse bindings</a:t>
            </a:r>
          </a:p>
        </p:txBody>
      </p:sp>
      <p:cxnSp>
        <p:nvCxnSpPr>
          <p:cNvPr id="17" name="Connector 16"/>
          <p:cNvCxnSpPr/>
          <p:nvPr/>
        </p:nvCxnSpPr>
        <p:spPr>
          <a:xfrm flipV="1">
            <a:off x="4709160" y="9875520"/>
            <a:ext cx="0" cy="32004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8855963" y="3566160"/>
            <a:ext cx="6035040" cy="1897380"/>
          </a:xfrm>
          <a:prstGeom prst="roundRect">
            <a:avLst>
              <a:gd name="adj" fmla="val 10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130284" y="3566160"/>
            <a:ext cx="5486400" cy="1897380"/>
          </a:xfrm>
          <a:prstGeom prst="rect">
            <a:avLst/>
          </a:prstGeom>
          <a:noFill/>
        </p:spPr>
        <p:txBody>
          <a:bodyPr wrap="square" lIns="0" tIns="0" rIns="0" bIns="0" anchor="ctr">
            <a:noAutofit/>
          </a:bodyPr>
          <a:lstStyle/>
          <a:p>
            <a:pPr algn="ctr">
              <a:lnSpc>
                <a:spcPct val="112000"/>
              </a:lnSpc>
              <a:spcAft>
                <a:spcPts val="300"/>
              </a:spcAft>
            </a:pPr>
            <a:r>
              <a:rPr sz="2100" b="0">
                <a:solidFill>
                  <a:srgbClr val="2B221D"/>
                </a:solidFill>
                <a:latin typeface="Google Sans SemiBold"/>
              </a:rPr>
              <a:t>XR Grab Interactable</a:t>
            </a:r>
          </a:p>
          <a:p>
            <a:pPr algn="ctr">
              <a:lnSpc>
                <a:spcPct val="112000"/>
              </a:lnSpc>
              <a:spcAft>
                <a:spcPts val="0"/>
              </a:spcAft>
            </a:pPr>
            <a:r>
              <a:rPr sz="1600" b="0">
                <a:solidFill>
                  <a:srgbClr val="4A3B31"/>
                </a:solidFill>
                <a:latin typeface="Google Sans"/>
              </a:rPr>
              <a:t>portafilter, tamper, pitcher, cup</a:t>
            </a:r>
          </a:p>
        </p:txBody>
      </p:sp>
      <p:sp>
        <p:nvSpPr>
          <p:cNvPr id="20" name="Rounded Rectangle 19"/>
          <p:cNvSpPr/>
          <p:nvPr/>
        </p:nvSpPr>
        <p:spPr>
          <a:xfrm>
            <a:off x="8855963" y="5783580"/>
            <a:ext cx="6035040" cy="1897380"/>
          </a:xfrm>
          <a:prstGeom prst="roundRect">
            <a:avLst>
              <a:gd name="adj" fmla="val 10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30284" y="5783580"/>
            <a:ext cx="5486400" cy="1897380"/>
          </a:xfrm>
          <a:prstGeom prst="rect">
            <a:avLst/>
          </a:prstGeom>
          <a:noFill/>
        </p:spPr>
        <p:txBody>
          <a:bodyPr wrap="square" lIns="0" tIns="0" rIns="0" bIns="0" anchor="ctr">
            <a:noAutofit/>
          </a:bodyPr>
          <a:lstStyle/>
          <a:p>
            <a:pPr algn="ctr">
              <a:lnSpc>
                <a:spcPct val="112000"/>
              </a:lnSpc>
              <a:spcAft>
                <a:spcPts val="300"/>
              </a:spcAft>
            </a:pPr>
            <a:r>
              <a:rPr sz="2100" b="0">
                <a:solidFill>
                  <a:srgbClr val="2B221D"/>
                </a:solidFill>
                <a:latin typeface="Google Sans SemiBold"/>
              </a:rPr>
              <a:t>XR Simple Interactable</a:t>
            </a:r>
          </a:p>
          <a:p>
            <a:pPr algn="ctr">
              <a:lnSpc>
                <a:spcPct val="112000"/>
              </a:lnSpc>
              <a:spcAft>
                <a:spcPts val="0"/>
              </a:spcAft>
            </a:pPr>
            <a:r>
              <a:rPr sz="1600" b="0">
                <a:solidFill>
                  <a:srgbClr val="4A3B31"/>
                </a:solidFill>
                <a:latin typeface="Google Sans"/>
              </a:rPr>
              <a:t>buttons, dials, portafilter lock</a:t>
            </a:r>
          </a:p>
        </p:txBody>
      </p:sp>
      <p:sp>
        <p:nvSpPr>
          <p:cNvPr id="22" name="Rounded Rectangle 21"/>
          <p:cNvSpPr/>
          <p:nvPr/>
        </p:nvSpPr>
        <p:spPr>
          <a:xfrm>
            <a:off x="8855963" y="8001000"/>
            <a:ext cx="6035040" cy="1897380"/>
          </a:xfrm>
          <a:prstGeom prst="roundRect">
            <a:avLst>
              <a:gd name="adj" fmla="val 10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130284" y="8001000"/>
            <a:ext cx="5486400" cy="1897380"/>
          </a:xfrm>
          <a:prstGeom prst="rect">
            <a:avLst/>
          </a:prstGeom>
          <a:noFill/>
        </p:spPr>
        <p:txBody>
          <a:bodyPr wrap="square" lIns="0" tIns="0" rIns="0" bIns="0" anchor="ctr">
            <a:noAutofit/>
          </a:bodyPr>
          <a:lstStyle/>
          <a:p>
            <a:pPr algn="ctr">
              <a:lnSpc>
                <a:spcPct val="112000"/>
              </a:lnSpc>
              <a:spcAft>
                <a:spcPts val="300"/>
              </a:spcAft>
            </a:pPr>
            <a:r>
              <a:rPr sz="2100" b="0">
                <a:solidFill>
                  <a:srgbClr val="2B221D"/>
                </a:solidFill>
                <a:latin typeface="Google Sans SemiBold"/>
              </a:rPr>
              <a:t>ToolSocket</a:t>
            </a:r>
          </a:p>
          <a:p>
            <a:pPr algn="ctr">
              <a:lnSpc>
                <a:spcPct val="112000"/>
              </a:lnSpc>
              <a:spcAft>
                <a:spcPts val="0"/>
              </a:spcAft>
            </a:pPr>
            <a:r>
              <a:rPr sz="1600" b="0">
                <a:solidFill>
                  <a:srgbClr val="4A3B31"/>
                </a:solidFill>
                <a:latin typeface="Google Sans"/>
              </a:rPr>
              <a:t>grinder fork, tamp mat, steam rest</a:t>
            </a:r>
          </a:p>
        </p:txBody>
      </p:sp>
      <p:sp>
        <p:nvSpPr>
          <p:cNvPr id="24" name="Rounded Rectangle 23"/>
          <p:cNvSpPr/>
          <p:nvPr/>
        </p:nvSpPr>
        <p:spPr>
          <a:xfrm>
            <a:off x="8855963" y="10218420"/>
            <a:ext cx="6035040" cy="1897380"/>
          </a:xfrm>
          <a:prstGeom prst="roundRect">
            <a:avLst>
              <a:gd name="adj" fmla="val 10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30284" y="10218420"/>
            <a:ext cx="5486400" cy="1897380"/>
          </a:xfrm>
          <a:prstGeom prst="rect">
            <a:avLst/>
          </a:prstGeom>
          <a:noFill/>
        </p:spPr>
        <p:txBody>
          <a:bodyPr wrap="square" lIns="0" tIns="0" rIns="0" bIns="0" anchor="ctr">
            <a:noAutofit/>
          </a:bodyPr>
          <a:lstStyle/>
          <a:p>
            <a:pPr algn="ctr">
              <a:lnSpc>
                <a:spcPct val="112000"/>
              </a:lnSpc>
              <a:spcAft>
                <a:spcPts val="300"/>
              </a:spcAft>
            </a:pPr>
            <a:r>
              <a:rPr sz="2100" b="0">
                <a:solidFill>
                  <a:srgbClr val="2B221D"/>
                </a:solidFill>
                <a:latin typeface="Google Sans SemiBold"/>
              </a:rPr>
              <a:t>Physics helpers</a:t>
            </a:r>
          </a:p>
          <a:p>
            <a:pPr algn="ctr">
              <a:lnSpc>
                <a:spcPct val="112000"/>
              </a:lnSpc>
              <a:spcAft>
                <a:spcPts val="0"/>
              </a:spcAft>
            </a:pPr>
            <a:r>
              <a:rPr sz="1600" b="0">
                <a:solidFill>
                  <a:srgbClr val="4A3B31"/>
                </a:solidFill>
                <a:latin typeface="Google Sans"/>
              </a:rPr>
              <a:t>ToolSettle, TamperGrabTransformer</a:t>
            </a:r>
          </a:p>
        </p:txBody>
      </p:sp>
      <p:cxnSp>
        <p:nvCxnSpPr>
          <p:cNvPr id="26" name="Connector 25"/>
          <p:cNvCxnSpPr/>
          <p:nvPr/>
        </p:nvCxnSpPr>
        <p:spPr>
          <a:xfrm>
            <a:off x="7863840" y="7132320"/>
            <a:ext cx="900684"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15974567" y="3566160"/>
            <a:ext cx="6766560" cy="1828800"/>
          </a:xfrm>
          <a:prstGeom prst="roundRect">
            <a:avLst>
              <a:gd name="adj" fmla="val 10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248888" y="3566160"/>
            <a:ext cx="6217920" cy="1828800"/>
          </a:xfrm>
          <a:prstGeom prst="rect">
            <a:avLst/>
          </a:prstGeom>
          <a:noFill/>
        </p:spPr>
        <p:txBody>
          <a:bodyPr wrap="square" lIns="0" tIns="0" rIns="0" bIns="0" anchor="ctr">
            <a:noAutofit/>
          </a:bodyPr>
          <a:lstStyle/>
          <a:p>
            <a:pPr algn="ctr">
              <a:lnSpc>
                <a:spcPct val="112000"/>
              </a:lnSpc>
              <a:spcAft>
                <a:spcPts val="300"/>
              </a:spcAft>
            </a:pPr>
            <a:r>
              <a:rPr sz="2100" b="0">
                <a:solidFill>
                  <a:srgbClr val="2B221D"/>
                </a:solidFill>
                <a:latin typeface="Google Sans SemiBold"/>
              </a:rPr>
              <a:t>Stations</a:t>
            </a:r>
          </a:p>
          <a:p>
            <a:pPr algn="ctr">
              <a:lnSpc>
                <a:spcPct val="112000"/>
              </a:lnSpc>
              <a:spcAft>
                <a:spcPts val="0"/>
              </a:spcAft>
            </a:pPr>
            <a:r>
              <a:rPr sz="1600" b="0">
                <a:solidFill>
                  <a:srgbClr val="4A3B31"/>
                </a:solidFill>
                <a:latin typeface="Google Sans"/>
              </a:rPr>
              <a:t>Grinder, TamperPress, GroupHead, SteamWand, MilkPour</a:t>
            </a:r>
          </a:p>
        </p:txBody>
      </p:sp>
      <p:sp>
        <p:nvSpPr>
          <p:cNvPr id="29" name="Rounded Rectangle 28"/>
          <p:cNvSpPr/>
          <p:nvPr/>
        </p:nvSpPr>
        <p:spPr>
          <a:xfrm>
            <a:off x="15974567" y="6050280"/>
            <a:ext cx="6766560" cy="1463040"/>
          </a:xfrm>
          <a:prstGeom prst="roundRect">
            <a:avLst>
              <a:gd name="adj" fmla="val 10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6248888" y="6050280"/>
            <a:ext cx="6217920" cy="1463040"/>
          </a:xfrm>
          <a:prstGeom prst="rect">
            <a:avLst/>
          </a:prstGeom>
          <a:noFill/>
        </p:spPr>
        <p:txBody>
          <a:bodyPr wrap="square" lIns="0" tIns="0" rIns="0" bIns="0" anchor="ctr">
            <a:noAutofit/>
          </a:bodyPr>
          <a:lstStyle/>
          <a:p>
            <a:pPr algn="ctr">
              <a:lnSpc>
                <a:spcPct val="112000"/>
              </a:lnSpc>
              <a:spcAft>
                <a:spcPts val="300"/>
              </a:spcAft>
            </a:pPr>
            <a:r>
              <a:rPr sz="2100" b="0">
                <a:solidFill>
                  <a:srgbClr val="D0955F"/>
                </a:solidFill>
                <a:latin typeface="Google Sans SemiBold"/>
              </a:rPr>
              <a:t>ShiftFlow</a:t>
            </a:r>
          </a:p>
          <a:p>
            <a:pPr algn="ctr">
              <a:lnSpc>
                <a:spcPct val="112000"/>
              </a:lnSpc>
              <a:spcAft>
                <a:spcPts val="0"/>
              </a:spcAft>
            </a:pPr>
            <a:r>
              <a:rPr sz="1600" b="0">
                <a:solidFill>
                  <a:srgbClr val="C9B29B"/>
                </a:solidFill>
                <a:latin typeface="Google Sans"/>
              </a:rPr>
              <a:t>step machine: Briefing → Result</a:t>
            </a:r>
          </a:p>
        </p:txBody>
      </p:sp>
      <p:sp>
        <p:nvSpPr>
          <p:cNvPr id="31" name="Rounded Rectangle 30"/>
          <p:cNvSpPr/>
          <p:nvPr/>
        </p:nvSpPr>
        <p:spPr>
          <a:xfrm>
            <a:off x="15974567" y="8168640"/>
            <a:ext cx="6766560" cy="1463040"/>
          </a:xfrm>
          <a:prstGeom prst="roundRect">
            <a:avLst>
              <a:gd name="adj" fmla="val 10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6248888" y="8168640"/>
            <a:ext cx="6217920" cy="1463040"/>
          </a:xfrm>
          <a:prstGeom prst="rect">
            <a:avLst/>
          </a:prstGeom>
          <a:noFill/>
        </p:spPr>
        <p:txBody>
          <a:bodyPr wrap="square" lIns="0" tIns="0" rIns="0" bIns="0" anchor="ctr">
            <a:noAutofit/>
          </a:bodyPr>
          <a:lstStyle/>
          <a:p>
            <a:pPr algn="ctr">
              <a:lnSpc>
                <a:spcPct val="112000"/>
              </a:lnSpc>
              <a:spcAft>
                <a:spcPts val="300"/>
              </a:spcAft>
            </a:pPr>
            <a:r>
              <a:rPr sz="2100" b="0">
                <a:solidFill>
                  <a:srgbClr val="3D261A"/>
                </a:solidFill>
                <a:latin typeface="Google Sans SemiBold"/>
              </a:rPr>
              <a:t>ExtractionModel</a:t>
            </a:r>
          </a:p>
          <a:p>
            <a:pPr algn="ctr">
              <a:lnSpc>
                <a:spcPct val="112000"/>
              </a:lnSpc>
              <a:spcAft>
                <a:spcPts val="0"/>
              </a:spcAft>
            </a:pPr>
            <a:r>
              <a:rPr sz="1600" b="0">
                <a:solidFill>
                  <a:srgbClr val="3D261A"/>
                </a:solidFill>
                <a:latin typeface="Google Sans"/>
              </a:rPr>
              <a:t>advanced feature</a:t>
            </a:r>
          </a:p>
        </p:txBody>
      </p:sp>
      <p:sp>
        <p:nvSpPr>
          <p:cNvPr id="33" name="Rounded Rectangle 32"/>
          <p:cNvSpPr/>
          <p:nvPr/>
        </p:nvSpPr>
        <p:spPr>
          <a:xfrm>
            <a:off x="15974567" y="10287000"/>
            <a:ext cx="6766560" cy="1828800"/>
          </a:xfrm>
          <a:prstGeom prst="roundRect">
            <a:avLst>
              <a:gd name="adj" fmla="val 10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6248888" y="10287000"/>
            <a:ext cx="6217920" cy="1828800"/>
          </a:xfrm>
          <a:prstGeom prst="rect">
            <a:avLst/>
          </a:prstGeom>
          <a:noFill/>
        </p:spPr>
        <p:txBody>
          <a:bodyPr wrap="square" lIns="0" tIns="0" rIns="0" bIns="0" anchor="ctr">
            <a:noAutofit/>
          </a:bodyPr>
          <a:lstStyle/>
          <a:p>
            <a:pPr algn="ctr">
              <a:lnSpc>
                <a:spcPct val="112000"/>
              </a:lnSpc>
              <a:spcAft>
                <a:spcPts val="300"/>
              </a:spcAft>
            </a:pPr>
            <a:r>
              <a:rPr sz="2100" b="0">
                <a:solidFill>
                  <a:srgbClr val="2B221D"/>
                </a:solidFill>
                <a:latin typeface="Google Sans SemiBold"/>
              </a:rPr>
              <a:t>World-space outputs</a:t>
            </a:r>
          </a:p>
          <a:p>
            <a:pPr algn="ctr">
              <a:lnSpc>
                <a:spcPct val="112000"/>
              </a:lnSpc>
              <a:spcAft>
                <a:spcPts val="0"/>
              </a:spcAft>
            </a:pPr>
            <a:r>
              <a:rPr sz="1600" b="0">
                <a:solidFill>
                  <a:srgbClr val="4A3B31"/>
                </a:solidFill>
                <a:latin typeface="Google Sans"/>
              </a:rPr>
              <a:t>OrderTicket, HintMarker, MachineGauge, ResultDial, AudioKit</a:t>
            </a:r>
          </a:p>
        </p:txBody>
      </p:sp>
      <p:cxnSp>
        <p:nvCxnSpPr>
          <p:cNvPr id="35" name="Connector 34"/>
          <p:cNvCxnSpPr/>
          <p:nvPr/>
        </p:nvCxnSpPr>
        <p:spPr>
          <a:xfrm>
            <a:off x="14982443" y="4480560"/>
            <a:ext cx="900684" cy="0"/>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9357848" y="5468112"/>
            <a:ext cx="0" cy="509016"/>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9357848" y="7586472"/>
            <a:ext cx="0" cy="509016"/>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9357848" y="9704832"/>
            <a:ext cx="0" cy="509016"/>
          </a:xfrm>
          <a:prstGeom prst="line">
            <a:avLst/>
          </a:prstGeom>
          <a:ln w="31750">
            <a:solidFill>
              <a:srgbClr val="3D261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19586448" y="5468112"/>
            <a:ext cx="3108960" cy="509015"/>
          </a:xfrm>
          <a:prstGeom prst="rect">
            <a:avLst/>
          </a:prstGeom>
          <a:noFill/>
        </p:spPr>
        <p:txBody>
          <a:bodyPr wrap="square" lIns="0" tIns="0" rIns="0" bIns="0" anchor="ctr">
            <a:noAutofit/>
          </a:bodyPr>
          <a:lstStyle/>
          <a:p>
            <a:pPr algn="l">
              <a:lnSpc>
                <a:spcPct val="118000"/>
              </a:lnSpc>
              <a:spcAft>
                <a:spcPts val="0"/>
              </a:spcAft>
            </a:pPr>
            <a:r>
              <a:rPr sz="1500" b="0">
                <a:solidFill>
                  <a:srgbClr val="8A7260"/>
                </a:solidFill>
                <a:latin typeface="Google Sans"/>
              </a:rPr>
              <a:t>Complete(step)</a:t>
            </a:r>
          </a:p>
        </p:txBody>
      </p:sp>
      <p:sp>
        <p:nvSpPr>
          <p:cNvPr id="40" name="TextBox 39"/>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41" name="TextBox 40"/>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10 · ADVANCED FEATURE</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Live extraction model</a:t>
            </a:r>
          </a:p>
        </p:txBody>
      </p:sp>
      <p:sp>
        <p:nvSpPr>
          <p:cNvPr id="5" name="Rounded Rectangle 4"/>
          <p:cNvSpPr/>
          <p:nvPr/>
        </p:nvSpPr>
        <p:spPr>
          <a:xfrm>
            <a:off x="1645920" y="3566160"/>
            <a:ext cx="14100047" cy="320040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40" y="4069080"/>
            <a:ext cx="13094207" cy="2194560"/>
          </a:xfrm>
          <a:prstGeom prst="rect">
            <a:avLst/>
          </a:prstGeom>
          <a:noFill/>
        </p:spPr>
        <p:txBody>
          <a:bodyPr wrap="square" lIns="0" tIns="0" rIns="0" bIns="0" anchor="t">
            <a:noAutofit/>
          </a:bodyPr>
          <a:lstStyle/>
          <a:p>
            <a:pPr algn="l">
              <a:lnSpc>
                <a:spcPct val="115000"/>
              </a:lnSpc>
              <a:spcAft>
                <a:spcPts val="600"/>
              </a:spcAft>
            </a:pPr>
            <a:r>
              <a:rPr sz="1500" b="0" spc="200">
                <a:solidFill>
                  <a:srgbClr val="D0955F"/>
                </a:solidFill>
                <a:latin typeface="Google Sans SemiBold"/>
              </a:rPr>
              <a:t>SHOT TIME</a:t>
            </a:r>
          </a:p>
          <a:p>
            <a:pPr algn="l">
              <a:lnSpc>
                <a:spcPct val="115000"/>
              </a:lnSpc>
              <a:spcAft>
                <a:spcPts val="400"/>
              </a:spcAft>
            </a:pPr>
            <a:r>
              <a:rPr sz="2300" b="0">
                <a:solidFill>
                  <a:srgbClr val="E9D7C2"/>
                </a:solidFill>
                <a:latin typeface="Google Sans SemiBold"/>
              </a:rPr>
              <a:t>t = 27.5 s · e^(−0.22 (grind − 5)) · (1 + 0.015 (tamp − 15)) · (dose ⁄ 18)^1.6</a:t>
            </a:r>
          </a:p>
          <a:p>
            <a:pPr algn="l">
              <a:lnSpc>
                <a:spcPct val="115000"/>
              </a:lnSpc>
              <a:spcAft>
                <a:spcPts val="1800"/>
              </a:spcAft>
            </a:pPr>
            <a:r>
              <a:rPr sz="1900" b="0">
                <a:solidFill>
                  <a:srgbClr val="C9B29B"/>
                </a:solidFill>
                <a:latin typeface="Google Sans"/>
              </a:rPr>
              <a:t>× 0.8 if tamp &lt; 5 kg   ·   × 0.75 if tilt &gt; 5° (channeling)</a:t>
            </a:r>
          </a:p>
          <a:p>
            <a:pPr algn="l">
              <a:lnSpc>
                <a:spcPct val="115000"/>
              </a:lnSpc>
              <a:spcAft>
                <a:spcPts val="600"/>
              </a:spcAft>
            </a:pPr>
            <a:r>
              <a:rPr sz="1500" b="0" spc="200">
                <a:solidFill>
                  <a:srgbClr val="D0955F"/>
                </a:solidFill>
                <a:latin typeface="Google Sans SemiBold"/>
              </a:rPr>
              <a:t>PRESSURE</a:t>
            </a:r>
          </a:p>
          <a:p>
            <a:pPr algn="l">
              <a:lnSpc>
                <a:spcPct val="115000"/>
              </a:lnSpc>
              <a:spcAft>
                <a:spcPts val="0"/>
              </a:spcAft>
            </a:pPr>
            <a:r>
              <a:rPr sz="2300" b="0">
                <a:solidFill>
                  <a:srgbClr val="E9D7C2"/>
                </a:solidFill>
                <a:latin typeface="Google Sans SemiBold"/>
              </a:rPr>
              <a:t>p = 9 bar · √(t ⁄ 27.5), clamped to 2.5–11 bar</a:t>
            </a:r>
          </a:p>
        </p:txBody>
      </p:sp>
      <p:sp>
        <p:nvSpPr>
          <p:cNvPr id="7" name="Rounded Rectangle 6"/>
          <p:cNvSpPr/>
          <p:nvPr/>
        </p:nvSpPr>
        <p:spPr>
          <a:xfrm>
            <a:off x="1645920" y="7132320"/>
            <a:ext cx="3319271" cy="1188720"/>
          </a:xfrm>
          <a:prstGeom prst="roundRect">
            <a:avLst>
              <a:gd name="adj" fmla="val 25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645920" y="7132320"/>
            <a:ext cx="3319271" cy="1188720"/>
          </a:xfrm>
          <a:prstGeom prst="rect">
            <a:avLst/>
          </a:prstGeom>
          <a:noFill/>
        </p:spPr>
        <p:txBody>
          <a:bodyPr wrap="square" lIns="0" tIns="0" rIns="0" bIns="0" anchor="ctr">
            <a:noAutofit/>
          </a:bodyPr>
          <a:lstStyle/>
          <a:p>
            <a:pPr algn="ctr">
              <a:lnSpc>
                <a:spcPct val="110000"/>
              </a:lnSpc>
              <a:spcAft>
                <a:spcPts val="0"/>
              </a:spcAft>
            </a:pPr>
            <a:r>
              <a:rPr sz="2200" b="0">
                <a:solidFill>
                  <a:srgbClr val="E9D7C2"/>
                </a:solidFill>
                <a:latin typeface="Google Sans SemiBold"/>
              </a:rPr>
              <a:t>Sour</a:t>
            </a:r>
          </a:p>
          <a:p>
            <a:pPr algn="ctr">
              <a:lnSpc>
                <a:spcPct val="110000"/>
              </a:lnSpc>
              <a:spcAft>
                <a:spcPts val="0"/>
              </a:spcAft>
            </a:pPr>
            <a:r>
              <a:rPr sz="1700" b="0">
                <a:solidFill>
                  <a:srgbClr val="C9B29B"/>
                </a:solidFill>
                <a:latin typeface="Google Sans"/>
              </a:rPr>
              <a:t>&lt; 25 s</a:t>
            </a:r>
          </a:p>
        </p:txBody>
      </p:sp>
      <p:sp>
        <p:nvSpPr>
          <p:cNvPr id="9" name="Rounded Rectangle 8"/>
          <p:cNvSpPr/>
          <p:nvPr/>
        </p:nvSpPr>
        <p:spPr>
          <a:xfrm>
            <a:off x="5239512" y="7132320"/>
            <a:ext cx="3319271" cy="1188720"/>
          </a:xfrm>
          <a:prstGeom prst="roundRect">
            <a:avLst>
              <a:gd name="adj" fmla="val 25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239512" y="7132320"/>
            <a:ext cx="3319271" cy="1188720"/>
          </a:xfrm>
          <a:prstGeom prst="rect">
            <a:avLst/>
          </a:prstGeom>
          <a:noFill/>
        </p:spPr>
        <p:txBody>
          <a:bodyPr wrap="square" lIns="0" tIns="0" rIns="0" bIns="0" anchor="ctr">
            <a:noAutofit/>
          </a:bodyPr>
          <a:lstStyle/>
          <a:p>
            <a:pPr algn="ctr">
              <a:lnSpc>
                <a:spcPct val="110000"/>
              </a:lnSpc>
              <a:spcAft>
                <a:spcPts val="0"/>
              </a:spcAft>
            </a:pPr>
            <a:r>
              <a:rPr sz="2200" b="0">
                <a:solidFill>
                  <a:srgbClr val="3D261A"/>
                </a:solidFill>
                <a:latin typeface="Google Sans SemiBold"/>
              </a:rPr>
              <a:t>Balanced</a:t>
            </a:r>
          </a:p>
          <a:p>
            <a:pPr algn="ctr">
              <a:lnSpc>
                <a:spcPct val="110000"/>
              </a:lnSpc>
              <a:spcAft>
                <a:spcPts val="0"/>
              </a:spcAft>
            </a:pPr>
            <a:r>
              <a:rPr sz="1700" b="0">
                <a:solidFill>
                  <a:srgbClr val="3D261A"/>
                </a:solidFill>
                <a:latin typeface="Google Sans"/>
              </a:rPr>
              <a:t>25–30 s</a:t>
            </a:r>
          </a:p>
        </p:txBody>
      </p:sp>
      <p:sp>
        <p:nvSpPr>
          <p:cNvPr id="11" name="Rounded Rectangle 10"/>
          <p:cNvSpPr/>
          <p:nvPr/>
        </p:nvSpPr>
        <p:spPr>
          <a:xfrm>
            <a:off x="8833103" y="7132320"/>
            <a:ext cx="3319271" cy="1188720"/>
          </a:xfrm>
          <a:prstGeom prst="roundRect">
            <a:avLst>
              <a:gd name="adj" fmla="val 25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833103" y="7132320"/>
            <a:ext cx="3319271" cy="1188720"/>
          </a:xfrm>
          <a:prstGeom prst="rect">
            <a:avLst/>
          </a:prstGeom>
          <a:noFill/>
        </p:spPr>
        <p:txBody>
          <a:bodyPr wrap="square" lIns="0" tIns="0" rIns="0" bIns="0" anchor="ctr">
            <a:noAutofit/>
          </a:bodyPr>
          <a:lstStyle/>
          <a:p>
            <a:pPr algn="ctr">
              <a:lnSpc>
                <a:spcPct val="110000"/>
              </a:lnSpc>
              <a:spcAft>
                <a:spcPts val="0"/>
              </a:spcAft>
            </a:pPr>
            <a:r>
              <a:rPr sz="2200" b="0">
                <a:solidFill>
                  <a:srgbClr val="E9D7C2"/>
                </a:solidFill>
                <a:latin typeface="Google Sans SemiBold"/>
              </a:rPr>
              <a:t>Bitter</a:t>
            </a:r>
          </a:p>
          <a:p>
            <a:pPr algn="ctr">
              <a:lnSpc>
                <a:spcPct val="110000"/>
              </a:lnSpc>
              <a:spcAft>
                <a:spcPts val="0"/>
              </a:spcAft>
            </a:pPr>
            <a:r>
              <a:rPr sz="1700" b="0">
                <a:solidFill>
                  <a:srgbClr val="C9B29B"/>
                </a:solidFill>
                <a:latin typeface="Google Sans"/>
              </a:rPr>
              <a:t>&gt; 30 s</a:t>
            </a:r>
          </a:p>
        </p:txBody>
      </p:sp>
      <p:sp>
        <p:nvSpPr>
          <p:cNvPr id="13" name="Rounded Rectangle 12"/>
          <p:cNvSpPr/>
          <p:nvPr/>
        </p:nvSpPr>
        <p:spPr>
          <a:xfrm>
            <a:off x="12426695" y="7132320"/>
            <a:ext cx="3319271" cy="1188720"/>
          </a:xfrm>
          <a:prstGeom prst="roundRect">
            <a:avLst>
              <a:gd name="adj" fmla="val 25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426695" y="7132320"/>
            <a:ext cx="3319271" cy="1188720"/>
          </a:xfrm>
          <a:prstGeom prst="rect">
            <a:avLst/>
          </a:prstGeom>
          <a:noFill/>
        </p:spPr>
        <p:txBody>
          <a:bodyPr wrap="square" lIns="0" tIns="0" rIns="0" bIns="0" anchor="ctr">
            <a:noAutofit/>
          </a:bodyPr>
          <a:lstStyle/>
          <a:p>
            <a:pPr algn="ctr">
              <a:lnSpc>
                <a:spcPct val="110000"/>
              </a:lnSpc>
              <a:spcAft>
                <a:spcPts val="0"/>
              </a:spcAft>
            </a:pPr>
            <a:r>
              <a:rPr sz="2200" b="0">
                <a:solidFill>
                  <a:srgbClr val="E9D7C2"/>
                </a:solidFill>
                <a:latin typeface="Google Sans SemiBold"/>
              </a:rPr>
              <a:t>Channeled</a:t>
            </a:r>
          </a:p>
          <a:p>
            <a:pPr algn="ctr">
              <a:lnSpc>
                <a:spcPct val="110000"/>
              </a:lnSpc>
              <a:spcAft>
                <a:spcPts val="0"/>
              </a:spcAft>
            </a:pPr>
            <a:r>
              <a:rPr sz="1700" b="0">
                <a:solidFill>
                  <a:srgbClr val="C9B29B"/>
                </a:solidFill>
                <a:latin typeface="Google Sans"/>
              </a:rPr>
              <a:t>tilt &gt; 5°</a:t>
            </a:r>
          </a:p>
        </p:txBody>
      </p:sp>
      <p:sp>
        <p:nvSpPr>
          <p:cNvPr id="15" name="TextBox 14"/>
          <p:cNvSpPr txBox="1"/>
          <p:nvPr/>
        </p:nvSpPr>
        <p:spPr>
          <a:xfrm>
            <a:off x="1645920" y="8778240"/>
            <a:ext cx="14100047" cy="3337559"/>
          </a:xfrm>
          <a:prstGeom prst="rect">
            <a:avLst/>
          </a:prstGeom>
          <a:noFill/>
        </p:spPr>
        <p:txBody>
          <a:bodyPr wrap="square" lIns="0" tIns="0" rIns="0" bIns="0" anchor="t">
            <a:noAutofit/>
          </a:bodyPr>
          <a:lstStyle/>
          <a:p>
            <a:pPr marL="265430" indent="-265430" algn="l">
              <a:lnSpc>
                <a:spcPct val="118000"/>
              </a:lnSpc>
              <a:spcAft>
                <a:spcPts val="800"/>
              </a:spcAft>
              <a:buClr>
                <a:srgbClr val="D0955F"/>
              </a:buClr>
              <a:buFont typeface="Arial"/>
              <a:buChar char="•"/>
            </a:pPr>
            <a:r>
              <a:rPr sz="2200" b="0">
                <a:solidFill>
                  <a:srgbClr val="E9D7C2"/>
                </a:solidFill>
                <a:latin typeface="Google Sans"/>
              </a:rPr>
              <a:t>Turns what the hands did into a shot the trainee can read.</a:t>
            </a:r>
          </a:p>
          <a:p>
            <a:pPr marL="265430" indent="-265430" algn="l">
              <a:lnSpc>
                <a:spcPct val="118000"/>
              </a:lnSpc>
              <a:spcAft>
                <a:spcPts val="800"/>
              </a:spcAft>
              <a:buClr>
                <a:srgbClr val="D0955F"/>
              </a:buClr>
              <a:buFont typeface="Arial"/>
              <a:buChar char="•"/>
            </a:pPr>
            <a:r>
              <a:rPr sz="2200" b="0">
                <a:solidFill>
                  <a:srgbClr val="E9D7C2"/>
                </a:solidFill>
                <a:latin typeface="Google Sans"/>
              </a:rPr>
              <a:t>Drives the live gauge, timer and yield, then the verdict dial.</a:t>
            </a:r>
          </a:p>
          <a:p>
            <a:pPr marL="265430" indent="-265430" algn="l">
              <a:lnSpc>
                <a:spcPct val="118000"/>
              </a:lnSpc>
              <a:spcAft>
                <a:spcPts val="800"/>
              </a:spcAft>
              <a:buClr>
                <a:srgbClr val="D0955F"/>
              </a:buClr>
              <a:buFont typeface="Arial"/>
              <a:buChar char="•"/>
            </a:pPr>
            <a:r>
              <a:rPr sz="2200" b="0">
                <a:solidFill>
                  <a:srgbClr val="E9D7C2"/>
                </a:solidFill>
                <a:latin typeface="Google Sans"/>
              </a:rPr>
              <a:t>Deterministic, so fully testable in the XR Device Simulator.</a:t>
            </a:r>
          </a:p>
          <a:p>
            <a:pPr marL="265430" indent="-265430" algn="l">
              <a:lnSpc>
                <a:spcPct val="118000"/>
              </a:lnSpc>
              <a:spcAft>
                <a:spcPts val="800"/>
              </a:spcAft>
              <a:buClr>
                <a:srgbClr val="D0955F"/>
              </a:buClr>
              <a:buFont typeface="Arial"/>
              <a:buChar char="•"/>
            </a:pPr>
            <a:r>
              <a:rPr sz="2200" b="0">
                <a:solidFill>
                  <a:srgbClr val="E9D7C2"/>
                </a:solidFill>
                <a:latin typeface="Google Sans"/>
              </a:rPr>
              <a:t>A teaching model with the right direction of effect, not fluid physics.</a:t>
            </a:r>
          </a:p>
        </p:txBody>
      </p:sp>
      <p:pic>
        <p:nvPicPr>
          <p:cNvPr id="16" name="Picture 15" descr="crop_result_report.png_6.75x8.80.png"/>
          <p:cNvPicPr>
            <a:picLocks noChangeAspect="1"/>
          </p:cNvPicPr>
          <p:nvPr/>
        </p:nvPicPr>
        <p:blipFill>
          <a:blip r:embed="rId5"/>
          <a:stretch>
            <a:fillRect/>
          </a:stretch>
        </p:blipFill>
        <p:spPr>
          <a:xfrm>
            <a:off x="16568928" y="3566160"/>
            <a:ext cx="6172200" cy="8046719"/>
          </a:xfrm>
          <a:prstGeom prst="roundRect">
            <a:avLst>
              <a:gd name="adj" fmla="val 4562"/>
            </a:avLst>
          </a:prstGeom>
        </p:spPr>
      </p:pic>
      <p:sp>
        <p:nvSpPr>
          <p:cNvPr id="17" name="TextBox 16"/>
          <p:cNvSpPr txBox="1"/>
          <p:nvPr/>
        </p:nvSpPr>
        <p:spPr>
          <a:xfrm>
            <a:off x="16568928" y="11750040"/>
            <a:ext cx="6172200" cy="411480"/>
          </a:xfrm>
          <a:prstGeom prst="rect">
            <a:avLst/>
          </a:prstGeom>
          <a:noFill/>
        </p:spPr>
        <p:txBody>
          <a:bodyPr wrap="square" lIns="0" tIns="0" rIns="0" bIns="0" anchor="t">
            <a:noAutofit/>
          </a:bodyPr>
          <a:lstStyle/>
          <a:p>
            <a:pPr algn="ctr">
              <a:lnSpc>
                <a:spcPct val="118000"/>
              </a:lnSpc>
              <a:spcAft>
                <a:spcPts val="0"/>
              </a:spcAft>
            </a:pPr>
            <a:r>
              <a:rPr sz="1600" b="0">
                <a:solidFill>
                  <a:srgbClr val="C9B29B"/>
                </a:solidFill>
                <a:latin typeface="Google Sans"/>
              </a:rPr>
              <a:t>Shot 1, recorded run: 19.1 s at grind 6.5, so Sour</a:t>
            </a:r>
          </a:p>
        </p:txBody>
      </p:sp>
      <p:sp>
        <p:nvSpPr>
          <p:cNvPr id="18" name="TextBox 17"/>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19" name="TextBox 18"/>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10 · HANDLING &amp; PHYSICS</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Weight without chaos</a:t>
            </a:r>
          </a:p>
        </p:txBody>
      </p:sp>
      <p:sp>
        <p:nvSpPr>
          <p:cNvPr id="5" name="Rounded Rectangle 4"/>
          <p:cNvSpPr/>
          <p:nvPr/>
        </p:nvSpPr>
        <p:spPr>
          <a:xfrm>
            <a:off x="1645920" y="3566160"/>
            <a:ext cx="6665976" cy="569087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40" y="406908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01</a:t>
            </a:r>
          </a:p>
        </p:txBody>
      </p:sp>
      <p:sp>
        <p:nvSpPr>
          <p:cNvPr id="7" name="TextBox 6"/>
          <p:cNvSpPr txBox="1"/>
          <p:nvPr/>
        </p:nvSpPr>
        <p:spPr>
          <a:xfrm>
            <a:off x="2148840" y="452628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Plausible weight</a:t>
            </a:r>
          </a:p>
        </p:txBody>
      </p:sp>
      <p:sp>
        <p:nvSpPr>
          <p:cNvPr id="8" name="TextBox 7"/>
          <p:cNvSpPr txBox="1"/>
          <p:nvPr/>
        </p:nvSpPr>
        <p:spPr>
          <a:xfrm>
            <a:off x="2148840" y="5246370"/>
            <a:ext cx="5660136" cy="3507739"/>
          </a:xfrm>
          <a:prstGeom prst="rect">
            <a:avLst/>
          </a:prstGeom>
          <a:noFill/>
        </p:spPr>
        <p:txBody>
          <a:bodyPr wrap="square" lIns="0" tIns="0" rIns="0" bIns="0" anchor="t">
            <a:noAutofit/>
          </a:bodyPr>
          <a:lstStyle/>
          <a:p>
            <a:pPr marL="301625" indent="-301625" algn="l">
              <a:lnSpc>
                <a:spcPct val="118000"/>
              </a:lnSpc>
              <a:spcAft>
                <a:spcPts val="1000"/>
              </a:spcAft>
              <a:buClr>
                <a:srgbClr val="D0955F"/>
              </a:buClr>
              <a:buFont typeface="Arial"/>
              <a:buChar char="•"/>
            </a:pPr>
            <a:r>
              <a:rPr sz="2500" b="0">
                <a:solidFill>
                  <a:srgbClr val="4A3B31"/>
                </a:solidFill>
                <a:latin typeface="Google Sans"/>
              </a:rPr>
              <a:t>Velocity-tracked grabs: heavier tools lag the hand</a:t>
            </a:r>
          </a:p>
          <a:p>
            <a:pPr marL="301625" indent="-301625" algn="l">
              <a:lnSpc>
                <a:spcPct val="118000"/>
              </a:lnSpc>
              <a:spcAft>
                <a:spcPts val="1000"/>
              </a:spcAft>
              <a:buClr>
                <a:srgbClr val="D0955F"/>
              </a:buClr>
              <a:buFont typeface="Arial"/>
              <a:buChar char="•"/>
            </a:pPr>
            <a:r>
              <a:rPr sz="2500" b="0">
                <a:solidFill>
                  <a:srgbClr val="4A3B31"/>
                </a:solidFill>
                <a:latin typeface="Google Sans"/>
              </a:rPr>
              <a:t>Velocity changes capped, smoothing on</a:t>
            </a:r>
          </a:p>
          <a:p>
            <a:pPr marL="301625" indent="-301625" algn="l">
              <a:lnSpc>
                <a:spcPct val="118000"/>
              </a:lnSpc>
              <a:spcAft>
                <a:spcPts val="1000"/>
              </a:spcAft>
              <a:buClr>
                <a:srgbClr val="D0955F"/>
              </a:buClr>
              <a:buFont typeface="Arial"/>
              <a:buChar char="•"/>
            </a:pPr>
            <a:r>
              <a:rPr sz="2500" b="0">
                <a:solidFill>
                  <a:srgbClr val="4A3B31"/>
                </a:solidFill>
                <a:latin typeface="Google Sans"/>
              </a:rPr>
              <a:t>Physics at 90 Hz, solver iterations 12 / 4</a:t>
            </a:r>
          </a:p>
        </p:txBody>
      </p:sp>
      <p:sp>
        <p:nvSpPr>
          <p:cNvPr id="9" name="Rounded Rectangle 8"/>
          <p:cNvSpPr/>
          <p:nvPr/>
        </p:nvSpPr>
        <p:spPr>
          <a:xfrm>
            <a:off x="8860536" y="3566160"/>
            <a:ext cx="6665976" cy="569087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363456" y="406908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02</a:t>
            </a:r>
          </a:p>
        </p:txBody>
      </p:sp>
      <p:sp>
        <p:nvSpPr>
          <p:cNvPr id="11" name="TextBox 10"/>
          <p:cNvSpPr txBox="1"/>
          <p:nvPr/>
        </p:nvSpPr>
        <p:spPr>
          <a:xfrm>
            <a:off x="9363456" y="452628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Nothing clips through</a:t>
            </a:r>
          </a:p>
        </p:txBody>
      </p:sp>
      <p:sp>
        <p:nvSpPr>
          <p:cNvPr id="12" name="TextBox 11"/>
          <p:cNvSpPr txBox="1"/>
          <p:nvPr/>
        </p:nvSpPr>
        <p:spPr>
          <a:xfrm>
            <a:off x="9363456" y="5246370"/>
            <a:ext cx="5660136" cy="3507739"/>
          </a:xfrm>
          <a:prstGeom prst="rect">
            <a:avLst/>
          </a:prstGeom>
          <a:noFill/>
        </p:spPr>
        <p:txBody>
          <a:bodyPr wrap="square" lIns="0" tIns="0" rIns="0" bIns="0" anchor="t">
            <a:noAutofit/>
          </a:bodyPr>
          <a:lstStyle/>
          <a:p>
            <a:pPr marL="301625" indent="-301625" algn="l">
              <a:lnSpc>
                <a:spcPct val="118000"/>
              </a:lnSpc>
              <a:spcAft>
                <a:spcPts val="1000"/>
              </a:spcAft>
              <a:buClr>
                <a:srgbClr val="D0955F"/>
              </a:buClr>
              <a:buFont typeface="Arial"/>
              <a:buChar char="•"/>
            </a:pPr>
            <a:r>
              <a:rPr sz="2500" b="0">
                <a:solidFill>
                  <a:srgbClr val="4A3B31"/>
                </a:solidFill>
                <a:latin typeface="Google Sans"/>
              </a:rPr>
              <a:t>Grabbed tools stay physical, so the counter and machine block them</a:t>
            </a:r>
          </a:p>
          <a:p>
            <a:pPr marL="301625" indent="-301625" algn="l">
              <a:lnSpc>
                <a:spcPct val="118000"/>
              </a:lnSpc>
              <a:spcAft>
                <a:spcPts val="1000"/>
              </a:spcAft>
              <a:buClr>
                <a:srgbClr val="D0955F"/>
              </a:buClr>
              <a:buFont typeface="Arial"/>
              <a:buChar char="•"/>
            </a:pPr>
            <a:r>
              <a:rPr sz="2500" b="0">
                <a:solidFill>
                  <a:srgbClr val="4A3B31"/>
                </a:solidFill>
                <a:latin typeface="Google Sans"/>
              </a:rPr>
              <a:t>Push-out capped at 0.25 m/s, so contact never flings a tool</a:t>
            </a:r>
          </a:p>
          <a:p>
            <a:pPr marL="301625" indent="-301625" algn="l">
              <a:lnSpc>
                <a:spcPct val="118000"/>
              </a:lnSpc>
              <a:spcAft>
                <a:spcPts val="1000"/>
              </a:spcAft>
              <a:buClr>
                <a:srgbClr val="D0955F"/>
              </a:buClr>
              <a:buFont typeface="Arial"/>
              <a:buChar char="•"/>
            </a:pPr>
            <a:r>
              <a:rPr sz="2500" b="0">
                <a:solidFill>
                  <a:srgbClr val="4A3B31"/>
                </a:solidFill>
                <a:latin typeface="Google Sans"/>
              </a:rPr>
              <a:t>Collisions ignored only where parts must nest</a:t>
            </a:r>
          </a:p>
        </p:txBody>
      </p:sp>
      <p:sp>
        <p:nvSpPr>
          <p:cNvPr id="13" name="Rounded Rectangle 12"/>
          <p:cNvSpPr/>
          <p:nvPr/>
        </p:nvSpPr>
        <p:spPr>
          <a:xfrm>
            <a:off x="16075151" y="3566160"/>
            <a:ext cx="6665976" cy="5690870"/>
          </a:xfrm>
          <a:prstGeom prst="roundRect">
            <a:avLst>
              <a:gd name="adj" fmla="val 6000"/>
            </a:avLst>
          </a:prstGeom>
          <a:solidFill>
            <a:srgbClr val="F6E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578072" y="4069080"/>
            <a:ext cx="5660136" cy="365760"/>
          </a:xfrm>
          <a:prstGeom prst="rect">
            <a:avLst/>
          </a:prstGeom>
          <a:noFill/>
        </p:spPr>
        <p:txBody>
          <a:bodyPr wrap="square" lIns="0" tIns="0" rIns="0" bIns="0" anchor="t">
            <a:noAutofit/>
          </a:bodyPr>
          <a:lstStyle/>
          <a:p>
            <a:pPr algn="l">
              <a:lnSpc>
                <a:spcPct val="118000"/>
              </a:lnSpc>
              <a:spcAft>
                <a:spcPts val="0"/>
              </a:spcAft>
            </a:pPr>
            <a:r>
              <a:rPr sz="1600" b="0" spc="200">
                <a:solidFill>
                  <a:srgbClr val="9A5F33"/>
                </a:solidFill>
                <a:latin typeface="Google Sans SemiBold"/>
              </a:rPr>
              <a:t>03</a:t>
            </a:r>
          </a:p>
        </p:txBody>
      </p:sp>
      <p:sp>
        <p:nvSpPr>
          <p:cNvPr id="15" name="TextBox 14"/>
          <p:cNvSpPr txBox="1"/>
          <p:nvPr/>
        </p:nvSpPr>
        <p:spPr>
          <a:xfrm>
            <a:off x="16578072" y="4526280"/>
            <a:ext cx="5660136" cy="548640"/>
          </a:xfrm>
          <a:prstGeom prst="rect">
            <a:avLst/>
          </a:prstGeom>
          <a:noFill/>
        </p:spPr>
        <p:txBody>
          <a:bodyPr wrap="square" lIns="0" tIns="0" rIns="0" bIns="0" anchor="t">
            <a:noAutofit/>
          </a:bodyPr>
          <a:lstStyle/>
          <a:p>
            <a:pPr algn="l">
              <a:lnSpc>
                <a:spcPct val="100000"/>
              </a:lnSpc>
              <a:spcAft>
                <a:spcPts val="0"/>
              </a:spcAft>
            </a:pPr>
            <a:r>
              <a:rPr sz="3000" b="0">
                <a:solidFill>
                  <a:srgbClr val="2B221D"/>
                </a:solidFill>
                <a:latin typeface="Google Sans SemiBold"/>
              </a:rPr>
              <a:t>Settling &amp; the tamper</a:t>
            </a:r>
          </a:p>
        </p:txBody>
      </p:sp>
      <p:sp>
        <p:nvSpPr>
          <p:cNvPr id="16" name="TextBox 15"/>
          <p:cNvSpPr txBox="1"/>
          <p:nvPr/>
        </p:nvSpPr>
        <p:spPr>
          <a:xfrm>
            <a:off x="16578072" y="5246370"/>
            <a:ext cx="5660136" cy="3507739"/>
          </a:xfrm>
          <a:prstGeom prst="rect">
            <a:avLst/>
          </a:prstGeom>
          <a:noFill/>
        </p:spPr>
        <p:txBody>
          <a:bodyPr wrap="square" lIns="0" tIns="0" rIns="0" bIns="0" anchor="t">
            <a:noAutofit/>
          </a:bodyPr>
          <a:lstStyle/>
          <a:p>
            <a:pPr marL="301625" indent="-301625" algn="l">
              <a:lnSpc>
                <a:spcPct val="118000"/>
              </a:lnSpc>
              <a:spcAft>
                <a:spcPts val="1000"/>
              </a:spcAft>
              <a:buClr>
                <a:srgbClr val="D0955F"/>
              </a:buClr>
              <a:buFont typeface="Arial"/>
              <a:buChar char="•"/>
            </a:pPr>
            <a:r>
              <a:rPr sz="2500" b="0">
                <a:solidFill>
                  <a:srgbClr val="4A3B31"/>
                </a:solidFill>
                <a:latin typeface="Google Sans"/>
              </a:rPr>
              <a:t>Released tools rest upright, or return home</a:t>
            </a:r>
          </a:p>
          <a:p>
            <a:pPr marL="301625" indent="-301625" algn="l">
              <a:lnSpc>
                <a:spcPct val="118000"/>
              </a:lnSpc>
              <a:spcAft>
                <a:spcPts val="1000"/>
              </a:spcAft>
              <a:buClr>
                <a:srgbClr val="D0955F"/>
              </a:buClr>
              <a:buFont typeface="Arial"/>
              <a:buChar char="•"/>
            </a:pPr>
            <a:r>
              <a:rPr sz="2500" b="0">
                <a:solidFill>
                  <a:srgbClr val="4A3B31"/>
                </a:solidFill>
                <a:latin typeface="Google Sans"/>
              </a:rPr>
              <a:t>Tamper held vertical: 30% wrist follow, max 12°</a:t>
            </a:r>
          </a:p>
          <a:p>
            <a:pPr marL="301625" indent="-301625" algn="l">
              <a:lnSpc>
                <a:spcPct val="118000"/>
              </a:lnSpc>
              <a:spcAft>
                <a:spcPts val="1000"/>
              </a:spcAft>
              <a:buClr>
                <a:srgbClr val="D0955F"/>
              </a:buClr>
              <a:buFont typeface="Arial"/>
              <a:buChar char="•"/>
            </a:pPr>
            <a:r>
              <a:rPr sz="2500" b="0">
                <a:solidFill>
                  <a:srgbClr val="4A3B31"/>
                </a:solidFill>
                <a:latin typeface="Google Sans"/>
              </a:rPr>
              <a:t>Tamp resistance is visual, a force readout and haptics</a:t>
            </a:r>
          </a:p>
        </p:txBody>
      </p:sp>
      <p:sp>
        <p:nvSpPr>
          <p:cNvPr id="17" name="Rounded Rectangle 16"/>
          <p:cNvSpPr/>
          <p:nvPr/>
        </p:nvSpPr>
        <p:spPr>
          <a:xfrm>
            <a:off x="1645920" y="9805670"/>
            <a:ext cx="21095208" cy="2310129"/>
          </a:xfrm>
          <a:prstGeom prst="roundRect">
            <a:avLst>
              <a:gd name="adj" fmla="val 6000"/>
            </a:avLst>
          </a:prstGeom>
          <a:solidFill>
            <a:srgbClr val="3D26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45920" y="9805670"/>
            <a:ext cx="5273802" cy="2310129"/>
          </a:xfrm>
          <a:prstGeom prst="rect">
            <a:avLst/>
          </a:prstGeom>
          <a:noFill/>
        </p:spPr>
        <p:txBody>
          <a:bodyPr wrap="square" lIns="0" tIns="0" rIns="0" bIns="0" anchor="ctr">
            <a:noAutofit/>
          </a:bodyPr>
          <a:lstStyle/>
          <a:p>
            <a:pPr algn="ctr">
              <a:lnSpc>
                <a:spcPct val="105000"/>
              </a:lnSpc>
              <a:spcAft>
                <a:spcPts val="200"/>
              </a:spcAft>
            </a:pPr>
            <a:r>
              <a:rPr sz="4400" b="0">
                <a:solidFill>
                  <a:srgbClr val="D0955F"/>
                </a:solidFill>
                <a:latin typeface="Google Sans SemiBold"/>
              </a:rPr>
              <a:t>90 Hz</a:t>
            </a:r>
          </a:p>
          <a:p>
            <a:pPr algn="ctr">
              <a:lnSpc>
                <a:spcPct val="105000"/>
              </a:lnSpc>
              <a:spcAft>
                <a:spcPts val="0"/>
              </a:spcAft>
            </a:pPr>
            <a:r>
              <a:rPr sz="1900" b="0">
                <a:solidFill>
                  <a:srgbClr val="C9B29B"/>
                </a:solidFill>
                <a:latin typeface="Google Sans"/>
              </a:rPr>
              <a:t>physics step</a:t>
            </a:r>
          </a:p>
        </p:txBody>
      </p:sp>
      <p:cxnSp>
        <p:nvCxnSpPr>
          <p:cNvPr id="19" name="Connector 18"/>
          <p:cNvCxnSpPr/>
          <p:nvPr/>
        </p:nvCxnSpPr>
        <p:spPr>
          <a:xfrm>
            <a:off x="6919722" y="10217150"/>
            <a:ext cx="0" cy="148717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19722" y="9805670"/>
            <a:ext cx="5273802" cy="2310129"/>
          </a:xfrm>
          <a:prstGeom prst="rect">
            <a:avLst/>
          </a:prstGeom>
          <a:noFill/>
        </p:spPr>
        <p:txBody>
          <a:bodyPr wrap="square" lIns="0" tIns="0" rIns="0" bIns="0" anchor="ctr">
            <a:noAutofit/>
          </a:bodyPr>
          <a:lstStyle/>
          <a:p>
            <a:pPr algn="ctr">
              <a:lnSpc>
                <a:spcPct val="105000"/>
              </a:lnSpc>
              <a:spcAft>
                <a:spcPts val="200"/>
              </a:spcAft>
            </a:pPr>
            <a:r>
              <a:rPr sz="4400" b="0">
                <a:solidFill>
                  <a:srgbClr val="D0955F"/>
                </a:solidFill>
                <a:latin typeface="Google Sans SemiBold"/>
              </a:rPr>
              <a:t>12 / 4</a:t>
            </a:r>
          </a:p>
          <a:p>
            <a:pPr algn="ctr">
              <a:lnSpc>
                <a:spcPct val="105000"/>
              </a:lnSpc>
              <a:spcAft>
                <a:spcPts val="0"/>
              </a:spcAft>
            </a:pPr>
            <a:r>
              <a:rPr sz="1900" b="0">
                <a:solidFill>
                  <a:srgbClr val="C9B29B"/>
                </a:solidFill>
                <a:latin typeface="Google Sans"/>
              </a:rPr>
              <a:t>solver iterations</a:t>
            </a:r>
          </a:p>
        </p:txBody>
      </p:sp>
      <p:cxnSp>
        <p:nvCxnSpPr>
          <p:cNvPr id="21" name="Connector 20"/>
          <p:cNvCxnSpPr/>
          <p:nvPr/>
        </p:nvCxnSpPr>
        <p:spPr>
          <a:xfrm>
            <a:off x="12193524" y="10217150"/>
            <a:ext cx="0" cy="148717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12193524" y="9805670"/>
            <a:ext cx="5273802" cy="2310129"/>
          </a:xfrm>
          <a:prstGeom prst="rect">
            <a:avLst/>
          </a:prstGeom>
          <a:noFill/>
        </p:spPr>
        <p:txBody>
          <a:bodyPr wrap="square" lIns="0" tIns="0" rIns="0" bIns="0" anchor="ctr">
            <a:noAutofit/>
          </a:bodyPr>
          <a:lstStyle/>
          <a:p>
            <a:pPr algn="ctr">
              <a:lnSpc>
                <a:spcPct val="105000"/>
              </a:lnSpc>
              <a:spcAft>
                <a:spcPts val="200"/>
              </a:spcAft>
            </a:pPr>
            <a:r>
              <a:rPr sz="4400" b="0">
                <a:solidFill>
                  <a:srgbClr val="D0955F"/>
                </a:solidFill>
                <a:latin typeface="Google Sans SemiBold"/>
              </a:rPr>
              <a:t>0.25 m/s</a:t>
            </a:r>
          </a:p>
          <a:p>
            <a:pPr algn="ctr">
              <a:lnSpc>
                <a:spcPct val="105000"/>
              </a:lnSpc>
              <a:spcAft>
                <a:spcPts val="0"/>
              </a:spcAft>
            </a:pPr>
            <a:r>
              <a:rPr sz="1900" b="0">
                <a:solidFill>
                  <a:srgbClr val="C9B29B"/>
                </a:solidFill>
                <a:latin typeface="Google Sans"/>
              </a:rPr>
              <a:t>push-out cap</a:t>
            </a:r>
          </a:p>
        </p:txBody>
      </p:sp>
      <p:cxnSp>
        <p:nvCxnSpPr>
          <p:cNvPr id="23" name="Connector 22"/>
          <p:cNvCxnSpPr/>
          <p:nvPr/>
        </p:nvCxnSpPr>
        <p:spPr>
          <a:xfrm>
            <a:off x="17467326" y="10217150"/>
            <a:ext cx="0" cy="1487170"/>
          </a:xfrm>
          <a:prstGeom prst="line">
            <a:avLst/>
          </a:prstGeom>
          <a:ln w="15875">
            <a:solidFill>
              <a:srgbClr val="7D5A4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7467326" y="9805670"/>
            <a:ext cx="5273802" cy="2310129"/>
          </a:xfrm>
          <a:prstGeom prst="rect">
            <a:avLst/>
          </a:prstGeom>
          <a:noFill/>
        </p:spPr>
        <p:txBody>
          <a:bodyPr wrap="square" lIns="0" tIns="0" rIns="0" bIns="0" anchor="ctr">
            <a:noAutofit/>
          </a:bodyPr>
          <a:lstStyle/>
          <a:p>
            <a:pPr algn="ctr">
              <a:lnSpc>
                <a:spcPct val="105000"/>
              </a:lnSpc>
              <a:spcAft>
                <a:spcPts val="200"/>
              </a:spcAft>
            </a:pPr>
            <a:r>
              <a:rPr sz="4400" b="0">
                <a:solidFill>
                  <a:srgbClr val="D0955F"/>
                </a:solidFill>
                <a:latin typeface="Google Sans SemiBold"/>
              </a:rPr>
              <a:t>12°</a:t>
            </a:r>
          </a:p>
          <a:p>
            <a:pPr algn="ctr">
              <a:lnSpc>
                <a:spcPct val="105000"/>
              </a:lnSpc>
              <a:spcAft>
                <a:spcPts val="0"/>
              </a:spcAft>
            </a:pPr>
            <a:r>
              <a:rPr sz="1900" b="0">
                <a:solidFill>
                  <a:srgbClr val="C9B29B"/>
                </a:solidFill>
                <a:latin typeface="Google Sans"/>
              </a:rPr>
              <a:t>max tamper wrist tilt</a:t>
            </a:r>
          </a:p>
        </p:txBody>
      </p:sp>
      <p:sp>
        <p:nvSpPr>
          <p:cNvPr id="25" name="TextBox 24"/>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26" name="TextBox 25"/>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807626" y="0"/>
            <a:ext cx="6579422" cy="5651791"/>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10 · AI-TOOL DISCLOSURE</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How we used AI, and how much</a:t>
            </a:r>
          </a:p>
        </p:txBody>
      </p:sp>
      <p:graphicFrame>
        <p:nvGraphicFramePr>
          <p:cNvPr id="5" name="Table 4"/>
          <p:cNvGraphicFramePr>
            <a:graphicFrameLocks noGrp="1"/>
          </p:cNvGraphicFramePr>
          <p:nvPr/>
        </p:nvGraphicFramePr>
        <p:xfrm>
          <a:off x="1645920" y="3566160"/>
          <a:ext cx="21095208" cy="5314950"/>
        </p:xfrm>
        <a:graphic>
          <a:graphicData uri="http://schemas.openxmlformats.org/drawingml/2006/table">
            <a:tbl>
              <a:tblPr firstRow="1" bandRow="1">
                <a:tableStyleId>{2D5ABB26-0587-4C30-8999-92F81FD0307C}</a:tableStyleId>
              </a:tblPr>
              <a:tblGrid>
                <a:gridCol w="4023360">
                  <a:extLst>
                    <a:ext uri="{9D8B030D-6E8A-4147-A177-3AD203B41FA5}">
                      <a16:colId xmlns:a16="http://schemas.microsoft.com/office/drawing/2014/main" val="20000"/>
                    </a:ext>
                  </a:extLst>
                </a:gridCol>
                <a:gridCol w="9390888">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gridCol w="3840480">
                  <a:extLst>
                    <a:ext uri="{9D8B030D-6E8A-4147-A177-3AD203B41FA5}">
                      <a16:colId xmlns:a16="http://schemas.microsoft.com/office/drawing/2014/main" val="20003"/>
                    </a:ext>
                  </a:extLst>
                </a:gridCol>
              </a:tblGrid>
              <a:tr h="1062990">
                <a:tc>
                  <a:txBody>
                    <a:bodyPr/>
                    <a:lstStyle/>
                    <a:p>
                      <a:pPr>
                        <a:lnSpc>
                          <a:spcPct val="112000"/>
                        </a:lnSpc>
                      </a:pPr>
                      <a:r>
                        <a:rPr sz="1700" b="0" spc="150">
                          <a:solidFill>
                            <a:srgbClr val="E9D7C2"/>
                          </a:solidFill>
                          <a:latin typeface="Google Sans SemiBold"/>
                        </a:rPr>
                        <a:t>TOOL</a:t>
                      </a:r>
                    </a:p>
                  </a:txBody>
                  <a:tcPr marL="274320" marR="274320" marT="73152" marB="73152" anchor="ctr">
                    <a:solidFill>
                      <a:srgbClr val="9A5F33"/>
                    </a:solidFill>
                  </a:tcPr>
                </a:tc>
                <a:tc>
                  <a:txBody>
                    <a:bodyPr/>
                    <a:lstStyle/>
                    <a:p>
                      <a:pPr>
                        <a:lnSpc>
                          <a:spcPct val="112000"/>
                        </a:lnSpc>
                      </a:pPr>
                      <a:r>
                        <a:rPr sz="1700" b="0" spc="150">
                          <a:solidFill>
                            <a:srgbClr val="E9D7C2"/>
                          </a:solidFill>
                          <a:latin typeface="Google Sans SemiBold"/>
                        </a:rPr>
                        <a:t>USED FOR</a:t>
                      </a:r>
                    </a:p>
                  </a:txBody>
                  <a:tcPr marL="274320" marR="274320" marT="73152" marB="73152" anchor="ctr">
                    <a:solidFill>
                      <a:srgbClr val="9A5F33"/>
                    </a:solidFill>
                  </a:tcPr>
                </a:tc>
                <a:tc>
                  <a:txBody>
                    <a:bodyPr/>
                    <a:lstStyle/>
                    <a:p>
                      <a:pPr>
                        <a:lnSpc>
                          <a:spcPct val="112000"/>
                        </a:lnSpc>
                      </a:pPr>
                      <a:r>
                        <a:rPr sz="1700" b="0" spc="150">
                          <a:solidFill>
                            <a:srgbClr val="E9D7C2"/>
                          </a:solidFill>
                          <a:latin typeface="Google Sans SemiBold"/>
                        </a:rPr>
                        <a:t>HOW MUCH</a:t>
                      </a:r>
                    </a:p>
                  </a:txBody>
                  <a:tcPr marL="274320" marR="274320" marT="73152" marB="73152" anchor="ctr">
                    <a:solidFill>
                      <a:srgbClr val="9A5F33"/>
                    </a:solidFill>
                  </a:tcPr>
                </a:tc>
                <a:tc>
                  <a:txBody>
                    <a:bodyPr/>
                    <a:lstStyle/>
                    <a:p>
                      <a:pPr>
                        <a:lnSpc>
                          <a:spcPct val="112000"/>
                        </a:lnSpc>
                      </a:pPr>
                      <a:r>
                        <a:rPr sz="1700" b="0" spc="150">
                          <a:solidFill>
                            <a:srgbClr val="E9D7C2"/>
                          </a:solidFill>
                          <a:latin typeface="Google Sans SemiBold"/>
                        </a:rPr>
                        <a:t>DEFENDED BY</a:t>
                      </a:r>
                    </a:p>
                  </a:txBody>
                  <a:tcPr marL="274320" marR="274320" marT="73152" marB="73152" anchor="ctr">
                    <a:solidFill>
                      <a:srgbClr val="9A5F33"/>
                    </a:solidFill>
                  </a:tcPr>
                </a:tc>
                <a:extLst>
                  <a:ext uri="{0D108BD9-81ED-4DB2-BD59-A6C34878D82A}">
                    <a16:rowId xmlns:a16="http://schemas.microsoft.com/office/drawing/2014/main" val="10000"/>
                  </a:ext>
                </a:extLst>
              </a:tr>
              <a:tr h="1417320">
                <a:tc>
                  <a:txBody>
                    <a:bodyPr/>
                    <a:lstStyle/>
                    <a:p>
                      <a:pPr>
                        <a:lnSpc>
                          <a:spcPct val="112000"/>
                        </a:lnSpc>
                      </a:pPr>
                      <a:r>
                        <a:rPr sz="1900" b="0">
                          <a:solidFill>
                            <a:srgbClr val="E9D7C2"/>
                          </a:solidFill>
                          <a:latin typeface="Google Sans SemiBold"/>
                        </a:rPr>
                        <a:t>Cursor (AI agent)</a:t>
                      </a:r>
                    </a:p>
                  </a:txBody>
                  <a:tcPr marL="274320" marR="274320" marT="73152" marB="73152" anchor="ctr">
                    <a:solidFill>
                      <a:srgbClr val="5E3E2E"/>
                    </a:solidFill>
                  </a:tcPr>
                </a:tc>
                <a:tc>
                  <a:txBody>
                    <a:bodyPr/>
                    <a:lstStyle/>
                    <a:p>
                      <a:pPr>
                        <a:lnSpc>
                          <a:spcPct val="112000"/>
                        </a:lnSpc>
                      </a:pPr>
                      <a:r>
                        <a:rPr sz="1900" b="0">
                          <a:solidFill>
                            <a:srgbClr val="E9D7C2"/>
                          </a:solidFill>
                          <a:latin typeface="Google Sans"/>
                        </a:rPr>
                        <a:t>Drafting the scene builder and C# scripts from our design; debugging physics, text shader and build; first draft of slides and viva notes</a:t>
                      </a:r>
                    </a:p>
                  </a:txBody>
                  <a:tcPr marL="274320" marR="274320" marT="73152" marB="73152" anchor="ctr">
                    <a:solidFill>
                      <a:srgbClr val="5E3E2E"/>
                    </a:solidFill>
                  </a:tcPr>
                </a:tc>
                <a:tc>
                  <a:txBody>
                    <a:bodyPr/>
                    <a:lstStyle/>
                    <a:p>
                      <a:pPr>
                        <a:lnSpc>
                          <a:spcPct val="112000"/>
                        </a:lnSpc>
                      </a:pPr>
                      <a:r>
                        <a:rPr sz="1900" b="0">
                          <a:solidFill>
                            <a:srgbClr val="E9D7C2"/>
                          </a:solidFill>
                          <a:latin typeface="Google Sans"/>
                        </a:rPr>
                        <a:t>&lt;High: ~X% of code&gt;</a:t>
                      </a:r>
                    </a:p>
                  </a:txBody>
                  <a:tcPr marL="274320" marR="274320" marT="73152" marB="73152" anchor="ctr">
                    <a:solidFill>
                      <a:srgbClr val="5E3E2E"/>
                    </a:solidFill>
                  </a:tcPr>
                </a:tc>
                <a:tc>
                  <a:txBody>
                    <a:bodyPr/>
                    <a:lstStyle/>
                    <a:p>
                      <a:pPr>
                        <a:lnSpc>
                          <a:spcPct val="112000"/>
                        </a:lnSpc>
                      </a:pPr>
                      <a:r>
                        <a:rPr sz="1900" b="0">
                          <a:solidFill>
                            <a:srgbClr val="E9D7C2"/>
                          </a:solidFill>
                          <a:latin typeface="Google Sans"/>
                        </a:rPr>
                        <a:t>Each member, own part</a:t>
                      </a:r>
                    </a:p>
                  </a:txBody>
                  <a:tcPr marL="274320" marR="274320" marT="73152" marB="73152" anchor="ctr">
                    <a:solidFill>
                      <a:srgbClr val="5E3E2E"/>
                    </a:solidFill>
                  </a:tcPr>
                </a:tc>
                <a:extLst>
                  <a:ext uri="{0D108BD9-81ED-4DB2-BD59-A6C34878D82A}">
                    <a16:rowId xmlns:a16="http://schemas.microsoft.com/office/drawing/2014/main" val="10001"/>
                  </a:ext>
                </a:extLst>
              </a:tr>
              <a:tr h="1417320">
                <a:tc>
                  <a:txBody>
                    <a:bodyPr/>
                    <a:lstStyle/>
                    <a:p>
                      <a:pPr>
                        <a:lnSpc>
                          <a:spcPct val="112000"/>
                        </a:lnSpc>
                      </a:pPr>
                      <a:r>
                        <a:rPr sz="1900" b="0">
                          <a:solidFill>
                            <a:srgbClr val="E9D7C2"/>
                          </a:solidFill>
                          <a:latin typeface="Google Sans SemiBold"/>
                        </a:rPr>
                        <a:t>&lt;Other, if any&gt;</a:t>
                      </a:r>
                    </a:p>
                  </a:txBody>
                  <a:tcPr marL="274320" marR="274320" marT="73152" marB="73152" anchor="ctr">
                    <a:solidFill>
                      <a:srgbClr val="533628"/>
                    </a:solidFill>
                  </a:tcPr>
                </a:tc>
                <a:tc>
                  <a:txBody>
                    <a:bodyPr/>
                    <a:lstStyle/>
                    <a:p>
                      <a:pPr>
                        <a:lnSpc>
                          <a:spcPct val="112000"/>
                        </a:lnSpc>
                      </a:pPr>
                      <a:r>
                        <a:rPr sz="1900" b="0">
                          <a:solidFill>
                            <a:srgbClr val="E9D7C2"/>
                          </a:solidFill>
                          <a:latin typeface="Google Sans"/>
                        </a:rPr>
                        <a:t>&lt;e.g. explaining XRI concepts, checking references&gt;</a:t>
                      </a:r>
                    </a:p>
                  </a:txBody>
                  <a:tcPr marL="274320" marR="274320" marT="73152" marB="73152" anchor="ctr">
                    <a:solidFill>
                      <a:srgbClr val="533628"/>
                    </a:solidFill>
                  </a:tcPr>
                </a:tc>
                <a:tc>
                  <a:txBody>
                    <a:bodyPr/>
                    <a:lstStyle/>
                    <a:p>
                      <a:pPr>
                        <a:lnSpc>
                          <a:spcPct val="112000"/>
                        </a:lnSpc>
                      </a:pPr>
                      <a:r>
                        <a:rPr sz="1900" b="0">
                          <a:solidFill>
                            <a:srgbClr val="E9D7C2"/>
                          </a:solidFill>
                          <a:latin typeface="Google Sans"/>
                        </a:rPr>
                        <a:t>&lt;Low / Medium&gt;</a:t>
                      </a:r>
                    </a:p>
                  </a:txBody>
                  <a:tcPr marL="274320" marR="274320" marT="73152" marB="73152" anchor="ctr">
                    <a:solidFill>
                      <a:srgbClr val="533628"/>
                    </a:solidFill>
                  </a:tcPr>
                </a:tc>
                <a:tc>
                  <a:txBody>
                    <a:bodyPr/>
                    <a:lstStyle/>
                    <a:p>
                      <a:pPr>
                        <a:lnSpc>
                          <a:spcPct val="112000"/>
                        </a:lnSpc>
                      </a:pPr>
                      <a:r>
                        <a:rPr sz="1900" b="0">
                          <a:solidFill>
                            <a:srgbClr val="E9D7C2"/>
                          </a:solidFill>
                          <a:latin typeface="Google Sans"/>
                        </a:rPr>
                        <a:t>&lt;name&gt;</a:t>
                      </a:r>
                    </a:p>
                  </a:txBody>
                  <a:tcPr marL="274320" marR="274320" marT="73152" marB="73152" anchor="ctr">
                    <a:solidFill>
                      <a:srgbClr val="533628"/>
                    </a:solidFill>
                  </a:tcPr>
                </a:tc>
                <a:extLst>
                  <a:ext uri="{0D108BD9-81ED-4DB2-BD59-A6C34878D82A}">
                    <a16:rowId xmlns:a16="http://schemas.microsoft.com/office/drawing/2014/main" val="10002"/>
                  </a:ext>
                </a:extLst>
              </a:tr>
              <a:tr h="1417320">
                <a:tc>
                  <a:txBody>
                    <a:bodyPr/>
                    <a:lstStyle/>
                    <a:p>
                      <a:pPr>
                        <a:lnSpc>
                          <a:spcPct val="112000"/>
                        </a:lnSpc>
                      </a:pPr>
                      <a:r>
                        <a:rPr sz="1900" b="0">
                          <a:solidFill>
                            <a:srgbClr val="E9D7C2"/>
                          </a:solidFill>
                          <a:latin typeface="Google Sans SemiBold"/>
                        </a:rPr>
                        <a:t>Team, no AI</a:t>
                      </a:r>
                    </a:p>
                  </a:txBody>
                  <a:tcPr marL="274320" marR="274320" marT="73152" marB="73152" anchor="ctr">
                    <a:solidFill>
                      <a:srgbClr val="5E3E2E"/>
                    </a:solidFill>
                  </a:tcPr>
                </a:tc>
                <a:tc>
                  <a:txBody>
                    <a:bodyPr/>
                    <a:lstStyle/>
                    <a:p>
                      <a:pPr>
                        <a:lnSpc>
                          <a:spcPct val="112000"/>
                        </a:lnSpc>
                      </a:pPr>
                      <a:r>
                        <a:rPr sz="1900" b="0">
                          <a:solidFill>
                            <a:srgbClr val="E9D7C2"/>
                          </a:solidFill>
                          <a:latin typeface="Google Sans"/>
                        </a:rPr>
                        <a:t>Concept, D.I.C.E. case, objectives, design choices, testing, tuning, verifying each fix</a:t>
                      </a:r>
                    </a:p>
                  </a:txBody>
                  <a:tcPr marL="274320" marR="274320" marT="73152" marB="73152" anchor="ctr">
                    <a:solidFill>
                      <a:srgbClr val="5E3E2E"/>
                    </a:solidFill>
                  </a:tcPr>
                </a:tc>
                <a:tc>
                  <a:txBody>
                    <a:bodyPr/>
                    <a:lstStyle/>
                    <a:p>
                      <a:pPr>
                        <a:lnSpc>
                          <a:spcPct val="112000"/>
                        </a:lnSpc>
                      </a:pPr>
                      <a:r>
                        <a:rPr sz="1900" b="0">
                          <a:solidFill>
                            <a:srgbClr val="E9D7C2"/>
                          </a:solidFill>
                          <a:latin typeface="Google Sans"/>
                        </a:rPr>
                        <a:t>n/a</a:t>
                      </a:r>
                    </a:p>
                  </a:txBody>
                  <a:tcPr marL="274320" marR="274320" marT="73152" marB="73152" anchor="ctr">
                    <a:solidFill>
                      <a:srgbClr val="5E3E2E"/>
                    </a:solidFill>
                  </a:tcPr>
                </a:tc>
                <a:tc>
                  <a:txBody>
                    <a:bodyPr/>
                    <a:lstStyle/>
                    <a:p>
                      <a:pPr>
                        <a:lnSpc>
                          <a:spcPct val="112000"/>
                        </a:lnSpc>
                      </a:pPr>
                      <a:r>
                        <a:rPr sz="1900" b="0">
                          <a:solidFill>
                            <a:srgbClr val="E9D7C2"/>
                          </a:solidFill>
                          <a:latin typeface="Google Sans"/>
                        </a:rPr>
                        <a:t>All</a:t>
                      </a:r>
                    </a:p>
                  </a:txBody>
                  <a:tcPr marL="274320" marR="274320" marT="73152" marB="73152" anchor="ctr">
                    <a:solidFill>
                      <a:srgbClr val="5E3E2E"/>
                    </a:solidFill>
                  </a:tcPr>
                </a:tc>
                <a:extLst>
                  <a:ext uri="{0D108BD9-81ED-4DB2-BD59-A6C34878D82A}">
                    <a16:rowId xmlns:a16="http://schemas.microsoft.com/office/drawing/2014/main" val="10003"/>
                  </a:ext>
                </a:extLst>
              </a:tr>
            </a:tbl>
          </a:graphicData>
        </a:graphic>
      </p:graphicFrame>
      <p:sp>
        <p:nvSpPr>
          <p:cNvPr id="6" name="Rounded Rectangle 5"/>
          <p:cNvSpPr/>
          <p:nvPr/>
        </p:nvSpPr>
        <p:spPr>
          <a:xfrm>
            <a:off x="1645920" y="9384030"/>
            <a:ext cx="21095208" cy="2731769"/>
          </a:xfrm>
          <a:prstGeom prst="roundRect">
            <a:avLst>
              <a:gd name="adj" fmla="val 6000"/>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148840" y="9384030"/>
            <a:ext cx="4572000" cy="2731769"/>
          </a:xfrm>
          <a:prstGeom prst="rect">
            <a:avLst/>
          </a:prstGeom>
          <a:noFill/>
        </p:spPr>
        <p:txBody>
          <a:bodyPr wrap="square" lIns="0" tIns="0" rIns="0" bIns="0" anchor="ctr">
            <a:noAutofit/>
          </a:bodyPr>
          <a:lstStyle/>
          <a:p>
            <a:pPr algn="l">
              <a:lnSpc>
                <a:spcPct val="118000"/>
              </a:lnSpc>
              <a:spcAft>
                <a:spcPts val="0"/>
              </a:spcAft>
            </a:pPr>
            <a:r>
              <a:rPr sz="2800" b="0">
                <a:solidFill>
                  <a:srgbClr val="3D261A"/>
                </a:solidFill>
                <a:latin typeface="Google Sans SemiBold"/>
              </a:rPr>
              <a:t>Responsible use</a:t>
            </a:r>
          </a:p>
        </p:txBody>
      </p:sp>
      <p:sp>
        <p:nvSpPr>
          <p:cNvPr id="8" name="TextBox 7"/>
          <p:cNvSpPr txBox="1"/>
          <p:nvPr/>
        </p:nvSpPr>
        <p:spPr>
          <a:xfrm>
            <a:off x="7132320" y="9886950"/>
            <a:ext cx="15105888" cy="1725929"/>
          </a:xfrm>
          <a:prstGeom prst="rect">
            <a:avLst/>
          </a:prstGeom>
          <a:noFill/>
        </p:spPr>
        <p:txBody>
          <a:bodyPr wrap="square" lIns="0" tIns="0" rIns="0" bIns="0" anchor="ctr">
            <a:noAutofit/>
          </a:bodyPr>
          <a:lstStyle/>
          <a:p>
            <a:pPr algn="l">
              <a:lnSpc>
                <a:spcPct val="120000"/>
              </a:lnSpc>
              <a:spcAft>
                <a:spcPts val="0"/>
              </a:spcAft>
            </a:pPr>
            <a:r>
              <a:rPr sz="2100" b="0">
                <a:solidFill>
                  <a:srgbClr val="3D261A"/>
                </a:solidFill>
                <a:latin typeface="Google Sans"/>
              </a:rPr>
              <a:t>We specified what to build, reviewed every change, tested it in the simulator and the exported exe, and rejected fixes that didn't work, such as kinematic grabs that let tools pass through. Every member can explain their part live.</a:t>
            </a:r>
          </a:p>
        </p:txBody>
      </p:sp>
      <p:sp>
        <p:nvSpPr>
          <p:cNvPr id="9" name="TextBox 8"/>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10" name="TextBox 9"/>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11 · TESTING &amp; EVALUATION</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Walkthrough tests by a non-builder</a:t>
            </a:r>
          </a:p>
        </p:txBody>
      </p:sp>
      <p:sp>
        <p:nvSpPr>
          <p:cNvPr id="5" name="TextBox 4"/>
          <p:cNvSpPr txBox="1"/>
          <p:nvPr/>
        </p:nvSpPr>
        <p:spPr>
          <a:xfrm>
            <a:off x="1645920" y="2606040"/>
            <a:ext cx="21095208" cy="457200"/>
          </a:xfrm>
          <a:prstGeom prst="rect">
            <a:avLst/>
          </a:prstGeom>
          <a:noFill/>
        </p:spPr>
        <p:txBody>
          <a:bodyPr wrap="square" lIns="0" tIns="0" rIns="0" bIns="0" anchor="t">
            <a:noAutofit/>
          </a:bodyPr>
          <a:lstStyle/>
          <a:p>
            <a:pPr algn="l">
              <a:lnSpc>
                <a:spcPct val="118000"/>
              </a:lnSpc>
              <a:spcAft>
                <a:spcPts val="0"/>
              </a:spcAft>
            </a:pPr>
            <a:r>
              <a:rPr sz="1900" b="0">
                <a:solidFill>
                  <a:srgbClr val="8A7260"/>
                </a:solidFill>
                <a:latin typeface="Google Sans"/>
              </a:rPr>
              <a:t>&lt;Who tested whose part · number of full runs · average time per shift&gt;</a:t>
            </a:r>
          </a:p>
        </p:txBody>
      </p:sp>
      <p:graphicFrame>
        <p:nvGraphicFramePr>
          <p:cNvPr id="6" name="Table 5"/>
          <p:cNvGraphicFramePr>
            <a:graphicFrameLocks noGrp="1"/>
          </p:cNvGraphicFramePr>
          <p:nvPr/>
        </p:nvGraphicFramePr>
        <p:xfrm>
          <a:off x="1645920" y="3566160"/>
          <a:ext cx="10273283" cy="8549634"/>
        </p:xfrm>
        <a:graphic>
          <a:graphicData uri="http://schemas.openxmlformats.org/drawingml/2006/table">
            <a:tbl>
              <a:tblPr firstRow="1" bandRow="1">
                <a:tableStyleId>{2D5ABB26-0587-4C30-8999-92F81FD0307C}</a:tableStyleId>
              </a:tblPr>
              <a:tblGrid>
                <a:gridCol w="10515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466843">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732826">
                <a:tc>
                  <a:txBody>
                    <a:bodyPr/>
                    <a:lstStyle/>
                    <a:p>
                      <a:pPr>
                        <a:lnSpc>
                          <a:spcPct val="112000"/>
                        </a:lnSpc>
                      </a:pPr>
                      <a:r>
                        <a:rPr sz="1400" b="0" spc="150">
                          <a:solidFill>
                            <a:srgbClr val="E9D7C2"/>
                          </a:solidFill>
                          <a:latin typeface="Google Sans SemiBold"/>
                        </a:rPr>
                        <a:t>#</a:t>
                      </a:r>
                    </a:p>
                  </a:txBody>
                  <a:tcPr marL="274320" marR="274320" marT="73152" marB="73152" anchor="ctr">
                    <a:solidFill>
                      <a:srgbClr val="3D261A"/>
                    </a:solidFill>
                  </a:tcPr>
                </a:tc>
                <a:tc>
                  <a:txBody>
                    <a:bodyPr/>
                    <a:lstStyle/>
                    <a:p>
                      <a:pPr>
                        <a:lnSpc>
                          <a:spcPct val="112000"/>
                        </a:lnSpc>
                      </a:pPr>
                      <a:r>
                        <a:rPr sz="1400" b="0" spc="150">
                          <a:solidFill>
                            <a:srgbClr val="E9D7C2"/>
                          </a:solidFill>
                          <a:latin typeface="Google Sans SemiBold"/>
                        </a:rPr>
                        <a:t>CHECK</a:t>
                      </a:r>
                    </a:p>
                  </a:txBody>
                  <a:tcPr marL="274320" marR="274320" marT="73152" marB="73152" anchor="ctr">
                    <a:solidFill>
                      <a:srgbClr val="3D261A"/>
                    </a:solidFill>
                  </a:tcPr>
                </a:tc>
                <a:tc>
                  <a:txBody>
                    <a:bodyPr/>
                    <a:lstStyle/>
                    <a:p>
                      <a:pPr>
                        <a:lnSpc>
                          <a:spcPct val="112000"/>
                        </a:lnSpc>
                      </a:pPr>
                      <a:r>
                        <a:rPr sz="1400" b="0" spc="150">
                          <a:solidFill>
                            <a:srgbClr val="E9D7C2"/>
                          </a:solidFill>
                          <a:latin typeface="Google Sans SemiBold"/>
                        </a:rPr>
                        <a:t>EXPECTED</a:t>
                      </a:r>
                    </a:p>
                  </a:txBody>
                  <a:tcPr marL="274320" marR="274320" marT="73152" marB="73152" anchor="ctr">
                    <a:solidFill>
                      <a:srgbClr val="3D261A"/>
                    </a:solidFill>
                  </a:tcPr>
                </a:tc>
                <a:tc>
                  <a:txBody>
                    <a:bodyPr/>
                    <a:lstStyle/>
                    <a:p>
                      <a:pPr>
                        <a:lnSpc>
                          <a:spcPct val="112000"/>
                        </a:lnSpc>
                      </a:pPr>
                      <a:r>
                        <a:rPr sz="1400" b="0" spc="150">
                          <a:solidFill>
                            <a:srgbClr val="E9D7C2"/>
                          </a:solidFill>
                          <a:latin typeface="Google Sans SemiBold"/>
                        </a:rPr>
                        <a:t>RESULT</a:t>
                      </a:r>
                    </a:p>
                  </a:txBody>
                  <a:tcPr marL="274320" marR="274320" marT="73152" marB="73152" anchor="ctr">
                    <a:solidFill>
                      <a:srgbClr val="3D261A"/>
                    </a:solidFill>
                  </a:tcPr>
                </a:tc>
                <a:extLst>
                  <a:ext uri="{0D108BD9-81ED-4DB2-BD59-A6C34878D82A}">
                    <a16:rowId xmlns:a16="http://schemas.microsoft.com/office/drawing/2014/main" val="10000"/>
                  </a:ext>
                </a:extLst>
              </a:tr>
              <a:tr h="977101">
                <a:tc>
                  <a:txBody>
                    <a:bodyPr/>
                    <a:lstStyle/>
                    <a:p>
                      <a:pPr>
                        <a:lnSpc>
                          <a:spcPct val="112000"/>
                        </a:lnSpc>
                      </a:pPr>
                      <a:r>
                        <a:rPr sz="1700" b="0">
                          <a:solidFill>
                            <a:srgbClr val="4A3B31"/>
                          </a:solidFill>
                          <a:latin typeface="Google Sans SemiBold"/>
                        </a:rPr>
                        <a:t>01</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Launch</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Ticket readable, goal clear in 5 s</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1"/>
                  </a:ext>
                </a:extLst>
              </a:tr>
              <a:tr h="977101">
                <a:tc>
                  <a:txBody>
                    <a:bodyPr/>
                    <a:lstStyle/>
                    <a:p>
                      <a:pPr>
                        <a:lnSpc>
                          <a:spcPct val="112000"/>
                        </a:lnSpc>
                      </a:pPr>
                      <a:r>
                        <a:rPr sz="1700" b="0">
                          <a:solidFill>
                            <a:srgbClr val="4A3B31"/>
                          </a:solidFill>
                          <a:latin typeface="Google Sans SemiBold"/>
                        </a:rPr>
                        <a:t>02</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Start</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START moves to 'unlock'</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2"/>
                  </a:ext>
                </a:extLst>
              </a:tr>
              <a:tr h="977101">
                <a:tc>
                  <a:txBody>
                    <a:bodyPr/>
                    <a:lstStyle/>
                    <a:p>
                      <a:pPr>
                        <a:lnSpc>
                          <a:spcPct val="112000"/>
                        </a:lnSpc>
                      </a:pPr>
                      <a:r>
                        <a:rPr sz="1700" b="0">
                          <a:solidFill>
                            <a:srgbClr val="4A3B31"/>
                          </a:solidFill>
                          <a:latin typeface="Google Sans SemiBold"/>
                        </a:rPr>
                        <a:t>03</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Detach</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Handle swing frees portafilter</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3"/>
                  </a:ext>
                </a:extLst>
              </a:tr>
              <a:tr h="977101">
                <a:tc>
                  <a:txBody>
                    <a:bodyPr/>
                    <a:lstStyle/>
                    <a:p>
                      <a:pPr>
                        <a:lnSpc>
                          <a:spcPct val="112000"/>
                        </a:lnSpc>
                      </a:pPr>
                      <a:r>
                        <a:rPr sz="1700" b="0">
                          <a:solidFill>
                            <a:srgbClr val="4A3B31"/>
                          </a:solidFill>
                          <a:latin typeface="Google Sans SemiBold"/>
                        </a:rPr>
                        <a:t>04</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Dose gating</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No grind unless in the fork</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4"/>
                  </a:ext>
                </a:extLst>
              </a:tr>
              <a:tr h="977101">
                <a:tc>
                  <a:txBody>
                    <a:bodyPr/>
                    <a:lstStyle/>
                    <a:p>
                      <a:pPr>
                        <a:lnSpc>
                          <a:spcPct val="112000"/>
                        </a:lnSpc>
                      </a:pPr>
                      <a:r>
                        <a:rPr sz="1700" b="0">
                          <a:solidFill>
                            <a:srgbClr val="4A3B31"/>
                          </a:solidFill>
                          <a:latin typeface="Google Sans SemiBold"/>
                        </a:rPr>
                        <a:t>05</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Dose</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Counts to ~18 g; under 8 g refused</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5"/>
                  </a:ext>
                </a:extLst>
              </a:tr>
              <a:tr h="977101">
                <a:tc>
                  <a:txBody>
                    <a:bodyPr/>
                    <a:lstStyle/>
                    <a:p>
                      <a:pPr>
                        <a:lnSpc>
                          <a:spcPct val="112000"/>
                        </a:lnSpc>
                      </a:pPr>
                      <a:r>
                        <a:rPr sz="1700" b="0">
                          <a:solidFill>
                            <a:srgbClr val="4A3B31"/>
                          </a:solidFill>
                          <a:latin typeface="Google Sans SemiBold"/>
                        </a:rPr>
                        <a:t>06</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Tamp</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Force rises, haptics, lift completes</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6"/>
                  </a:ext>
                </a:extLst>
              </a:tr>
              <a:tr h="977101">
                <a:tc>
                  <a:txBody>
                    <a:bodyPr/>
                    <a:lstStyle/>
                    <a:p>
                      <a:pPr>
                        <a:lnSpc>
                          <a:spcPct val="112000"/>
                        </a:lnSpc>
                      </a:pPr>
                      <a:r>
                        <a:rPr sz="1700" b="0">
                          <a:solidFill>
                            <a:srgbClr val="4A3B31"/>
                          </a:solidFill>
                          <a:latin typeface="Google Sans SemiBold"/>
                        </a:rPr>
                        <a:t>07</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Tilt</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Tilted tamp gives Channeled</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7"/>
                  </a:ext>
                </a:extLst>
              </a:tr>
              <a:tr h="977101">
                <a:tc>
                  <a:txBody>
                    <a:bodyPr/>
                    <a:lstStyle/>
                    <a:p>
                      <a:pPr>
                        <a:lnSpc>
                          <a:spcPct val="112000"/>
                        </a:lnSpc>
                      </a:pPr>
                      <a:r>
                        <a:rPr sz="1700" b="0">
                          <a:solidFill>
                            <a:srgbClr val="4A3B31"/>
                          </a:solidFill>
                          <a:latin typeface="Google Sans SemiBold"/>
                        </a:rPr>
                        <a:t>08</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Lock</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Brew refused until locked</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8"/>
                  </a:ext>
                </a:extLst>
              </a:tr>
            </a:tbl>
          </a:graphicData>
        </a:graphic>
      </p:graphicFrame>
      <p:graphicFrame>
        <p:nvGraphicFramePr>
          <p:cNvPr id="7" name="Table 6"/>
          <p:cNvGraphicFramePr>
            <a:graphicFrameLocks noGrp="1"/>
          </p:cNvGraphicFramePr>
          <p:nvPr/>
        </p:nvGraphicFramePr>
        <p:xfrm>
          <a:off x="12467844" y="3566160"/>
          <a:ext cx="10273283" cy="8549634"/>
        </p:xfrm>
        <a:graphic>
          <a:graphicData uri="http://schemas.openxmlformats.org/drawingml/2006/table">
            <a:tbl>
              <a:tblPr firstRow="1" bandRow="1">
                <a:tableStyleId>{2D5ABB26-0587-4C30-8999-92F81FD0307C}</a:tableStyleId>
              </a:tblPr>
              <a:tblGrid>
                <a:gridCol w="1051560">
                  <a:extLst>
                    <a:ext uri="{9D8B030D-6E8A-4147-A177-3AD203B41FA5}">
                      <a16:colId xmlns:a16="http://schemas.microsoft.com/office/drawing/2014/main" val="20000"/>
                    </a:ext>
                  </a:extLst>
                </a:gridCol>
                <a:gridCol w="2514600">
                  <a:extLst>
                    <a:ext uri="{9D8B030D-6E8A-4147-A177-3AD203B41FA5}">
                      <a16:colId xmlns:a16="http://schemas.microsoft.com/office/drawing/2014/main" val="20001"/>
                    </a:ext>
                  </a:extLst>
                </a:gridCol>
                <a:gridCol w="4466843">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732826">
                <a:tc>
                  <a:txBody>
                    <a:bodyPr/>
                    <a:lstStyle/>
                    <a:p>
                      <a:pPr>
                        <a:lnSpc>
                          <a:spcPct val="112000"/>
                        </a:lnSpc>
                      </a:pPr>
                      <a:r>
                        <a:rPr sz="1400" b="0" spc="150">
                          <a:solidFill>
                            <a:srgbClr val="E9D7C2"/>
                          </a:solidFill>
                          <a:latin typeface="Google Sans SemiBold"/>
                        </a:rPr>
                        <a:t>#</a:t>
                      </a:r>
                    </a:p>
                  </a:txBody>
                  <a:tcPr marL="274320" marR="274320" marT="73152" marB="73152" anchor="ctr">
                    <a:solidFill>
                      <a:srgbClr val="3D261A"/>
                    </a:solidFill>
                  </a:tcPr>
                </a:tc>
                <a:tc>
                  <a:txBody>
                    <a:bodyPr/>
                    <a:lstStyle/>
                    <a:p>
                      <a:pPr>
                        <a:lnSpc>
                          <a:spcPct val="112000"/>
                        </a:lnSpc>
                      </a:pPr>
                      <a:r>
                        <a:rPr sz="1400" b="0" spc="150">
                          <a:solidFill>
                            <a:srgbClr val="E9D7C2"/>
                          </a:solidFill>
                          <a:latin typeface="Google Sans SemiBold"/>
                        </a:rPr>
                        <a:t>CHECK</a:t>
                      </a:r>
                    </a:p>
                  </a:txBody>
                  <a:tcPr marL="274320" marR="274320" marT="73152" marB="73152" anchor="ctr">
                    <a:solidFill>
                      <a:srgbClr val="3D261A"/>
                    </a:solidFill>
                  </a:tcPr>
                </a:tc>
                <a:tc>
                  <a:txBody>
                    <a:bodyPr/>
                    <a:lstStyle/>
                    <a:p>
                      <a:pPr>
                        <a:lnSpc>
                          <a:spcPct val="112000"/>
                        </a:lnSpc>
                      </a:pPr>
                      <a:r>
                        <a:rPr sz="1400" b="0" spc="150">
                          <a:solidFill>
                            <a:srgbClr val="E9D7C2"/>
                          </a:solidFill>
                          <a:latin typeface="Google Sans SemiBold"/>
                        </a:rPr>
                        <a:t>EXPECTED</a:t>
                      </a:r>
                    </a:p>
                  </a:txBody>
                  <a:tcPr marL="274320" marR="274320" marT="73152" marB="73152" anchor="ctr">
                    <a:solidFill>
                      <a:srgbClr val="3D261A"/>
                    </a:solidFill>
                  </a:tcPr>
                </a:tc>
                <a:tc>
                  <a:txBody>
                    <a:bodyPr/>
                    <a:lstStyle/>
                    <a:p>
                      <a:pPr>
                        <a:lnSpc>
                          <a:spcPct val="112000"/>
                        </a:lnSpc>
                      </a:pPr>
                      <a:r>
                        <a:rPr sz="1400" b="0" spc="150">
                          <a:solidFill>
                            <a:srgbClr val="E9D7C2"/>
                          </a:solidFill>
                          <a:latin typeface="Google Sans SemiBold"/>
                        </a:rPr>
                        <a:t>RESULT</a:t>
                      </a:r>
                    </a:p>
                  </a:txBody>
                  <a:tcPr marL="274320" marR="274320" marT="73152" marB="73152" anchor="ctr">
                    <a:solidFill>
                      <a:srgbClr val="3D261A"/>
                    </a:solidFill>
                  </a:tcPr>
                </a:tc>
                <a:extLst>
                  <a:ext uri="{0D108BD9-81ED-4DB2-BD59-A6C34878D82A}">
                    <a16:rowId xmlns:a16="http://schemas.microsoft.com/office/drawing/2014/main" val="10000"/>
                  </a:ext>
                </a:extLst>
              </a:tr>
              <a:tr h="977101">
                <a:tc>
                  <a:txBody>
                    <a:bodyPr/>
                    <a:lstStyle/>
                    <a:p>
                      <a:pPr>
                        <a:lnSpc>
                          <a:spcPct val="112000"/>
                        </a:lnSpc>
                      </a:pPr>
                      <a:r>
                        <a:rPr sz="1700" b="0">
                          <a:solidFill>
                            <a:srgbClr val="4A3B31"/>
                          </a:solidFill>
                          <a:latin typeface="Google Sans SemiBold"/>
                        </a:rPr>
                        <a:t>09</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Brew</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Needle ~9 bar; time &amp; yield count</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1"/>
                  </a:ext>
                </a:extLst>
              </a:tr>
              <a:tr h="977101">
                <a:tc>
                  <a:txBody>
                    <a:bodyPr/>
                    <a:lstStyle/>
                    <a:p>
                      <a:pPr>
                        <a:lnSpc>
                          <a:spcPct val="112000"/>
                        </a:lnSpc>
                      </a:pPr>
                      <a:r>
                        <a:rPr sz="1700" b="0">
                          <a:solidFill>
                            <a:srgbClr val="4A3B31"/>
                          </a:solidFill>
                          <a:latin typeface="Google Sans SemiBold"/>
                        </a:rPr>
                        <a:t>10</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Grind effect</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Finer grind, longer shot</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2"/>
                  </a:ext>
                </a:extLst>
              </a:tr>
              <a:tr h="977101">
                <a:tc>
                  <a:txBody>
                    <a:bodyPr/>
                    <a:lstStyle/>
                    <a:p>
                      <a:pPr>
                        <a:lnSpc>
                          <a:spcPct val="112000"/>
                        </a:lnSpc>
                      </a:pPr>
                      <a:r>
                        <a:rPr sz="1700" b="0">
                          <a:solidFill>
                            <a:srgbClr val="4A3B31"/>
                          </a:solidFill>
                          <a:latin typeface="Google Sans SemiBold"/>
                        </a:rPr>
                        <a:t>11</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Steam</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Heats only in milk; chime at 65 °C</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3"/>
                  </a:ext>
                </a:extLst>
              </a:tr>
              <a:tr h="977101">
                <a:tc>
                  <a:txBody>
                    <a:bodyPr/>
                    <a:lstStyle/>
                    <a:p>
                      <a:pPr>
                        <a:lnSpc>
                          <a:spcPct val="112000"/>
                        </a:lnSpc>
                      </a:pPr>
                      <a:r>
                        <a:rPr sz="1700" b="0">
                          <a:solidFill>
                            <a:srgbClr val="4A3B31"/>
                          </a:solidFill>
                          <a:latin typeface="Google Sans SemiBold"/>
                        </a:rPr>
                        <a:t>12</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Pour</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Tilt fills cup; verdict appears</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4"/>
                  </a:ext>
                </a:extLst>
              </a:tr>
              <a:tr h="977101">
                <a:tc>
                  <a:txBody>
                    <a:bodyPr/>
                    <a:lstStyle/>
                    <a:p>
                      <a:pPr>
                        <a:lnSpc>
                          <a:spcPct val="112000"/>
                        </a:lnSpc>
                      </a:pPr>
                      <a:r>
                        <a:rPr sz="1700" b="0">
                          <a:solidFill>
                            <a:srgbClr val="4A3B31"/>
                          </a:solidFill>
                          <a:latin typeface="Google Sans SemiBold"/>
                        </a:rPr>
                        <a:t>13</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Retry</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Restarts at unlock, grind kept</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5"/>
                  </a:ext>
                </a:extLst>
              </a:tr>
              <a:tr h="977101">
                <a:tc>
                  <a:txBody>
                    <a:bodyPr/>
                    <a:lstStyle/>
                    <a:p>
                      <a:pPr>
                        <a:lnSpc>
                          <a:spcPct val="112000"/>
                        </a:lnSpc>
                      </a:pPr>
                      <a:r>
                        <a:rPr sz="1700" b="0">
                          <a:solidFill>
                            <a:srgbClr val="4A3B31"/>
                          </a:solidFill>
                          <a:latin typeface="Google Sans SemiBold"/>
                        </a:rPr>
                        <a:t>14</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Audio</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Each sound from its source</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6"/>
                  </a:ext>
                </a:extLst>
              </a:tr>
              <a:tr h="977101">
                <a:tc>
                  <a:txBody>
                    <a:bodyPr/>
                    <a:lstStyle/>
                    <a:p>
                      <a:pPr>
                        <a:lnSpc>
                          <a:spcPct val="112000"/>
                        </a:lnSpc>
                      </a:pPr>
                      <a:r>
                        <a:rPr sz="1700" b="0">
                          <a:solidFill>
                            <a:srgbClr val="4A3B31"/>
                          </a:solidFill>
                          <a:latin typeface="Google Sans SemiBold"/>
                        </a:rPr>
                        <a:t>15</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Physics</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No floating or falling through</a:t>
                      </a:r>
                    </a:p>
                  </a:txBody>
                  <a:tcPr marL="274320" marR="274320" marT="73152" marB="73152" anchor="ctr">
                    <a:solidFill>
                      <a:srgbClr val="F6EEE3"/>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6EEE3"/>
                    </a:solidFill>
                  </a:tcPr>
                </a:tc>
                <a:extLst>
                  <a:ext uri="{0D108BD9-81ED-4DB2-BD59-A6C34878D82A}">
                    <a16:rowId xmlns:a16="http://schemas.microsoft.com/office/drawing/2014/main" val="10007"/>
                  </a:ext>
                </a:extLst>
              </a:tr>
              <a:tr h="977101">
                <a:tc>
                  <a:txBody>
                    <a:bodyPr/>
                    <a:lstStyle/>
                    <a:p>
                      <a:pPr>
                        <a:lnSpc>
                          <a:spcPct val="112000"/>
                        </a:lnSpc>
                      </a:pPr>
                      <a:r>
                        <a:rPr sz="1700" b="0">
                          <a:solidFill>
                            <a:srgbClr val="4A3B31"/>
                          </a:solidFill>
                          <a:latin typeface="Google Sans SemiBold"/>
                        </a:rPr>
                        <a:t>16</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Exported build</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Exe runs; shift done with mouse</a:t>
                      </a:r>
                    </a:p>
                  </a:txBody>
                  <a:tcPr marL="274320" marR="274320" marT="73152" marB="73152" anchor="ctr">
                    <a:solidFill>
                      <a:srgbClr val="F0E4D5"/>
                    </a:solidFill>
                  </a:tcPr>
                </a:tc>
                <a:tc>
                  <a:txBody>
                    <a:bodyPr/>
                    <a:lstStyle/>
                    <a:p>
                      <a:pPr>
                        <a:lnSpc>
                          <a:spcPct val="112000"/>
                        </a:lnSpc>
                      </a:pPr>
                      <a:r>
                        <a:rPr sz="1700" b="0">
                          <a:solidFill>
                            <a:srgbClr val="4A3B31"/>
                          </a:solidFill>
                          <a:latin typeface="Google Sans"/>
                        </a:rPr>
                        <a:t>☐ Pass  ☐ Fail</a:t>
                      </a:r>
                    </a:p>
                  </a:txBody>
                  <a:tcPr marL="274320" marR="274320" marT="73152" marB="73152" anchor="ctr">
                    <a:solidFill>
                      <a:srgbClr val="F0E4D5"/>
                    </a:solidFill>
                  </a:tcPr>
                </a:tc>
                <a:extLst>
                  <a:ext uri="{0D108BD9-81ED-4DB2-BD59-A6C34878D82A}">
                    <a16:rowId xmlns:a16="http://schemas.microsoft.com/office/drawing/2014/main" val="10008"/>
                  </a:ext>
                </a:extLst>
              </a:tr>
            </a:tbl>
          </a:graphicData>
        </a:graphic>
      </p:graphicFrame>
      <p:sp>
        <p:nvSpPr>
          <p:cNvPr id="8" name="TextBox 7"/>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9" name="TextBox 8"/>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11317111" cy="10078318"/>
          </a:xfrm>
          <a:prstGeom prst="rect">
            <a:avLst/>
          </a:prstGeom>
        </p:spPr>
      </p:pic>
      <p:pic>
        <p:nvPicPr>
          <p:cNvPr id="9" name="Image 2"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54032" y="3251200"/>
            <a:ext cx="13768521" cy="8166100"/>
          </a:xfrm>
          <a:prstGeom prst="rect">
            <a:avLst/>
          </a:prstGeom>
        </p:spPr>
      </p:pic>
      <p:sp>
        <p:nvSpPr>
          <p:cNvPr id="10" name="TextBox 9"/>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11 · EXPORTED-BUILD CHECK</a:t>
            </a:r>
          </a:p>
        </p:txBody>
      </p:sp>
      <p:sp>
        <p:nvSpPr>
          <p:cNvPr id="11" name="TextBox 10"/>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Runs outside Unity, no headset</a:t>
            </a:r>
          </a:p>
        </p:txBody>
      </p:sp>
      <p:pic>
        <p:nvPicPr>
          <p:cNvPr id="12" name="Picture 11" descr="crop_exe_launch.png_10.82x7.10.png"/>
          <p:cNvPicPr>
            <a:picLocks noChangeAspect="1"/>
          </p:cNvPicPr>
          <p:nvPr/>
        </p:nvPicPr>
        <p:blipFill>
          <a:blip r:embed="rId7"/>
          <a:stretch>
            <a:fillRect/>
          </a:stretch>
        </p:blipFill>
        <p:spPr>
          <a:xfrm>
            <a:off x="2185416" y="3593592"/>
            <a:ext cx="9893808" cy="6492240"/>
          </a:xfrm>
          <a:prstGeom prst="rect">
            <a:avLst/>
          </a:prstGeom>
        </p:spPr>
      </p:pic>
      <p:sp>
        <p:nvSpPr>
          <p:cNvPr id="13" name="TextBox 12"/>
          <p:cNvSpPr txBox="1"/>
          <p:nvPr/>
        </p:nvSpPr>
        <p:spPr>
          <a:xfrm>
            <a:off x="2185416" y="11658600"/>
            <a:ext cx="9893808" cy="457200"/>
          </a:xfrm>
          <a:prstGeom prst="rect">
            <a:avLst/>
          </a:prstGeom>
          <a:noFill/>
        </p:spPr>
        <p:txBody>
          <a:bodyPr wrap="square" lIns="0" tIns="0" rIns="0" bIns="0" anchor="t">
            <a:noAutofit/>
          </a:bodyPr>
          <a:lstStyle/>
          <a:p>
            <a:pPr algn="ctr">
              <a:lnSpc>
                <a:spcPct val="118000"/>
              </a:lnSpc>
              <a:spcAft>
                <a:spcPts val="0"/>
              </a:spcAft>
            </a:pPr>
            <a:r>
              <a:rPr sz="1700" b="0">
                <a:solidFill>
                  <a:srgbClr val="8A7260"/>
                </a:solidFill>
                <a:latin typeface="Google Sans"/>
              </a:rPr>
              <a:t>Launching Builds/Windows/BaristaVR.exe after a successful build</a:t>
            </a:r>
          </a:p>
        </p:txBody>
      </p:sp>
      <p:sp>
        <p:nvSpPr>
          <p:cNvPr id="14" name="TextBox 13"/>
          <p:cNvSpPr txBox="1"/>
          <p:nvPr/>
        </p:nvSpPr>
        <p:spPr>
          <a:xfrm>
            <a:off x="14264640" y="356616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HOW IT'S BUILT</a:t>
            </a:r>
          </a:p>
          <a:p>
            <a:pPr algn="l">
              <a:lnSpc>
                <a:spcPct val="120000"/>
              </a:lnSpc>
              <a:spcAft>
                <a:spcPts val="0"/>
              </a:spcAft>
            </a:pPr>
            <a:r>
              <a:rPr sz="2400" b="0">
                <a:solidFill>
                  <a:srgbClr val="2B221D"/>
                </a:solidFill>
                <a:latin typeface="Google Sans"/>
              </a:rPr>
              <a:t>Barista ▸ Build Windows Player regenerates and saves the scene, then builds the exe.</a:t>
            </a:r>
          </a:p>
        </p:txBody>
      </p:sp>
      <p:sp>
        <p:nvSpPr>
          <p:cNvPr id="15" name="TextBox 14"/>
          <p:cNvSpPr txBox="1"/>
          <p:nvPr/>
        </p:nvSpPr>
        <p:spPr>
          <a:xfrm>
            <a:off x="14264640" y="571500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HOW IT'S DRIVEN</a:t>
            </a:r>
          </a:p>
          <a:p>
            <a:pPr algn="l">
              <a:lnSpc>
                <a:spcPct val="120000"/>
              </a:lnSpc>
              <a:spcAft>
                <a:spcPts val="0"/>
              </a:spcAft>
            </a:pPr>
            <a:r>
              <a:rPr sz="2400" b="0">
                <a:solidFill>
                  <a:srgbClr val="2B221D"/>
                </a:solidFill>
                <a:latin typeface="Google Sans"/>
              </a:rPr>
              <a:t>Keyboard and mouse bindings on the same XRI actions; the simulator isn't in a build.</a:t>
            </a:r>
          </a:p>
        </p:txBody>
      </p:sp>
      <p:sp>
        <p:nvSpPr>
          <p:cNvPr id="16" name="TextBox 15"/>
          <p:cNvSpPr txBox="1"/>
          <p:nvPr/>
        </p:nvSpPr>
        <p:spPr>
          <a:xfrm>
            <a:off x="14264640" y="786384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WHAT WE SAW</a:t>
            </a:r>
          </a:p>
          <a:p>
            <a:pPr algn="l">
              <a:lnSpc>
                <a:spcPct val="120000"/>
              </a:lnSpc>
              <a:spcAft>
                <a:spcPts val="0"/>
              </a:spcAft>
            </a:pPr>
            <a:r>
              <a:rPr sz="2400" b="0">
                <a:solidFill>
                  <a:srgbClr val="2B221D"/>
                </a:solidFill>
                <a:latin typeface="Google Sans"/>
              </a:rPr>
              <a:t>Recorded run: launch to verdict in about 1.5 min. Shot 1 at 19.1 s → Sour; milk 65 °C.</a:t>
            </a:r>
          </a:p>
        </p:txBody>
      </p:sp>
      <p:sp>
        <p:nvSpPr>
          <p:cNvPr id="17" name="TextBox 16"/>
          <p:cNvSpPr txBox="1"/>
          <p:nvPr/>
        </p:nvSpPr>
        <p:spPr>
          <a:xfrm>
            <a:off x="14264640" y="10012680"/>
            <a:ext cx="8476488" cy="2011680"/>
          </a:xfrm>
          <a:prstGeom prst="rect">
            <a:avLst/>
          </a:prstGeom>
          <a:noFill/>
        </p:spPr>
        <p:txBody>
          <a:bodyPr wrap="square" lIns="0" tIns="0" rIns="0" bIns="0" anchor="t">
            <a:noAutofit/>
          </a:bodyPr>
          <a:lstStyle/>
          <a:p>
            <a:pPr algn="l">
              <a:lnSpc>
                <a:spcPct val="120000"/>
              </a:lnSpc>
              <a:spcAft>
                <a:spcPts val="600"/>
              </a:spcAft>
            </a:pPr>
            <a:r>
              <a:rPr sz="1500" b="0" spc="200">
                <a:solidFill>
                  <a:srgbClr val="9A5F33"/>
                </a:solidFill>
                <a:latin typeface="Google Sans SemiBold"/>
              </a:rPr>
              <a:t>FOUND &amp; FIXED</a:t>
            </a:r>
          </a:p>
          <a:p>
            <a:pPr algn="l">
              <a:lnSpc>
                <a:spcPct val="120000"/>
              </a:lnSpc>
              <a:spcAft>
                <a:spcPts val="0"/>
              </a:spcAft>
            </a:pPr>
            <a:r>
              <a:rPr sz="2400" b="0">
                <a:solidFill>
                  <a:srgbClr val="2B221D"/>
                </a:solidFill>
                <a:latin typeface="Google Sans"/>
              </a:rPr>
              <a:t>The exe once showed an old scene, so the build now rebuilds the scene first.</a:t>
            </a:r>
          </a:p>
        </p:txBody>
      </p:sp>
      <p:sp>
        <p:nvSpPr>
          <p:cNvPr id="18" name="TextBox 17"/>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19" name="TextBox 18"/>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5318115" y="0"/>
            <a:ext cx="9068933" cy="7315202"/>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7988502"/>
            <a:ext cx="7049381" cy="5727498"/>
          </a:xfrm>
          <a:prstGeom prst="rect">
            <a:avLst/>
          </a:prstGeom>
        </p:spPr>
      </p:pic>
      <p:pic>
        <p:nvPicPr>
          <p:cNvPr id="6" name="Image 3" descr=" "/>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06669" y="9994570"/>
            <a:ext cx="2671709" cy="3413288"/>
          </a:xfrm>
          <a:prstGeom prst="rect">
            <a:avLst/>
          </a:prstGeom>
        </p:spPr>
      </p:pic>
      <p:sp>
        <p:nvSpPr>
          <p:cNvPr id="7" name="TextBox 6"/>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12 · CHALLENGES &amp; SOLUTIONS</a:t>
            </a:r>
          </a:p>
        </p:txBody>
      </p:sp>
      <p:sp>
        <p:nvSpPr>
          <p:cNvPr id="8" name="TextBox 7"/>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What went wrong, and how we fixed it</a:t>
            </a:r>
          </a:p>
        </p:txBody>
      </p:sp>
      <p:sp>
        <p:nvSpPr>
          <p:cNvPr id="9" name="Rounded Rectangle 8"/>
          <p:cNvSpPr/>
          <p:nvPr/>
        </p:nvSpPr>
        <p:spPr>
          <a:xfrm>
            <a:off x="1645920" y="3566160"/>
            <a:ext cx="6757416" cy="3958742"/>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148840" y="4069080"/>
            <a:ext cx="5751576" cy="2952902"/>
          </a:xfrm>
          <a:prstGeom prst="rect">
            <a:avLst/>
          </a:prstGeom>
          <a:noFill/>
        </p:spPr>
        <p:txBody>
          <a:bodyPr wrap="square" lIns="0" tIns="0" rIns="0" bIns="0" anchor="t">
            <a:noAutofit/>
          </a:bodyPr>
          <a:lstStyle/>
          <a:p>
            <a:pPr algn="l">
              <a:lnSpc>
                <a:spcPct val="120000"/>
              </a:lnSpc>
              <a:spcAft>
                <a:spcPts val="1000"/>
              </a:spcAft>
            </a:pPr>
            <a:r>
              <a:rPr sz="2700" b="0">
                <a:solidFill>
                  <a:srgbClr val="E9D7C2"/>
                </a:solidFill>
                <a:latin typeface="Google Sans SemiBold"/>
              </a:rPr>
              <a:t>Unreadable floating text</a:t>
            </a:r>
          </a:p>
          <a:p>
            <a:pPr algn="l">
              <a:lnSpc>
                <a:spcPct val="120000"/>
              </a:lnSpc>
              <a:spcAft>
                <a:spcPts val="1600"/>
              </a:spcAft>
            </a:pPr>
            <a:r>
              <a:rPr sz="2200" b="0">
                <a:solidFill>
                  <a:srgbClr val="C9B29B"/>
                </a:solidFill>
                <a:latin typeface="Google Sans"/>
              </a:rPr>
              <a:t>Labels blended into the café and showed through the hands.</a:t>
            </a:r>
          </a:p>
          <a:p>
            <a:pPr algn="l">
              <a:lnSpc>
                <a:spcPct val="120000"/>
              </a:lnSpc>
              <a:spcAft>
                <a:spcPts val="400"/>
              </a:spcAft>
            </a:pPr>
            <a:r>
              <a:rPr sz="1400" b="0" spc="200">
                <a:solidFill>
                  <a:srgbClr val="D0955F"/>
                </a:solidFill>
                <a:latin typeface="Google Sans SemiBold"/>
              </a:rPr>
              <a:t>FIX</a:t>
            </a:r>
          </a:p>
          <a:p>
            <a:pPr algn="l">
              <a:lnSpc>
                <a:spcPct val="120000"/>
              </a:lnSpc>
              <a:spcAft>
                <a:spcPts val="0"/>
              </a:spcAft>
            </a:pPr>
            <a:r>
              <a:rPr sz="2200" b="0">
                <a:solidFill>
                  <a:srgbClr val="E9D7C2"/>
                </a:solidFill>
                <a:latin typeface="Google Sans"/>
              </a:rPr>
              <a:t>Custom WorldText shader with a hard edge, plus backdrop plates.</a:t>
            </a:r>
          </a:p>
        </p:txBody>
      </p:sp>
      <p:sp>
        <p:nvSpPr>
          <p:cNvPr id="11" name="Rounded Rectangle 10"/>
          <p:cNvSpPr/>
          <p:nvPr/>
        </p:nvSpPr>
        <p:spPr>
          <a:xfrm>
            <a:off x="8814816" y="3566160"/>
            <a:ext cx="6757416" cy="3958742"/>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17736" y="4069080"/>
            <a:ext cx="5751576" cy="2952902"/>
          </a:xfrm>
          <a:prstGeom prst="rect">
            <a:avLst/>
          </a:prstGeom>
          <a:noFill/>
        </p:spPr>
        <p:txBody>
          <a:bodyPr wrap="square" lIns="0" tIns="0" rIns="0" bIns="0" anchor="t">
            <a:noAutofit/>
          </a:bodyPr>
          <a:lstStyle/>
          <a:p>
            <a:pPr algn="l">
              <a:lnSpc>
                <a:spcPct val="120000"/>
              </a:lnSpc>
              <a:spcAft>
                <a:spcPts val="1000"/>
              </a:spcAft>
            </a:pPr>
            <a:r>
              <a:rPr sz="2700" b="0">
                <a:solidFill>
                  <a:srgbClr val="E9D7C2"/>
                </a:solidFill>
                <a:latin typeface="Google Sans SemiBold"/>
              </a:rPr>
              <a:t>Exe showed an old scene</a:t>
            </a:r>
          </a:p>
          <a:p>
            <a:pPr algn="l">
              <a:lnSpc>
                <a:spcPct val="120000"/>
              </a:lnSpc>
              <a:spcAft>
                <a:spcPts val="1600"/>
              </a:spcAft>
            </a:pPr>
            <a:r>
              <a:rPr sz="2200" b="0">
                <a:solidFill>
                  <a:srgbClr val="C9B29B"/>
                </a:solidFill>
                <a:latin typeface="Google Sans"/>
              </a:rPr>
              <a:t>The build used the last saved scene, not the generated one.</a:t>
            </a:r>
          </a:p>
          <a:p>
            <a:pPr algn="l">
              <a:lnSpc>
                <a:spcPct val="120000"/>
              </a:lnSpc>
              <a:spcAft>
                <a:spcPts val="400"/>
              </a:spcAft>
            </a:pPr>
            <a:r>
              <a:rPr sz="1400" b="0" spc="200">
                <a:solidFill>
                  <a:srgbClr val="D0955F"/>
                </a:solidFill>
                <a:latin typeface="Google Sans SemiBold"/>
              </a:rPr>
              <a:t>FIX</a:t>
            </a:r>
          </a:p>
          <a:p>
            <a:pPr algn="l">
              <a:lnSpc>
                <a:spcPct val="120000"/>
              </a:lnSpc>
              <a:spcAft>
                <a:spcPts val="0"/>
              </a:spcAft>
            </a:pPr>
            <a:r>
              <a:rPr sz="2200" b="0">
                <a:solidFill>
                  <a:srgbClr val="E9D7C2"/>
                </a:solidFill>
                <a:latin typeface="Google Sans"/>
              </a:rPr>
              <a:t>The build menu now regenerates and saves the scene first.</a:t>
            </a:r>
          </a:p>
        </p:txBody>
      </p:sp>
      <p:sp>
        <p:nvSpPr>
          <p:cNvPr id="13" name="Rounded Rectangle 12"/>
          <p:cNvSpPr/>
          <p:nvPr/>
        </p:nvSpPr>
        <p:spPr>
          <a:xfrm>
            <a:off x="15983712" y="3566160"/>
            <a:ext cx="6757416" cy="3958742"/>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486632" y="4069080"/>
            <a:ext cx="5751576" cy="2952902"/>
          </a:xfrm>
          <a:prstGeom prst="rect">
            <a:avLst/>
          </a:prstGeom>
          <a:noFill/>
        </p:spPr>
        <p:txBody>
          <a:bodyPr wrap="square" lIns="0" tIns="0" rIns="0" bIns="0" anchor="t">
            <a:noAutofit/>
          </a:bodyPr>
          <a:lstStyle/>
          <a:p>
            <a:pPr algn="l">
              <a:lnSpc>
                <a:spcPct val="120000"/>
              </a:lnSpc>
              <a:spcAft>
                <a:spcPts val="1000"/>
              </a:spcAft>
            </a:pPr>
            <a:r>
              <a:rPr sz="2700" b="0">
                <a:solidFill>
                  <a:srgbClr val="E9D7C2"/>
                </a:solidFill>
                <a:latin typeface="Google Sans SemiBold"/>
              </a:rPr>
              <a:t>Buttons pressed by accident</a:t>
            </a:r>
          </a:p>
          <a:p>
            <a:pPr algn="l">
              <a:lnSpc>
                <a:spcPct val="120000"/>
              </a:lnSpc>
              <a:spcAft>
                <a:spcPts val="1600"/>
              </a:spcAft>
            </a:pPr>
            <a:r>
              <a:rPr sz="2200" b="0">
                <a:solidFill>
                  <a:srgbClr val="C9B29B"/>
                </a:solidFill>
                <a:latin typeface="Google Sans"/>
              </a:rPr>
              <a:t>Counter buttons sat in the working area.</a:t>
            </a:r>
          </a:p>
          <a:p>
            <a:pPr algn="l">
              <a:lnSpc>
                <a:spcPct val="120000"/>
              </a:lnSpc>
              <a:spcAft>
                <a:spcPts val="400"/>
              </a:spcAft>
            </a:pPr>
            <a:r>
              <a:rPr sz="1400" b="0" spc="200">
                <a:solidFill>
                  <a:srgbClr val="D0955F"/>
                </a:solidFill>
                <a:latin typeface="Google Sans SemiBold"/>
              </a:rPr>
              <a:t>FIX</a:t>
            </a:r>
          </a:p>
          <a:p>
            <a:pPr algn="l">
              <a:lnSpc>
                <a:spcPct val="120000"/>
              </a:lnSpc>
              <a:spcAft>
                <a:spcPts val="0"/>
              </a:spcAft>
            </a:pPr>
            <a:r>
              <a:rPr sz="2200" b="0">
                <a:solidFill>
                  <a:srgbClr val="E9D7C2"/>
                </a:solidFill>
                <a:latin typeface="Google Sans"/>
              </a:rPr>
              <a:t>Moved to a back-wall station panel; Reset and Exit need two presses.</a:t>
            </a:r>
          </a:p>
        </p:txBody>
      </p:sp>
      <p:sp>
        <p:nvSpPr>
          <p:cNvPr id="15" name="Rounded Rectangle 14"/>
          <p:cNvSpPr/>
          <p:nvPr/>
        </p:nvSpPr>
        <p:spPr>
          <a:xfrm>
            <a:off x="1645920" y="7936382"/>
            <a:ext cx="6757416" cy="3958742"/>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48840" y="8439302"/>
            <a:ext cx="5751576" cy="2952902"/>
          </a:xfrm>
          <a:prstGeom prst="rect">
            <a:avLst/>
          </a:prstGeom>
          <a:noFill/>
        </p:spPr>
        <p:txBody>
          <a:bodyPr wrap="square" lIns="0" tIns="0" rIns="0" bIns="0" anchor="t">
            <a:noAutofit/>
          </a:bodyPr>
          <a:lstStyle/>
          <a:p>
            <a:pPr algn="l">
              <a:lnSpc>
                <a:spcPct val="120000"/>
              </a:lnSpc>
              <a:spcAft>
                <a:spcPts val="1000"/>
              </a:spcAft>
            </a:pPr>
            <a:r>
              <a:rPr sz="2700" b="0">
                <a:solidFill>
                  <a:srgbClr val="E9D7C2"/>
                </a:solidFill>
                <a:latin typeface="Google Sans SemiBold"/>
              </a:rPr>
              <a:t>Floaty, jumpy tools</a:t>
            </a:r>
          </a:p>
          <a:p>
            <a:pPr algn="l">
              <a:lnSpc>
                <a:spcPct val="120000"/>
              </a:lnSpc>
              <a:spcAft>
                <a:spcPts val="1600"/>
              </a:spcAft>
            </a:pPr>
            <a:r>
              <a:rPr sz="2200" b="0">
                <a:solidFill>
                  <a:srgbClr val="C9B29B"/>
                </a:solidFill>
                <a:latin typeface="Google Sans"/>
              </a:rPr>
              <a:t>Cups and pitchers had no weight and flew off.</a:t>
            </a:r>
          </a:p>
          <a:p>
            <a:pPr algn="l">
              <a:lnSpc>
                <a:spcPct val="120000"/>
              </a:lnSpc>
              <a:spcAft>
                <a:spcPts val="400"/>
              </a:spcAft>
            </a:pPr>
            <a:r>
              <a:rPr sz="1400" b="0" spc="200">
                <a:solidFill>
                  <a:srgbClr val="D0955F"/>
                </a:solidFill>
                <a:latin typeface="Google Sans SemiBold"/>
              </a:rPr>
              <a:t>FIX</a:t>
            </a:r>
          </a:p>
          <a:p>
            <a:pPr algn="l">
              <a:lnSpc>
                <a:spcPct val="120000"/>
              </a:lnSpc>
              <a:spcAft>
                <a:spcPts val="0"/>
              </a:spcAft>
            </a:pPr>
            <a:r>
              <a:rPr sz="2200" b="0">
                <a:solidFill>
                  <a:srgbClr val="E9D7C2"/>
                </a:solidFill>
                <a:latin typeface="Google Sans"/>
              </a:rPr>
              <a:t>Capped velocity tracking, smoothing, 90 Hz physics, settle on release.</a:t>
            </a:r>
          </a:p>
        </p:txBody>
      </p:sp>
      <p:sp>
        <p:nvSpPr>
          <p:cNvPr id="17" name="Rounded Rectangle 16"/>
          <p:cNvSpPr/>
          <p:nvPr/>
        </p:nvSpPr>
        <p:spPr>
          <a:xfrm>
            <a:off x="8814816" y="7936382"/>
            <a:ext cx="6757416" cy="3958742"/>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17736" y="8439302"/>
            <a:ext cx="5751576" cy="2952902"/>
          </a:xfrm>
          <a:prstGeom prst="rect">
            <a:avLst/>
          </a:prstGeom>
          <a:noFill/>
        </p:spPr>
        <p:txBody>
          <a:bodyPr wrap="square" lIns="0" tIns="0" rIns="0" bIns="0" anchor="t">
            <a:noAutofit/>
          </a:bodyPr>
          <a:lstStyle/>
          <a:p>
            <a:pPr algn="l">
              <a:lnSpc>
                <a:spcPct val="120000"/>
              </a:lnSpc>
              <a:spcAft>
                <a:spcPts val="1000"/>
              </a:spcAft>
            </a:pPr>
            <a:r>
              <a:rPr sz="2700" b="0">
                <a:solidFill>
                  <a:srgbClr val="E9D7C2"/>
                </a:solidFill>
                <a:latin typeface="Google Sans SemiBold"/>
              </a:rPr>
              <a:t>Tools passed through things</a:t>
            </a:r>
          </a:p>
          <a:p>
            <a:pPr algn="l">
              <a:lnSpc>
                <a:spcPct val="120000"/>
              </a:lnSpc>
              <a:spcAft>
                <a:spcPts val="1600"/>
              </a:spcAft>
            </a:pPr>
            <a:r>
              <a:rPr sz="2200" b="0">
                <a:solidFill>
                  <a:srgbClr val="C9B29B"/>
                </a:solidFill>
                <a:latin typeface="Google Sans"/>
              </a:rPr>
              <a:t>Kinematic grabs ignored the counter and machine.</a:t>
            </a:r>
          </a:p>
          <a:p>
            <a:pPr algn="l">
              <a:lnSpc>
                <a:spcPct val="120000"/>
              </a:lnSpc>
              <a:spcAft>
                <a:spcPts val="400"/>
              </a:spcAft>
            </a:pPr>
            <a:r>
              <a:rPr sz="1400" b="0" spc="200">
                <a:solidFill>
                  <a:srgbClr val="D0955F"/>
                </a:solidFill>
                <a:latin typeface="Google Sans SemiBold"/>
              </a:rPr>
              <a:t>FIX</a:t>
            </a:r>
          </a:p>
          <a:p>
            <a:pPr algn="l">
              <a:lnSpc>
                <a:spcPct val="120000"/>
              </a:lnSpc>
              <a:spcAft>
                <a:spcPts val="0"/>
              </a:spcAft>
            </a:pPr>
            <a:r>
              <a:rPr sz="2200" b="0">
                <a:solidFill>
                  <a:srgbClr val="E9D7C2"/>
                </a:solidFill>
                <a:latin typeface="Google Sans"/>
              </a:rPr>
              <a:t>Physical grabs with capped push-out; ignores only where parts nest.</a:t>
            </a:r>
          </a:p>
        </p:txBody>
      </p:sp>
      <p:sp>
        <p:nvSpPr>
          <p:cNvPr id="19" name="Rounded Rectangle 18"/>
          <p:cNvSpPr/>
          <p:nvPr/>
        </p:nvSpPr>
        <p:spPr>
          <a:xfrm>
            <a:off x="15983712" y="7936382"/>
            <a:ext cx="6757416" cy="3958742"/>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6486632" y="8439302"/>
            <a:ext cx="5751576" cy="2952902"/>
          </a:xfrm>
          <a:prstGeom prst="rect">
            <a:avLst/>
          </a:prstGeom>
          <a:noFill/>
        </p:spPr>
        <p:txBody>
          <a:bodyPr wrap="square" lIns="0" tIns="0" rIns="0" bIns="0" anchor="t">
            <a:noAutofit/>
          </a:bodyPr>
          <a:lstStyle/>
          <a:p>
            <a:pPr algn="l">
              <a:lnSpc>
                <a:spcPct val="120000"/>
              </a:lnSpc>
              <a:spcAft>
                <a:spcPts val="1000"/>
              </a:spcAft>
            </a:pPr>
            <a:r>
              <a:rPr sz="2700" b="0">
                <a:solidFill>
                  <a:srgbClr val="E9D7C2"/>
                </a:solidFill>
                <a:latin typeface="Google Sans SemiBold"/>
              </a:rPr>
              <a:t>Wobbly, sideways tamper</a:t>
            </a:r>
          </a:p>
          <a:p>
            <a:pPr algn="l">
              <a:lnSpc>
                <a:spcPct val="120000"/>
              </a:lnSpc>
              <a:spcAft>
                <a:spcPts val="1600"/>
              </a:spcAft>
            </a:pPr>
            <a:r>
              <a:rPr sz="2200" b="0">
                <a:solidFill>
                  <a:srgbClr val="C9B29B"/>
                </a:solidFill>
                <a:latin typeface="Google Sans"/>
              </a:rPr>
              <a:t>It tilted in the hand and lay flat when tamping.</a:t>
            </a:r>
          </a:p>
          <a:p>
            <a:pPr algn="l">
              <a:lnSpc>
                <a:spcPct val="120000"/>
              </a:lnSpc>
              <a:spcAft>
                <a:spcPts val="400"/>
              </a:spcAft>
            </a:pPr>
            <a:r>
              <a:rPr sz="1400" b="0" spc="200">
                <a:solidFill>
                  <a:srgbClr val="D0955F"/>
                </a:solidFill>
                <a:latin typeface="Google Sans SemiBold"/>
              </a:rPr>
              <a:t>FIX</a:t>
            </a:r>
          </a:p>
          <a:p>
            <a:pPr algn="l">
              <a:lnSpc>
                <a:spcPct val="120000"/>
              </a:lnSpc>
              <a:spcAft>
                <a:spcPts val="0"/>
              </a:spcAft>
            </a:pPr>
            <a:r>
              <a:rPr sz="2200" b="0">
                <a:solidFill>
                  <a:srgbClr val="E9D7C2"/>
                </a:solidFill>
                <a:latin typeface="Google Sans"/>
              </a:rPr>
              <a:t>Custom grab transformer: upright grip, limited wrist follow.</a:t>
            </a:r>
          </a:p>
        </p:txBody>
      </p:sp>
      <p:sp>
        <p:nvSpPr>
          <p:cNvPr id="21" name="TextBox 20"/>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22" name="TextBox 21"/>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13 · LIMITATIONS &amp; CONSTRAINTS</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What the simulator could not tell us</a:t>
            </a:r>
          </a:p>
        </p:txBody>
      </p:sp>
      <p:graphicFrame>
        <p:nvGraphicFramePr>
          <p:cNvPr id="5" name="Table 4"/>
          <p:cNvGraphicFramePr>
            <a:graphicFrameLocks noGrp="1"/>
          </p:cNvGraphicFramePr>
          <p:nvPr/>
        </p:nvGraphicFramePr>
        <p:xfrm>
          <a:off x="1645920" y="3566160"/>
          <a:ext cx="21095207" cy="6912864"/>
        </p:xfrm>
        <a:graphic>
          <a:graphicData uri="http://schemas.openxmlformats.org/drawingml/2006/table">
            <a:tbl>
              <a:tblPr firstRow="1" bandRow="1">
                <a:tableStyleId>{2D5ABB26-0587-4C30-8999-92F81FD0307C}</a:tableStyleId>
              </a:tblPr>
              <a:tblGrid>
                <a:gridCol w="5120640">
                  <a:extLst>
                    <a:ext uri="{9D8B030D-6E8A-4147-A177-3AD203B41FA5}">
                      <a16:colId xmlns:a16="http://schemas.microsoft.com/office/drawing/2014/main" val="20000"/>
                    </a:ext>
                  </a:extLst>
                </a:gridCol>
                <a:gridCol w="15974567">
                  <a:extLst>
                    <a:ext uri="{9D8B030D-6E8A-4147-A177-3AD203B41FA5}">
                      <a16:colId xmlns:a16="http://schemas.microsoft.com/office/drawing/2014/main" val="20001"/>
                    </a:ext>
                  </a:extLst>
                </a:gridCol>
              </a:tblGrid>
              <a:tr h="768096">
                <a:tc>
                  <a:txBody>
                    <a:bodyPr/>
                    <a:lstStyle/>
                    <a:p>
                      <a:pPr>
                        <a:lnSpc>
                          <a:spcPct val="112000"/>
                        </a:lnSpc>
                      </a:pPr>
                      <a:r>
                        <a:rPr sz="1700" b="0" spc="150">
                          <a:solidFill>
                            <a:srgbClr val="E9D7C2"/>
                          </a:solidFill>
                          <a:latin typeface="Google Sans SemiBold"/>
                        </a:rPr>
                        <a:t>COULD NOT VERIFY</a:t>
                      </a:r>
                    </a:p>
                  </a:txBody>
                  <a:tcPr marL="274320" marR="274320" marT="73152" marB="73152" anchor="ctr">
                    <a:solidFill>
                      <a:srgbClr val="3D261A"/>
                    </a:solidFill>
                  </a:tcPr>
                </a:tc>
                <a:tc>
                  <a:txBody>
                    <a:bodyPr/>
                    <a:lstStyle/>
                    <a:p>
                      <a:pPr>
                        <a:lnSpc>
                          <a:spcPct val="112000"/>
                        </a:lnSpc>
                      </a:pPr>
                      <a:r>
                        <a:rPr sz="1700" b="0" spc="150">
                          <a:solidFill>
                            <a:srgbClr val="E9D7C2"/>
                          </a:solidFill>
                          <a:latin typeface="Google Sans SemiBold"/>
                        </a:rPr>
                        <a:t>PUBLISHED GUIDANCE OR SAFE DEFAULT USED INSTEAD</a:t>
                      </a:r>
                    </a:p>
                  </a:txBody>
                  <a:tcPr marL="274320" marR="274320" marT="73152" marB="73152" anchor="ctr">
                    <a:solidFill>
                      <a:srgbClr val="3D261A"/>
                    </a:solidFill>
                  </a:tcPr>
                </a:tc>
                <a:extLst>
                  <a:ext uri="{0D108BD9-81ED-4DB2-BD59-A6C34878D82A}">
                    <a16:rowId xmlns:a16="http://schemas.microsoft.com/office/drawing/2014/main" val="10000"/>
                  </a:ext>
                </a:extLst>
              </a:tr>
              <a:tr h="1024128">
                <a:tc>
                  <a:txBody>
                    <a:bodyPr/>
                    <a:lstStyle/>
                    <a:p>
                      <a:pPr>
                        <a:lnSpc>
                          <a:spcPct val="112000"/>
                        </a:lnSpc>
                      </a:pPr>
                      <a:r>
                        <a:rPr sz="2000" b="0">
                          <a:solidFill>
                            <a:srgbClr val="4A3B31"/>
                          </a:solidFill>
                          <a:latin typeface="Google Sans SemiBold"/>
                        </a:rPr>
                        <a:t>Comfort</a:t>
                      </a:r>
                    </a:p>
                  </a:txBody>
                  <a:tcPr marL="274320" marR="274320" marT="73152" marB="73152" anchor="ctr">
                    <a:solidFill>
                      <a:srgbClr val="F6EEE3"/>
                    </a:solidFill>
                  </a:tcPr>
                </a:tc>
                <a:tc>
                  <a:txBody>
                    <a:bodyPr/>
                    <a:lstStyle/>
                    <a:p>
                      <a:pPr>
                        <a:lnSpc>
                          <a:spcPct val="112000"/>
                        </a:lnSpc>
                      </a:pPr>
                      <a:r>
                        <a:rPr sz="2000" b="0">
                          <a:solidFill>
                            <a:srgbClr val="4A3B31"/>
                          </a:solidFill>
                          <a:latin typeface="Google Sans"/>
                        </a:rPr>
                        <a:t>Seated, stationary, snap turn only, no artificial motion (Meta comfort guidance; LaViola, 2000)</a:t>
                      </a:r>
                    </a:p>
                  </a:txBody>
                  <a:tcPr marL="274320" marR="274320" marT="73152" marB="73152" anchor="ctr">
                    <a:solidFill>
                      <a:srgbClr val="F6EEE3"/>
                    </a:solidFill>
                  </a:tcPr>
                </a:tc>
                <a:extLst>
                  <a:ext uri="{0D108BD9-81ED-4DB2-BD59-A6C34878D82A}">
                    <a16:rowId xmlns:a16="http://schemas.microsoft.com/office/drawing/2014/main" val="10001"/>
                  </a:ext>
                </a:extLst>
              </a:tr>
              <a:tr h="1024128">
                <a:tc>
                  <a:txBody>
                    <a:bodyPr/>
                    <a:lstStyle/>
                    <a:p>
                      <a:pPr>
                        <a:lnSpc>
                          <a:spcPct val="112000"/>
                        </a:lnSpc>
                      </a:pPr>
                      <a:r>
                        <a:rPr sz="2000" b="0">
                          <a:solidFill>
                            <a:srgbClr val="4A3B31"/>
                          </a:solidFill>
                          <a:latin typeface="Google Sans SemiBold"/>
                        </a:rPr>
                        <a:t>Scale &amp; reach</a:t>
                      </a:r>
                    </a:p>
                  </a:txBody>
                  <a:tcPr marL="274320" marR="274320" marT="73152" marB="73152" anchor="ctr">
                    <a:solidFill>
                      <a:srgbClr val="F0E4D5"/>
                    </a:solidFill>
                  </a:tcPr>
                </a:tc>
                <a:tc>
                  <a:txBody>
                    <a:bodyPr/>
                    <a:lstStyle/>
                    <a:p>
                      <a:pPr>
                        <a:lnSpc>
                          <a:spcPct val="112000"/>
                        </a:lnSpc>
                      </a:pPr>
                      <a:r>
                        <a:rPr sz="2000" b="0">
                          <a:solidFill>
                            <a:srgbClr val="4A3B31"/>
                          </a:solidFill>
                          <a:latin typeface="Google Sans"/>
                        </a:rPr>
                        <a:t>0.84 m counter, tools 0.4–0.7 m away, real dimensions (58 mm basket, 350 ml pitcher)</a:t>
                      </a:r>
                    </a:p>
                  </a:txBody>
                  <a:tcPr marL="274320" marR="274320" marT="73152" marB="73152" anchor="ctr">
                    <a:solidFill>
                      <a:srgbClr val="F0E4D5"/>
                    </a:solidFill>
                  </a:tcPr>
                </a:tc>
                <a:extLst>
                  <a:ext uri="{0D108BD9-81ED-4DB2-BD59-A6C34878D82A}">
                    <a16:rowId xmlns:a16="http://schemas.microsoft.com/office/drawing/2014/main" val="10002"/>
                  </a:ext>
                </a:extLst>
              </a:tr>
              <a:tr h="1024128">
                <a:tc>
                  <a:txBody>
                    <a:bodyPr/>
                    <a:lstStyle/>
                    <a:p>
                      <a:pPr>
                        <a:lnSpc>
                          <a:spcPct val="112000"/>
                        </a:lnSpc>
                      </a:pPr>
                      <a:r>
                        <a:rPr sz="2000" b="0">
                          <a:solidFill>
                            <a:srgbClr val="4A3B31"/>
                          </a:solidFill>
                          <a:latin typeface="Google Sans SemiBold"/>
                        </a:rPr>
                        <a:t>Presence</a:t>
                      </a:r>
                    </a:p>
                  </a:txBody>
                  <a:tcPr marL="274320" marR="274320" marT="73152" marB="73152" anchor="ctr">
                    <a:solidFill>
                      <a:srgbClr val="F6EEE3"/>
                    </a:solidFill>
                  </a:tcPr>
                </a:tc>
                <a:tc>
                  <a:txBody>
                    <a:bodyPr/>
                    <a:lstStyle/>
                    <a:p>
                      <a:pPr>
                        <a:lnSpc>
                          <a:spcPct val="112000"/>
                        </a:lnSpc>
                      </a:pPr>
                      <a:r>
                        <a:rPr sz="2000" b="0">
                          <a:solidFill>
                            <a:srgbClr val="4A3B31"/>
                          </a:solidFill>
                          <a:latin typeface="Google Sans"/>
                        </a:rPr>
                        <a:t>One coherent café, spatial audio, diegetic UI (Slater &amp; Wilbur, 1997)</a:t>
                      </a:r>
                    </a:p>
                  </a:txBody>
                  <a:tcPr marL="274320" marR="274320" marT="73152" marB="73152" anchor="ctr">
                    <a:solidFill>
                      <a:srgbClr val="F6EEE3"/>
                    </a:solidFill>
                  </a:tcPr>
                </a:tc>
                <a:extLst>
                  <a:ext uri="{0D108BD9-81ED-4DB2-BD59-A6C34878D82A}">
                    <a16:rowId xmlns:a16="http://schemas.microsoft.com/office/drawing/2014/main" val="10003"/>
                  </a:ext>
                </a:extLst>
              </a:tr>
              <a:tr h="1024128">
                <a:tc>
                  <a:txBody>
                    <a:bodyPr/>
                    <a:lstStyle/>
                    <a:p>
                      <a:pPr>
                        <a:lnSpc>
                          <a:spcPct val="112000"/>
                        </a:lnSpc>
                      </a:pPr>
                      <a:r>
                        <a:rPr sz="2000" b="0">
                          <a:solidFill>
                            <a:srgbClr val="4A3B31"/>
                          </a:solidFill>
                          <a:latin typeface="Google Sans SemiBold"/>
                        </a:rPr>
                        <a:t>Text legibility</a:t>
                      </a:r>
                    </a:p>
                  </a:txBody>
                  <a:tcPr marL="274320" marR="274320" marT="73152" marB="73152" anchor="ctr">
                    <a:solidFill>
                      <a:srgbClr val="F0E4D5"/>
                    </a:solidFill>
                  </a:tcPr>
                </a:tc>
                <a:tc>
                  <a:txBody>
                    <a:bodyPr/>
                    <a:lstStyle/>
                    <a:p>
                      <a:pPr>
                        <a:lnSpc>
                          <a:spcPct val="112000"/>
                        </a:lnSpc>
                      </a:pPr>
                      <a:r>
                        <a:rPr sz="2000" b="0">
                          <a:solidFill>
                            <a:srgbClr val="4A3B31"/>
                          </a:solidFill>
                          <a:latin typeface="Google Sans"/>
                        </a:rPr>
                        <a:t>Panels at 0.75–1 m, 1.2–2.4 cm letters, high-contrast backdrops</a:t>
                      </a:r>
                    </a:p>
                  </a:txBody>
                  <a:tcPr marL="274320" marR="274320" marT="73152" marB="73152" anchor="ctr">
                    <a:solidFill>
                      <a:srgbClr val="F0E4D5"/>
                    </a:solidFill>
                  </a:tcPr>
                </a:tc>
                <a:extLst>
                  <a:ext uri="{0D108BD9-81ED-4DB2-BD59-A6C34878D82A}">
                    <a16:rowId xmlns:a16="http://schemas.microsoft.com/office/drawing/2014/main" val="10004"/>
                  </a:ext>
                </a:extLst>
              </a:tr>
              <a:tr h="1024128">
                <a:tc>
                  <a:txBody>
                    <a:bodyPr/>
                    <a:lstStyle/>
                    <a:p>
                      <a:pPr>
                        <a:lnSpc>
                          <a:spcPct val="112000"/>
                        </a:lnSpc>
                      </a:pPr>
                      <a:r>
                        <a:rPr sz="2000" b="0">
                          <a:solidFill>
                            <a:srgbClr val="4A3B31"/>
                          </a:solidFill>
                          <a:latin typeface="Google Sans SemiBold"/>
                        </a:rPr>
                        <a:t>Haptics &amp; force</a:t>
                      </a:r>
                    </a:p>
                  </a:txBody>
                  <a:tcPr marL="274320" marR="274320" marT="73152" marB="73152" anchor="ctr">
                    <a:solidFill>
                      <a:srgbClr val="F6EEE3"/>
                    </a:solidFill>
                  </a:tcPr>
                </a:tc>
                <a:tc>
                  <a:txBody>
                    <a:bodyPr/>
                    <a:lstStyle/>
                    <a:p>
                      <a:pPr>
                        <a:lnSpc>
                          <a:spcPct val="112000"/>
                        </a:lnSpc>
                      </a:pPr>
                      <a:r>
                        <a:rPr sz="2000" b="0">
                          <a:solidFill>
                            <a:srgbClr val="4A3B31"/>
                          </a:solidFill>
                          <a:latin typeface="Google Sans"/>
                        </a:rPr>
                        <a:t>Haptics sent through XRI but not felt in the simulator; controllers can't push back</a:t>
                      </a:r>
                    </a:p>
                  </a:txBody>
                  <a:tcPr marL="274320" marR="274320" marT="73152" marB="73152" anchor="ctr">
                    <a:solidFill>
                      <a:srgbClr val="F6EEE3"/>
                    </a:solidFill>
                  </a:tcPr>
                </a:tc>
                <a:extLst>
                  <a:ext uri="{0D108BD9-81ED-4DB2-BD59-A6C34878D82A}">
                    <a16:rowId xmlns:a16="http://schemas.microsoft.com/office/drawing/2014/main" val="10005"/>
                  </a:ext>
                </a:extLst>
              </a:tr>
              <a:tr h="1024128">
                <a:tc>
                  <a:txBody>
                    <a:bodyPr/>
                    <a:lstStyle/>
                    <a:p>
                      <a:pPr>
                        <a:lnSpc>
                          <a:spcPct val="112000"/>
                        </a:lnSpc>
                      </a:pPr>
                      <a:r>
                        <a:rPr sz="2000" b="0">
                          <a:solidFill>
                            <a:srgbClr val="4A3B31"/>
                          </a:solidFill>
                          <a:latin typeface="Google Sans SemiBold"/>
                        </a:rPr>
                        <a:t>Binaural audio</a:t>
                      </a:r>
                    </a:p>
                  </a:txBody>
                  <a:tcPr marL="274320" marR="274320" marT="73152" marB="73152" anchor="ctr">
                    <a:solidFill>
                      <a:srgbClr val="F0E4D5"/>
                    </a:solidFill>
                  </a:tcPr>
                </a:tc>
                <a:tc>
                  <a:txBody>
                    <a:bodyPr/>
                    <a:lstStyle/>
                    <a:p>
                      <a:pPr>
                        <a:lnSpc>
                          <a:spcPct val="112000"/>
                        </a:lnSpc>
                      </a:pPr>
                      <a:r>
                        <a:rPr sz="2000" b="0">
                          <a:solidFill>
                            <a:srgbClr val="4A3B31"/>
                          </a:solidFill>
                          <a:latin typeface="Google Sans"/>
                        </a:rPr>
                        <a:t>Unity 3D panning; an HRTF spatializer is future work</a:t>
                      </a:r>
                    </a:p>
                  </a:txBody>
                  <a:tcPr marL="274320" marR="274320" marT="73152" marB="73152" anchor="ctr">
                    <a:solidFill>
                      <a:srgbClr val="F0E4D5"/>
                    </a:solidFill>
                  </a:tcPr>
                </a:tc>
                <a:extLst>
                  <a:ext uri="{0D108BD9-81ED-4DB2-BD59-A6C34878D82A}">
                    <a16:rowId xmlns:a16="http://schemas.microsoft.com/office/drawing/2014/main" val="10006"/>
                  </a:ext>
                </a:extLst>
              </a:tr>
            </a:tbl>
          </a:graphicData>
        </a:graphic>
      </p:graphicFrame>
      <p:sp>
        <p:nvSpPr>
          <p:cNvPr id="6" name="TextBox 5"/>
          <p:cNvSpPr txBox="1"/>
          <p:nvPr/>
        </p:nvSpPr>
        <p:spPr>
          <a:xfrm>
            <a:off x="1645920" y="10936224"/>
            <a:ext cx="21095208" cy="1179575"/>
          </a:xfrm>
          <a:prstGeom prst="rect">
            <a:avLst/>
          </a:prstGeom>
          <a:noFill/>
        </p:spPr>
        <p:txBody>
          <a:bodyPr wrap="square" lIns="0" tIns="0" rIns="0" bIns="0" anchor="t">
            <a:noAutofit/>
          </a:bodyPr>
          <a:lstStyle/>
          <a:p>
            <a:pPr algn="l">
              <a:lnSpc>
                <a:spcPct val="120000"/>
              </a:lnSpc>
              <a:spcAft>
                <a:spcPts val="800"/>
              </a:spcAft>
            </a:pPr>
            <a:r>
              <a:rPr sz="2100" b="0">
                <a:solidFill>
                  <a:srgbClr val="4A3B31"/>
                </a:solidFill>
                <a:latin typeface="Google Sans SemiBold"/>
              </a:rPr>
              <a:t>Out of scope:</a:t>
            </a:r>
            <a:r>
              <a:rPr sz="2100" b="0">
                <a:solidFill>
                  <a:srgbClr val="4A3B31"/>
                </a:solidFill>
                <a:latin typeface="Google Sans"/>
              </a:rPr>
              <a:t> multiplayer, latte art, customer AI, real fluid simulation.</a:t>
            </a:r>
          </a:p>
          <a:p>
            <a:pPr algn="l">
              <a:lnSpc>
                <a:spcPct val="120000"/>
              </a:lnSpc>
              <a:spcAft>
                <a:spcPts val="0"/>
              </a:spcAft>
            </a:pPr>
            <a:r>
              <a:rPr sz="2100" b="0">
                <a:solidFill>
                  <a:srgbClr val="4A3B31"/>
                </a:solidFill>
                <a:latin typeface="Google Sans SemiBold"/>
              </a:rPr>
              <a:t>Headset check:</a:t>
            </a:r>
            <a:r>
              <a:rPr sz="2100" b="0">
                <a:solidFill>
                  <a:srgbClr val="4A3B31"/>
                </a:solidFill>
                <a:latin typeface="Google Sans"/>
              </a:rPr>
              <a:t> &lt;tested on a real headset? yes or no, and what you found&gt;</a:t>
            </a:r>
          </a:p>
        </p:txBody>
      </p:sp>
      <p:sp>
        <p:nvSpPr>
          <p:cNvPr id="7" name="TextBox 6"/>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8" name="TextBox 7"/>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14 · CONCLUSION &amp; REFLECTION</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Did we solve the problem?</a:t>
            </a:r>
          </a:p>
        </p:txBody>
      </p:sp>
      <p:sp>
        <p:nvSpPr>
          <p:cNvPr id="5" name="Rounded Rectangle 4"/>
          <p:cNvSpPr/>
          <p:nvPr/>
        </p:nvSpPr>
        <p:spPr>
          <a:xfrm>
            <a:off x="1645920" y="3566160"/>
            <a:ext cx="10058400" cy="137160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148840" y="3566160"/>
            <a:ext cx="914400" cy="1371600"/>
          </a:xfrm>
          <a:prstGeom prst="rect">
            <a:avLst/>
          </a:prstGeom>
          <a:noFill/>
        </p:spPr>
        <p:txBody>
          <a:bodyPr wrap="square" lIns="0" tIns="0" rIns="0" bIns="0" anchor="ctr">
            <a:noAutofit/>
          </a:bodyPr>
          <a:lstStyle/>
          <a:p>
            <a:pPr algn="l">
              <a:lnSpc>
                <a:spcPct val="118000"/>
              </a:lnSpc>
              <a:spcAft>
                <a:spcPts val="0"/>
              </a:spcAft>
            </a:pPr>
            <a:r>
              <a:rPr sz="3000" b="0">
                <a:solidFill>
                  <a:srgbClr val="D0955F"/>
                </a:solidFill>
                <a:latin typeface="Google Sans SemiBold"/>
              </a:rPr>
              <a:t>01</a:t>
            </a:r>
          </a:p>
        </p:txBody>
      </p:sp>
      <p:sp>
        <p:nvSpPr>
          <p:cNvPr id="7" name="TextBox 6"/>
          <p:cNvSpPr txBox="1"/>
          <p:nvPr/>
        </p:nvSpPr>
        <p:spPr>
          <a:xfrm>
            <a:off x="3108960" y="3566160"/>
            <a:ext cx="8092440" cy="1371600"/>
          </a:xfrm>
          <a:prstGeom prst="rect">
            <a:avLst/>
          </a:prstGeom>
          <a:noFill/>
        </p:spPr>
        <p:txBody>
          <a:bodyPr wrap="square" lIns="0" tIns="0" rIns="0" bIns="0" anchor="ctr">
            <a:noAutofit/>
          </a:bodyPr>
          <a:lstStyle/>
          <a:p>
            <a:pPr algn="l">
              <a:lnSpc>
                <a:spcPct val="110000"/>
              </a:lnSpc>
              <a:spcAft>
                <a:spcPts val="200"/>
              </a:spcAft>
            </a:pPr>
            <a:r>
              <a:rPr sz="2300" b="0">
                <a:solidFill>
                  <a:srgbClr val="E9D7C2"/>
                </a:solidFill>
                <a:latin typeface="Google Sans SemiBold"/>
              </a:rPr>
              <a:t>Unaided, under 6 min</a:t>
            </a:r>
          </a:p>
          <a:p>
            <a:pPr algn="l">
              <a:lnSpc>
                <a:spcPct val="110000"/>
              </a:lnSpc>
              <a:spcAft>
                <a:spcPts val="0"/>
              </a:spcAft>
            </a:pPr>
            <a:r>
              <a:rPr sz="1900" b="0">
                <a:solidFill>
                  <a:srgbClr val="C9B29B"/>
                </a:solidFill>
                <a:latin typeface="Google Sans"/>
              </a:rPr>
              <a:t>&lt;met / not met · average time&gt;</a:t>
            </a:r>
          </a:p>
        </p:txBody>
      </p:sp>
      <p:sp>
        <p:nvSpPr>
          <p:cNvPr id="8" name="Rounded Rectangle 7"/>
          <p:cNvSpPr/>
          <p:nvPr/>
        </p:nvSpPr>
        <p:spPr>
          <a:xfrm>
            <a:off x="1645920" y="5166360"/>
            <a:ext cx="10058400" cy="137160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148840" y="5166360"/>
            <a:ext cx="914400" cy="1371600"/>
          </a:xfrm>
          <a:prstGeom prst="rect">
            <a:avLst/>
          </a:prstGeom>
          <a:noFill/>
        </p:spPr>
        <p:txBody>
          <a:bodyPr wrap="square" lIns="0" tIns="0" rIns="0" bIns="0" anchor="ctr">
            <a:noAutofit/>
          </a:bodyPr>
          <a:lstStyle/>
          <a:p>
            <a:pPr algn="l">
              <a:lnSpc>
                <a:spcPct val="118000"/>
              </a:lnSpc>
              <a:spcAft>
                <a:spcPts val="0"/>
              </a:spcAft>
            </a:pPr>
            <a:r>
              <a:rPr sz="3000" b="0">
                <a:solidFill>
                  <a:srgbClr val="D0955F"/>
                </a:solidFill>
                <a:latin typeface="Google Sans SemiBold"/>
              </a:rPr>
              <a:t>02</a:t>
            </a:r>
          </a:p>
        </p:txBody>
      </p:sp>
      <p:sp>
        <p:nvSpPr>
          <p:cNvPr id="10" name="TextBox 9"/>
          <p:cNvSpPr txBox="1"/>
          <p:nvPr/>
        </p:nvSpPr>
        <p:spPr>
          <a:xfrm>
            <a:off x="3108960" y="5166360"/>
            <a:ext cx="8092440" cy="1371600"/>
          </a:xfrm>
          <a:prstGeom prst="rect">
            <a:avLst/>
          </a:prstGeom>
          <a:noFill/>
        </p:spPr>
        <p:txBody>
          <a:bodyPr wrap="square" lIns="0" tIns="0" rIns="0" bIns="0" anchor="ctr">
            <a:noAutofit/>
          </a:bodyPr>
          <a:lstStyle/>
          <a:p>
            <a:pPr algn="l">
              <a:lnSpc>
                <a:spcPct val="110000"/>
              </a:lnSpc>
              <a:spcAft>
                <a:spcPts val="200"/>
              </a:spcAft>
            </a:pPr>
            <a:r>
              <a:rPr sz="2300" b="0">
                <a:solidFill>
                  <a:srgbClr val="E9D7C2"/>
                </a:solidFill>
                <a:latin typeface="Google Sans SemiBold"/>
              </a:rPr>
              <a:t>Balanced within 3 attempts</a:t>
            </a:r>
          </a:p>
          <a:p>
            <a:pPr algn="l">
              <a:lnSpc>
                <a:spcPct val="110000"/>
              </a:lnSpc>
              <a:spcAft>
                <a:spcPts val="0"/>
              </a:spcAft>
            </a:pPr>
            <a:r>
              <a:rPr sz="1900" b="0">
                <a:solidFill>
                  <a:srgbClr val="C9B29B"/>
                </a:solidFill>
                <a:latin typeface="Google Sans"/>
              </a:rPr>
              <a:t>&lt;met / not met · attempts&gt;</a:t>
            </a:r>
          </a:p>
        </p:txBody>
      </p:sp>
      <p:sp>
        <p:nvSpPr>
          <p:cNvPr id="11" name="Rounded Rectangle 10"/>
          <p:cNvSpPr/>
          <p:nvPr/>
        </p:nvSpPr>
        <p:spPr>
          <a:xfrm>
            <a:off x="1645920" y="6766560"/>
            <a:ext cx="10058400" cy="137160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2148840" y="6766560"/>
            <a:ext cx="914400" cy="1371600"/>
          </a:xfrm>
          <a:prstGeom prst="rect">
            <a:avLst/>
          </a:prstGeom>
          <a:noFill/>
        </p:spPr>
        <p:txBody>
          <a:bodyPr wrap="square" lIns="0" tIns="0" rIns="0" bIns="0" anchor="ctr">
            <a:noAutofit/>
          </a:bodyPr>
          <a:lstStyle/>
          <a:p>
            <a:pPr algn="l">
              <a:lnSpc>
                <a:spcPct val="118000"/>
              </a:lnSpc>
              <a:spcAft>
                <a:spcPts val="0"/>
              </a:spcAft>
            </a:pPr>
            <a:r>
              <a:rPr sz="3000" b="0">
                <a:solidFill>
                  <a:srgbClr val="D0955F"/>
                </a:solidFill>
                <a:latin typeface="Google Sans SemiBold"/>
              </a:rPr>
              <a:t>03</a:t>
            </a:r>
          </a:p>
        </p:txBody>
      </p:sp>
      <p:sp>
        <p:nvSpPr>
          <p:cNvPr id="13" name="TextBox 12"/>
          <p:cNvSpPr txBox="1"/>
          <p:nvPr/>
        </p:nvSpPr>
        <p:spPr>
          <a:xfrm>
            <a:off x="3108960" y="6766560"/>
            <a:ext cx="8092440" cy="1371600"/>
          </a:xfrm>
          <a:prstGeom prst="rect">
            <a:avLst/>
          </a:prstGeom>
          <a:noFill/>
        </p:spPr>
        <p:txBody>
          <a:bodyPr wrap="square" lIns="0" tIns="0" rIns="0" bIns="0" anchor="ctr">
            <a:noAutofit/>
          </a:bodyPr>
          <a:lstStyle/>
          <a:p>
            <a:pPr algn="l">
              <a:lnSpc>
                <a:spcPct val="110000"/>
              </a:lnSpc>
              <a:spcAft>
                <a:spcPts val="200"/>
              </a:spcAft>
            </a:pPr>
            <a:r>
              <a:rPr sz="2300" b="0">
                <a:solidFill>
                  <a:srgbClr val="E9D7C2"/>
                </a:solidFill>
                <a:latin typeface="Google Sans SemiBold"/>
              </a:rPr>
              <a:t>Milk at 63–67 °C</a:t>
            </a:r>
          </a:p>
          <a:p>
            <a:pPr algn="l">
              <a:lnSpc>
                <a:spcPct val="110000"/>
              </a:lnSpc>
              <a:spcAft>
                <a:spcPts val="0"/>
              </a:spcAft>
            </a:pPr>
            <a:r>
              <a:rPr sz="1900" b="0">
                <a:solidFill>
                  <a:srgbClr val="C9B29B"/>
                </a:solidFill>
                <a:latin typeface="Google Sans"/>
              </a:rPr>
              <a:t>&lt;met · 65 °C in the recorded run&gt;</a:t>
            </a:r>
          </a:p>
        </p:txBody>
      </p:sp>
      <p:sp>
        <p:nvSpPr>
          <p:cNvPr id="14" name="TextBox 13"/>
          <p:cNvSpPr txBox="1"/>
          <p:nvPr/>
        </p:nvSpPr>
        <p:spPr>
          <a:xfrm>
            <a:off x="1645920" y="8686800"/>
            <a:ext cx="10058400" cy="3429000"/>
          </a:xfrm>
          <a:prstGeom prst="rect">
            <a:avLst/>
          </a:prstGeom>
          <a:noFill/>
        </p:spPr>
        <p:txBody>
          <a:bodyPr wrap="square" lIns="0" tIns="0" rIns="0" bIns="0" anchor="t">
            <a:noAutofit/>
          </a:bodyPr>
          <a:lstStyle/>
          <a:p>
            <a:pPr algn="l">
              <a:lnSpc>
                <a:spcPct val="122000"/>
              </a:lnSpc>
              <a:spcAft>
                <a:spcPts val="800"/>
              </a:spcAft>
            </a:pPr>
            <a:r>
              <a:rPr sz="1500" b="0" spc="200">
                <a:solidFill>
                  <a:srgbClr val="D0955F"/>
                </a:solidFill>
                <a:latin typeface="Google Sans SemiBold"/>
              </a:rPr>
              <a:t>WHAT WE LEARNED</a:t>
            </a:r>
          </a:p>
          <a:p>
            <a:pPr algn="l">
              <a:lnSpc>
                <a:spcPct val="122000"/>
              </a:lnSpc>
              <a:spcAft>
                <a:spcPts val="0"/>
              </a:spcAft>
            </a:pPr>
            <a:r>
              <a:rPr sz="2100" b="0">
                <a:solidFill>
                  <a:srgbClr val="E9D7C2"/>
                </a:solidFill>
                <a:latin typeface="Google Sans"/>
              </a:rPr>
              <a:t>&lt;e.g. physical feel needs tuning, not just correct code; designing for a headset we couldn't always test meant leaning on published guidance&gt;</a:t>
            </a:r>
          </a:p>
        </p:txBody>
      </p:sp>
      <p:sp>
        <p:nvSpPr>
          <p:cNvPr id="15" name="Rounded Rectangle 14"/>
          <p:cNvSpPr/>
          <p:nvPr/>
        </p:nvSpPr>
        <p:spPr>
          <a:xfrm>
            <a:off x="12527280" y="3566160"/>
            <a:ext cx="490118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030200" y="4069080"/>
            <a:ext cx="3895344" cy="3063240"/>
          </a:xfrm>
          <a:prstGeom prst="rect">
            <a:avLst/>
          </a:prstGeom>
          <a:noFill/>
        </p:spPr>
        <p:txBody>
          <a:bodyPr wrap="square" lIns="0" tIns="0" rIns="0" bIns="0" anchor="t">
            <a:noAutofit/>
          </a:bodyPr>
          <a:lstStyle/>
          <a:p>
            <a:pPr algn="l">
              <a:lnSpc>
                <a:spcPct val="120000"/>
              </a:lnSpc>
              <a:spcAft>
                <a:spcPts val="1000"/>
              </a:spcAft>
            </a:pPr>
            <a:r>
              <a:rPr sz="2300" b="0">
                <a:solidFill>
                  <a:srgbClr val="E9D7C2"/>
                </a:solidFill>
                <a:latin typeface="Google Sans SemiBold"/>
              </a:rPr>
              <a:t>&lt;Member 1&gt;</a:t>
            </a:r>
          </a:p>
          <a:p>
            <a:pPr algn="l">
              <a:lnSpc>
                <a:spcPct val="120000"/>
              </a:lnSpc>
              <a:spcAft>
                <a:spcPts val="0"/>
              </a:spcAft>
            </a:pPr>
            <a:r>
              <a:rPr sz="1800" b="0">
                <a:solidFill>
                  <a:srgbClr val="C9B29B"/>
                </a:solidFill>
                <a:latin typeface="Google Sans"/>
              </a:rPr>
              <a:t>&lt;One-minute reflection: what I built, what was hard, what I'd do differently&gt;</a:t>
            </a:r>
          </a:p>
        </p:txBody>
      </p:sp>
      <p:sp>
        <p:nvSpPr>
          <p:cNvPr id="17" name="Rounded Rectangle 16"/>
          <p:cNvSpPr/>
          <p:nvPr/>
        </p:nvSpPr>
        <p:spPr>
          <a:xfrm>
            <a:off x="17839944" y="3566160"/>
            <a:ext cx="490118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8342864" y="4069080"/>
            <a:ext cx="3895344" cy="3063240"/>
          </a:xfrm>
          <a:prstGeom prst="rect">
            <a:avLst/>
          </a:prstGeom>
          <a:noFill/>
        </p:spPr>
        <p:txBody>
          <a:bodyPr wrap="square" lIns="0" tIns="0" rIns="0" bIns="0" anchor="t">
            <a:noAutofit/>
          </a:bodyPr>
          <a:lstStyle/>
          <a:p>
            <a:pPr algn="l">
              <a:lnSpc>
                <a:spcPct val="120000"/>
              </a:lnSpc>
              <a:spcAft>
                <a:spcPts val="1000"/>
              </a:spcAft>
            </a:pPr>
            <a:r>
              <a:rPr sz="2300" b="0">
                <a:solidFill>
                  <a:srgbClr val="E9D7C2"/>
                </a:solidFill>
                <a:latin typeface="Google Sans SemiBold"/>
              </a:rPr>
              <a:t>&lt;Member 2&gt;</a:t>
            </a:r>
          </a:p>
          <a:p>
            <a:pPr algn="l">
              <a:lnSpc>
                <a:spcPct val="120000"/>
              </a:lnSpc>
              <a:spcAft>
                <a:spcPts val="0"/>
              </a:spcAft>
            </a:pPr>
            <a:r>
              <a:rPr sz="1800" b="0">
                <a:solidFill>
                  <a:srgbClr val="C9B29B"/>
                </a:solidFill>
                <a:latin typeface="Google Sans"/>
              </a:rPr>
              <a:t>&lt;One-minute reflection: what I built, what was hard, what I'd do differently&gt;</a:t>
            </a:r>
          </a:p>
        </p:txBody>
      </p:sp>
      <p:sp>
        <p:nvSpPr>
          <p:cNvPr id="19" name="Rounded Rectangle 18"/>
          <p:cNvSpPr/>
          <p:nvPr/>
        </p:nvSpPr>
        <p:spPr>
          <a:xfrm>
            <a:off x="12527280" y="8046720"/>
            <a:ext cx="490118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030200" y="8549640"/>
            <a:ext cx="3895344" cy="3063240"/>
          </a:xfrm>
          <a:prstGeom prst="rect">
            <a:avLst/>
          </a:prstGeom>
          <a:noFill/>
        </p:spPr>
        <p:txBody>
          <a:bodyPr wrap="square" lIns="0" tIns="0" rIns="0" bIns="0" anchor="t">
            <a:noAutofit/>
          </a:bodyPr>
          <a:lstStyle/>
          <a:p>
            <a:pPr algn="l">
              <a:lnSpc>
                <a:spcPct val="120000"/>
              </a:lnSpc>
              <a:spcAft>
                <a:spcPts val="1000"/>
              </a:spcAft>
            </a:pPr>
            <a:r>
              <a:rPr sz="2300" b="0">
                <a:solidFill>
                  <a:srgbClr val="E9D7C2"/>
                </a:solidFill>
                <a:latin typeface="Google Sans SemiBold"/>
              </a:rPr>
              <a:t>&lt;Member 3&gt;</a:t>
            </a:r>
          </a:p>
          <a:p>
            <a:pPr algn="l">
              <a:lnSpc>
                <a:spcPct val="120000"/>
              </a:lnSpc>
              <a:spcAft>
                <a:spcPts val="0"/>
              </a:spcAft>
            </a:pPr>
            <a:r>
              <a:rPr sz="1800" b="0">
                <a:solidFill>
                  <a:srgbClr val="C9B29B"/>
                </a:solidFill>
                <a:latin typeface="Google Sans"/>
              </a:rPr>
              <a:t>&lt;One-minute reflection: what I built, what was hard, what I'd do differently&gt;</a:t>
            </a:r>
          </a:p>
        </p:txBody>
      </p:sp>
      <p:sp>
        <p:nvSpPr>
          <p:cNvPr id="21" name="Rounded Rectangle 20"/>
          <p:cNvSpPr/>
          <p:nvPr/>
        </p:nvSpPr>
        <p:spPr>
          <a:xfrm>
            <a:off x="17839944" y="8046720"/>
            <a:ext cx="4901184" cy="4069080"/>
          </a:xfrm>
          <a:prstGeom prst="roundRect">
            <a:avLst>
              <a:gd name="adj" fmla="val 6000"/>
            </a:avLst>
          </a:prstGeom>
          <a:solidFill>
            <a:srgbClr val="5E3E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8342864" y="8549640"/>
            <a:ext cx="3895344" cy="3063240"/>
          </a:xfrm>
          <a:prstGeom prst="rect">
            <a:avLst/>
          </a:prstGeom>
          <a:noFill/>
        </p:spPr>
        <p:txBody>
          <a:bodyPr wrap="square" lIns="0" tIns="0" rIns="0" bIns="0" anchor="t">
            <a:noAutofit/>
          </a:bodyPr>
          <a:lstStyle/>
          <a:p>
            <a:pPr algn="l">
              <a:lnSpc>
                <a:spcPct val="120000"/>
              </a:lnSpc>
              <a:spcAft>
                <a:spcPts val="1000"/>
              </a:spcAft>
            </a:pPr>
            <a:r>
              <a:rPr sz="2300" b="0">
                <a:solidFill>
                  <a:srgbClr val="E9D7C2"/>
                </a:solidFill>
                <a:latin typeface="Google Sans SemiBold"/>
              </a:rPr>
              <a:t>&lt;Member 4&gt;</a:t>
            </a:r>
          </a:p>
          <a:p>
            <a:pPr algn="l">
              <a:lnSpc>
                <a:spcPct val="120000"/>
              </a:lnSpc>
              <a:spcAft>
                <a:spcPts val="0"/>
              </a:spcAft>
            </a:pPr>
            <a:r>
              <a:rPr sz="1800" b="0">
                <a:solidFill>
                  <a:srgbClr val="C9B29B"/>
                </a:solidFill>
                <a:latin typeface="Google Sans"/>
              </a:rPr>
              <a:t>&lt;One-minute reflection: what I built, what was hard, what I'd do differently&gt;</a:t>
            </a:r>
          </a:p>
        </p:txBody>
      </p:sp>
      <p:sp>
        <p:nvSpPr>
          <p:cNvPr id="23" name="TextBox 22"/>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24" name="TextBox 23"/>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9D7C2"/>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9717" y="0"/>
            <a:ext cx="23389496" cy="13716000"/>
          </a:xfrm>
          <a:prstGeom prst="rect">
            <a:avLst/>
          </a:prstGeom>
        </p:spPr>
      </p:pic>
      <p:sp>
        <p:nvSpPr>
          <p:cNvPr id="3" name="TextBox 2"/>
          <p:cNvSpPr txBox="1"/>
          <p:nvPr/>
        </p:nvSpPr>
        <p:spPr>
          <a:xfrm>
            <a:off x="1645920" y="1051560"/>
            <a:ext cx="21095208"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9A5F33"/>
                </a:solidFill>
                <a:latin typeface="Google Sans SemiBold"/>
              </a:rPr>
              <a:t>15 · REFERENCES &amp; CREDITS</a:t>
            </a:r>
          </a:p>
        </p:txBody>
      </p:sp>
      <p:sp>
        <p:nvSpPr>
          <p:cNvPr id="4" name="TextBox 3"/>
          <p:cNvSpPr txBox="1"/>
          <p:nvPr/>
        </p:nvSpPr>
        <p:spPr>
          <a:xfrm>
            <a:off x="1645920" y="1463040"/>
            <a:ext cx="21095208" cy="1371600"/>
          </a:xfrm>
          <a:prstGeom prst="rect">
            <a:avLst/>
          </a:prstGeom>
          <a:noFill/>
        </p:spPr>
        <p:txBody>
          <a:bodyPr wrap="square" lIns="0" tIns="0" rIns="0" bIns="0" anchor="t">
            <a:noAutofit/>
          </a:bodyPr>
          <a:lstStyle/>
          <a:p>
            <a:pPr algn="l">
              <a:lnSpc>
                <a:spcPct val="100000"/>
              </a:lnSpc>
              <a:spcAft>
                <a:spcPts val="0"/>
              </a:spcAft>
            </a:pPr>
            <a:r>
              <a:rPr sz="5800" b="0">
                <a:solidFill>
                  <a:srgbClr val="2B221D"/>
                </a:solidFill>
                <a:latin typeface="Google Sans SemiBold"/>
              </a:rPr>
              <a:t>References</a:t>
            </a:r>
          </a:p>
        </p:txBody>
      </p:sp>
      <p:sp>
        <p:nvSpPr>
          <p:cNvPr id="5" name="TextBox 4"/>
          <p:cNvSpPr txBox="1"/>
          <p:nvPr/>
        </p:nvSpPr>
        <p:spPr>
          <a:xfrm>
            <a:off x="1645920" y="3566160"/>
            <a:ext cx="10090404" cy="457200"/>
          </a:xfrm>
          <a:prstGeom prst="rect">
            <a:avLst/>
          </a:prstGeom>
          <a:noFill/>
        </p:spPr>
        <p:txBody>
          <a:bodyPr wrap="square" lIns="0" tIns="0" rIns="0" bIns="0" anchor="t">
            <a:noAutofit/>
          </a:bodyPr>
          <a:lstStyle/>
          <a:p>
            <a:pPr algn="l">
              <a:lnSpc>
                <a:spcPct val="118000"/>
              </a:lnSpc>
              <a:spcAft>
                <a:spcPts val="0"/>
              </a:spcAft>
            </a:pPr>
            <a:r>
              <a:rPr sz="1500" b="0" spc="200">
                <a:solidFill>
                  <a:srgbClr val="9A5F33"/>
                </a:solidFill>
                <a:latin typeface="Google Sans SemiBold"/>
              </a:rPr>
              <a:t>GUIDANCE &amp; THEORY</a:t>
            </a:r>
          </a:p>
        </p:txBody>
      </p:sp>
      <p:cxnSp>
        <p:nvCxnSpPr>
          <p:cNvPr id="6" name="Connector 5"/>
          <p:cNvCxnSpPr/>
          <p:nvPr/>
        </p:nvCxnSpPr>
        <p:spPr>
          <a:xfrm>
            <a:off x="1645920" y="4114800"/>
            <a:ext cx="10090404" cy="0"/>
          </a:xfrm>
          <a:prstGeom prst="line">
            <a:avLst/>
          </a:prstGeom>
          <a:ln w="15875">
            <a:solidFill>
              <a:srgbClr val="D6C0A8"/>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1645920" y="4389120"/>
            <a:ext cx="10090404" cy="7726679"/>
          </a:xfrm>
          <a:prstGeom prst="rect">
            <a:avLst/>
          </a:prstGeom>
          <a:noFill/>
        </p:spPr>
        <p:txBody>
          <a:bodyPr wrap="square" lIns="0" tIns="0" rIns="0" bIns="0" anchor="t">
            <a:noAutofit/>
          </a:bodyPr>
          <a:lstStyle/>
          <a:p>
            <a:pPr marL="229235" indent="-229235" algn="l">
              <a:lnSpc>
                <a:spcPct val="118000"/>
              </a:lnSpc>
              <a:spcAft>
                <a:spcPts val="1200"/>
              </a:spcAft>
              <a:buClr>
                <a:srgbClr val="D0955F"/>
              </a:buClr>
              <a:buFont typeface="Arial"/>
              <a:buChar char="•"/>
            </a:pPr>
            <a:r>
              <a:rPr sz="1900" b="0">
                <a:solidFill>
                  <a:srgbClr val="4A3B31"/>
                </a:solidFill>
                <a:latin typeface="Google Sans"/>
              </a:rPr>
              <a:t>Unity Technologies. XR Interaction Toolkit 3.6 manual. docs.unity3d.com</a:t>
            </a:r>
          </a:p>
          <a:p>
            <a:pPr marL="229235" indent="-229235" algn="l">
              <a:lnSpc>
                <a:spcPct val="118000"/>
              </a:lnSpc>
              <a:spcAft>
                <a:spcPts val="1200"/>
              </a:spcAft>
              <a:buClr>
                <a:srgbClr val="D0955F"/>
              </a:buClr>
              <a:buFont typeface="Arial"/>
              <a:buChar char="•"/>
            </a:pPr>
            <a:r>
              <a:rPr sz="1900" b="0">
                <a:solidFill>
                  <a:srgbClr val="4A3B31"/>
                </a:solidFill>
                <a:latin typeface="Google Sans"/>
              </a:rPr>
              <a:t>Meta. VR best practices: locomotion, user comfort, interaction. developers.meta.com/horizon</a:t>
            </a:r>
          </a:p>
          <a:p>
            <a:pPr marL="229235" indent="-229235" algn="l">
              <a:lnSpc>
                <a:spcPct val="118000"/>
              </a:lnSpc>
              <a:spcAft>
                <a:spcPts val="1200"/>
              </a:spcAft>
              <a:buClr>
                <a:srgbClr val="D0955F"/>
              </a:buClr>
              <a:buFont typeface="Arial"/>
              <a:buChar char="•"/>
            </a:pPr>
            <a:r>
              <a:rPr sz="1900" b="0">
                <a:solidFill>
                  <a:srgbClr val="4A3B31"/>
                </a:solidFill>
                <a:latin typeface="Google Sans"/>
              </a:rPr>
              <a:t>LaViola, J. J. (2000). A discussion of cybersickness in virtual environments. ACM SIGCHI Bulletin, 32(1).</a:t>
            </a:r>
          </a:p>
          <a:p>
            <a:pPr marL="229235" indent="-229235" algn="l">
              <a:lnSpc>
                <a:spcPct val="118000"/>
              </a:lnSpc>
              <a:spcAft>
                <a:spcPts val="1200"/>
              </a:spcAft>
              <a:buClr>
                <a:srgbClr val="D0955F"/>
              </a:buClr>
              <a:buFont typeface="Arial"/>
              <a:buChar char="•"/>
            </a:pPr>
            <a:r>
              <a:rPr sz="1900" b="0">
                <a:solidFill>
                  <a:srgbClr val="4A3B31"/>
                </a:solidFill>
                <a:latin typeface="Google Sans"/>
              </a:rPr>
              <a:t>Hoffman, D. M., Girshick, A. R., Akeley, K., &amp; Banks, M. S. (2008). Vergence-accommodation conflicts hinder visual performance and cause visual fatigue. Journal of Vision, 8(3).</a:t>
            </a:r>
          </a:p>
          <a:p>
            <a:pPr marL="229235" indent="-229235" algn="l">
              <a:lnSpc>
                <a:spcPct val="118000"/>
              </a:lnSpc>
              <a:spcAft>
                <a:spcPts val="1200"/>
              </a:spcAft>
              <a:buClr>
                <a:srgbClr val="D0955F"/>
              </a:buClr>
              <a:buFont typeface="Arial"/>
              <a:buChar char="•"/>
            </a:pPr>
            <a:r>
              <a:rPr sz="1900" b="0">
                <a:solidFill>
                  <a:srgbClr val="4A3B31"/>
                </a:solidFill>
                <a:latin typeface="Google Sans"/>
              </a:rPr>
              <a:t>Slater, M., &amp; Wilbur, S. (1997). A framework for immersive virtual environments (FIVE). Presence, 6(6).</a:t>
            </a:r>
          </a:p>
          <a:p>
            <a:pPr marL="229235" indent="-229235" algn="l">
              <a:lnSpc>
                <a:spcPct val="118000"/>
              </a:lnSpc>
              <a:spcAft>
                <a:spcPts val="1200"/>
              </a:spcAft>
              <a:buClr>
                <a:srgbClr val="D0955F"/>
              </a:buClr>
              <a:buFont typeface="Arial"/>
              <a:buChar char="•"/>
            </a:pPr>
            <a:r>
              <a:rPr sz="1900" b="0">
                <a:solidFill>
                  <a:srgbClr val="4A3B31"/>
                </a:solidFill>
                <a:latin typeface="Google Sans"/>
              </a:rPr>
              <a:t>Specialty Coffee Association. Espresso brewing guidance (dose, yield, time).</a:t>
            </a:r>
          </a:p>
        </p:txBody>
      </p:sp>
      <p:sp>
        <p:nvSpPr>
          <p:cNvPr id="8" name="TextBox 7"/>
          <p:cNvSpPr txBox="1"/>
          <p:nvPr/>
        </p:nvSpPr>
        <p:spPr>
          <a:xfrm>
            <a:off x="12650724" y="3566160"/>
            <a:ext cx="10090404" cy="457200"/>
          </a:xfrm>
          <a:prstGeom prst="rect">
            <a:avLst/>
          </a:prstGeom>
          <a:noFill/>
        </p:spPr>
        <p:txBody>
          <a:bodyPr wrap="square" lIns="0" tIns="0" rIns="0" bIns="0" anchor="t">
            <a:noAutofit/>
          </a:bodyPr>
          <a:lstStyle/>
          <a:p>
            <a:pPr algn="l">
              <a:lnSpc>
                <a:spcPct val="118000"/>
              </a:lnSpc>
              <a:spcAft>
                <a:spcPts val="0"/>
              </a:spcAft>
            </a:pPr>
            <a:r>
              <a:rPr sz="1500" b="0" spc="200">
                <a:solidFill>
                  <a:srgbClr val="9A5F33"/>
                </a:solidFill>
                <a:latin typeface="Google Sans SemiBold"/>
              </a:rPr>
              <a:t>ASSETS &amp; TOOLS (ALSO CREDITED IN THE BUILD)</a:t>
            </a:r>
          </a:p>
        </p:txBody>
      </p:sp>
      <p:cxnSp>
        <p:nvCxnSpPr>
          <p:cNvPr id="9" name="Connector 8"/>
          <p:cNvCxnSpPr/>
          <p:nvPr/>
        </p:nvCxnSpPr>
        <p:spPr>
          <a:xfrm>
            <a:off x="12650724" y="4114800"/>
            <a:ext cx="10090404" cy="0"/>
          </a:xfrm>
          <a:prstGeom prst="line">
            <a:avLst/>
          </a:prstGeom>
          <a:ln w="15875">
            <a:solidFill>
              <a:srgbClr val="D6C0A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2650724" y="4389120"/>
            <a:ext cx="10090404" cy="7726679"/>
          </a:xfrm>
          <a:prstGeom prst="rect">
            <a:avLst/>
          </a:prstGeom>
          <a:noFill/>
        </p:spPr>
        <p:txBody>
          <a:bodyPr wrap="square" lIns="0" tIns="0" rIns="0" bIns="0" anchor="t">
            <a:noAutofit/>
          </a:bodyPr>
          <a:lstStyle/>
          <a:p>
            <a:pPr marL="229235" indent="-229235" algn="l">
              <a:lnSpc>
                <a:spcPct val="118000"/>
              </a:lnSpc>
              <a:spcAft>
                <a:spcPts val="1200"/>
              </a:spcAft>
              <a:buClr>
                <a:srgbClr val="D0955F"/>
              </a:buClr>
              <a:buFont typeface="Arial"/>
              <a:buChar char="•"/>
            </a:pPr>
            <a:r>
              <a:rPr sz="1900" b="0">
                <a:solidFill>
                  <a:srgbClr val="4A3B31"/>
                </a:solidFill>
                <a:latin typeface="Google Sans"/>
              </a:rPr>
              <a:t>XR Origin &amp; XR Device Simulator: XR Interaction Toolkit 3.6.1 Starter Assets, Unity Companion License.</a:t>
            </a:r>
          </a:p>
          <a:p>
            <a:pPr marL="229235" indent="-229235" algn="l">
              <a:lnSpc>
                <a:spcPct val="118000"/>
              </a:lnSpc>
              <a:spcAft>
                <a:spcPts val="1200"/>
              </a:spcAft>
              <a:buClr>
                <a:srgbClr val="D0955F"/>
              </a:buClr>
              <a:buFont typeface="Arial"/>
              <a:buChar char="•"/>
            </a:pPr>
            <a:r>
              <a:rPr sz="1900" b="0">
                <a:solidFill>
                  <a:srgbClr val="4A3B31"/>
                </a:solidFill>
                <a:latin typeface="Google Sans"/>
              </a:rPr>
              <a:t>Unity OpenXR Plugin, Input System, Universal Render Pipeline: Unity Technologies.</a:t>
            </a:r>
          </a:p>
          <a:p>
            <a:pPr marL="229235" indent="-229235" algn="l">
              <a:lnSpc>
                <a:spcPct val="118000"/>
              </a:lnSpc>
              <a:spcAft>
                <a:spcPts val="1200"/>
              </a:spcAft>
              <a:buClr>
                <a:srgbClr val="D0955F"/>
              </a:buClr>
              <a:buFont typeface="Arial"/>
              <a:buChar char="•"/>
            </a:pPr>
            <a:r>
              <a:rPr sz="1900" b="0">
                <a:solidFill>
                  <a:srgbClr val="4A3B31"/>
                </a:solidFill>
                <a:latin typeface="Google Sans"/>
              </a:rPr>
              <a:t>Café models built by the team from Unity primitives; audio synthesised in code (AudioKit.cs).</a:t>
            </a:r>
          </a:p>
          <a:p>
            <a:pPr marL="229235" indent="-229235" algn="l">
              <a:lnSpc>
                <a:spcPct val="118000"/>
              </a:lnSpc>
              <a:spcAft>
                <a:spcPts val="1200"/>
              </a:spcAft>
              <a:buClr>
                <a:srgbClr val="D0955F"/>
              </a:buClr>
              <a:buFont typeface="Arial"/>
              <a:buChar char="•"/>
            </a:pPr>
            <a:r>
              <a:rPr sz="1900" b="0">
                <a:solidFill>
                  <a:srgbClr val="4A3B31"/>
                </a:solidFill>
                <a:latin typeface="Google Sans"/>
              </a:rPr>
              <a:t>Build font: Unity LegacyRuntime (Arial). Slide font: Google Sans (SIL Open Font License).</a:t>
            </a:r>
          </a:p>
          <a:p>
            <a:pPr marL="229235" indent="-229235" algn="l">
              <a:lnSpc>
                <a:spcPct val="118000"/>
              </a:lnSpc>
              <a:spcAft>
                <a:spcPts val="1200"/>
              </a:spcAft>
              <a:buClr>
                <a:srgbClr val="D0955F"/>
              </a:buClr>
              <a:buFont typeface="Arial"/>
              <a:buChar char="•"/>
            </a:pPr>
            <a:r>
              <a:rPr sz="1900" b="0">
                <a:solidFill>
                  <a:srgbClr val="4A3B31"/>
                </a:solidFill>
                <a:latin typeface="Google Sans"/>
              </a:rPr>
              <a:t>Slide template: “Coffee” free presentation template by EaTemp.</a:t>
            </a:r>
          </a:p>
          <a:p>
            <a:pPr marL="229235" indent="-229235" algn="l">
              <a:lnSpc>
                <a:spcPct val="118000"/>
              </a:lnSpc>
              <a:spcAft>
                <a:spcPts val="1200"/>
              </a:spcAft>
              <a:buClr>
                <a:srgbClr val="D0955F"/>
              </a:buClr>
              <a:buFont typeface="Arial"/>
              <a:buChar char="•"/>
            </a:pPr>
            <a:r>
              <a:rPr sz="1900" b="0">
                <a:solidFill>
                  <a:srgbClr val="4A3B31"/>
                </a:solidFill>
                <a:latin typeface="Google Sans"/>
              </a:rPr>
              <a:t>Barista illustration: &lt;source and licence&gt;.</a:t>
            </a:r>
          </a:p>
          <a:p>
            <a:pPr marL="229235" indent="-229235" algn="l">
              <a:lnSpc>
                <a:spcPct val="118000"/>
              </a:lnSpc>
              <a:spcAft>
                <a:spcPts val="1200"/>
              </a:spcAft>
              <a:buClr>
                <a:srgbClr val="D0955F"/>
              </a:buClr>
              <a:buFont typeface="Arial"/>
              <a:buChar char="•"/>
            </a:pPr>
            <a:r>
              <a:rPr sz="1900" b="0">
                <a:solidFill>
                  <a:srgbClr val="4A3B31"/>
                </a:solidFill>
                <a:latin typeface="Google Sans"/>
              </a:rPr>
              <a:t>AI tools: Cursor (see AI-tool disclosure).</a:t>
            </a:r>
          </a:p>
        </p:txBody>
      </p:sp>
      <p:sp>
        <p:nvSpPr>
          <p:cNvPr id="11" name="TextBox 10"/>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8A7260"/>
                </a:solidFill>
                <a:latin typeface="Google Sans"/>
              </a:rPr>
              <a:t>XR Continuum  ·  Barista Calibration Trainer</a:t>
            </a:r>
          </a:p>
        </p:txBody>
      </p:sp>
      <p:sp>
        <p:nvSpPr>
          <p:cNvPr id="12" name="TextBox 11"/>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8A7260"/>
                </a:solidFill>
                <a:latin typeface="Google Sans SemiBold"/>
              </a:rPr>
              <a:t>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potlight.png"/>
          <p:cNvPicPr>
            <a:picLocks noChangeAspect="1"/>
          </p:cNvPicPr>
          <p:nvPr/>
        </p:nvPicPr>
        <p:blipFill>
          <a:blip r:embed="rId3"/>
          <a:stretch>
            <a:fillRect/>
          </a:stretch>
        </p:blipFill>
        <p:spPr>
          <a:xfrm>
            <a:off x="0" y="0"/>
            <a:ext cx="24387048" cy="13716000"/>
          </a:xfrm>
          <a:prstGeom prst="rect">
            <a:avLst/>
          </a:prstGeom>
        </p:spPr>
      </p:pic>
      <p:sp>
        <p:nvSpPr>
          <p:cNvPr id="3" name="TextBox 2"/>
          <p:cNvSpPr txBox="1"/>
          <p:nvPr/>
        </p:nvSpPr>
        <p:spPr>
          <a:xfrm>
            <a:off x="2286000" y="3383280"/>
            <a:ext cx="19815048" cy="2743200"/>
          </a:xfrm>
          <a:prstGeom prst="rect">
            <a:avLst/>
          </a:prstGeom>
          <a:noFill/>
        </p:spPr>
        <p:txBody>
          <a:bodyPr wrap="square" lIns="0" tIns="0" rIns="0" bIns="0" anchor="ctr">
            <a:noAutofit/>
          </a:bodyPr>
          <a:lstStyle/>
          <a:p>
            <a:pPr algn="ctr">
              <a:lnSpc>
                <a:spcPct val="108000"/>
              </a:lnSpc>
              <a:spcAft>
                <a:spcPts val="0"/>
              </a:spcAft>
            </a:pPr>
            <a:r>
              <a:rPr sz="8000" b="0">
                <a:solidFill>
                  <a:srgbClr val="C9B29B"/>
                </a:solidFill>
                <a:latin typeface="Google Sans"/>
              </a:rPr>
              <a:t>So.</a:t>
            </a:r>
          </a:p>
        </p:txBody>
      </p:sp>
      <p:sp>
        <p:nvSpPr>
          <p:cNvPr id="4" name="TextBox 3"/>
          <p:cNvSpPr txBox="1"/>
          <p:nvPr/>
        </p:nvSpPr>
        <p:spPr>
          <a:xfrm>
            <a:off x="2286000" y="5486400"/>
            <a:ext cx="19815048" cy="2743200"/>
          </a:xfrm>
          <a:prstGeom prst="rect">
            <a:avLst/>
          </a:prstGeom>
          <a:noFill/>
        </p:spPr>
        <p:txBody>
          <a:bodyPr wrap="square" lIns="0" tIns="0" rIns="0" bIns="0" anchor="ctr">
            <a:noAutofit/>
          </a:bodyPr>
          <a:lstStyle/>
          <a:p>
            <a:pPr algn="ctr">
              <a:lnSpc>
                <a:spcPct val="108000"/>
              </a:lnSpc>
              <a:spcAft>
                <a:spcPts val="0"/>
              </a:spcAft>
            </a:pPr>
            <a:r>
              <a:rPr sz="8800" b="0">
                <a:solidFill>
                  <a:srgbClr val="E9D7C2"/>
                </a:solidFill>
                <a:latin typeface="Google Sans SemiBold"/>
              </a:rPr>
              <a:t>Would you like to brew a coffee?</a:t>
            </a:r>
          </a:p>
        </p:txBody>
      </p:sp>
      <p:sp>
        <p:nvSpPr>
          <p:cNvPr id="5" name="TextBox 4"/>
          <p:cNvSpPr txBox="1"/>
          <p:nvPr/>
        </p:nvSpPr>
        <p:spPr>
          <a:xfrm>
            <a:off x="2286000" y="8503920"/>
            <a:ext cx="19815048" cy="1280160"/>
          </a:xfrm>
          <a:prstGeom prst="rect">
            <a:avLst/>
          </a:prstGeom>
          <a:noFill/>
        </p:spPr>
        <p:txBody>
          <a:bodyPr wrap="square" lIns="0" tIns="0" rIns="0" bIns="0" anchor="ctr">
            <a:noAutofit/>
          </a:bodyPr>
          <a:lstStyle/>
          <a:p>
            <a:pPr algn="ctr">
              <a:lnSpc>
                <a:spcPct val="108000"/>
              </a:lnSpc>
              <a:spcAft>
                <a:spcPts val="0"/>
              </a:spcAft>
            </a:pPr>
            <a:r>
              <a:rPr sz="4000" b="0" i="1">
                <a:solidFill>
                  <a:srgbClr val="D0955F"/>
                </a:solidFill>
                <a:latin typeface="Google Sans"/>
              </a:rPr>
              <a:t>Pull up a chair.</a:t>
            </a:r>
          </a:p>
        </p:txBody>
      </p:sp>
    </p:spTree>
  </p:cSld>
  <p:clrMapOvr>
    <a:masterClrMapping/>
  </p:clrMapOvr>
  <p:transition spd="slow">
    <p:fade/>
  </p:transition>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Picture 1" descr="crop_pour.png_13.67x12.10.png"/>
          <p:cNvPicPr>
            <a:picLocks noChangeAspect="1"/>
          </p:cNvPicPr>
          <p:nvPr/>
        </p:nvPicPr>
        <p:blipFill>
          <a:blip r:embed="rId3"/>
          <a:stretch>
            <a:fillRect/>
          </a:stretch>
        </p:blipFill>
        <p:spPr>
          <a:xfrm>
            <a:off x="10241280" y="1051560"/>
            <a:ext cx="12499848" cy="11064240"/>
          </a:xfrm>
          <a:prstGeom prst="roundRect">
            <a:avLst>
              <a:gd name="adj" fmla="val 3954"/>
            </a:avLst>
          </a:prstGeom>
        </p:spPr>
      </p:pic>
      <p:sp>
        <p:nvSpPr>
          <p:cNvPr id="3" name="TextBox 2"/>
          <p:cNvSpPr txBox="1"/>
          <p:nvPr/>
        </p:nvSpPr>
        <p:spPr>
          <a:xfrm>
            <a:off x="1645920" y="1051560"/>
            <a:ext cx="7863840" cy="411480"/>
          </a:xfrm>
          <a:prstGeom prst="rect">
            <a:avLst/>
          </a:prstGeom>
          <a:noFill/>
        </p:spPr>
        <p:txBody>
          <a:bodyPr wrap="square" lIns="0" tIns="0" rIns="0" bIns="0" anchor="t">
            <a:noAutofit/>
          </a:bodyPr>
          <a:lstStyle/>
          <a:p>
            <a:pPr algn="l">
              <a:lnSpc>
                <a:spcPct val="118000"/>
              </a:lnSpc>
              <a:spcAft>
                <a:spcPts val="0"/>
              </a:spcAft>
            </a:pPr>
            <a:r>
              <a:rPr sz="1700" b="0" spc="250">
                <a:solidFill>
                  <a:srgbClr val="D0955F"/>
                </a:solidFill>
                <a:latin typeface="Google Sans SemiBold"/>
              </a:rPr>
              <a:t>16 · LIVE DEMONSTRATION</a:t>
            </a:r>
          </a:p>
        </p:txBody>
      </p:sp>
      <p:sp>
        <p:nvSpPr>
          <p:cNvPr id="4" name="TextBox 3"/>
          <p:cNvSpPr txBox="1"/>
          <p:nvPr/>
        </p:nvSpPr>
        <p:spPr>
          <a:xfrm>
            <a:off x="1645920" y="1463040"/>
            <a:ext cx="7863840" cy="1371600"/>
          </a:xfrm>
          <a:prstGeom prst="rect">
            <a:avLst/>
          </a:prstGeom>
          <a:noFill/>
        </p:spPr>
        <p:txBody>
          <a:bodyPr wrap="square" lIns="0" tIns="0" rIns="0" bIns="0" anchor="t">
            <a:noAutofit/>
          </a:bodyPr>
          <a:lstStyle/>
          <a:p>
            <a:pPr algn="l">
              <a:lnSpc>
                <a:spcPct val="100000"/>
              </a:lnSpc>
              <a:spcAft>
                <a:spcPts val="0"/>
              </a:spcAft>
            </a:pPr>
            <a:r>
              <a:rPr sz="5800" b="0">
                <a:solidFill>
                  <a:srgbClr val="E9D7C2"/>
                </a:solidFill>
                <a:latin typeface="Google Sans SemiBold"/>
              </a:rPr>
              <a:t>Live demo</a:t>
            </a:r>
          </a:p>
        </p:txBody>
      </p:sp>
      <p:sp>
        <p:nvSpPr>
          <p:cNvPr id="5" name="TextBox 4"/>
          <p:cNvSpPr txBox="1"/>
          <p:nvPr/>
        </p:nvSpPr>
        <p:spPr>
          <a:xfrm>
            <a:off x="1645920" y="2606040"/>
            <a:ext cx="7863840" cy="457200"/>
          </a:xfrm>
          <a:prstGeom prst="rect">
            <a:avLst/>
          </a:prstGeom>
          <a:noFill/>
        </p:spPr>
        <p:txBody>
          <a:bodyPr wrap="square" lIns="0" tIns="0" rIns="0" bIns="0" anchor="t">
            <a:noAutofit/>
          </a:bodyPr>
          <a:lstStyle/>
          <a:p>
            <a:pPr algn="l">
              <a:lnSpc>
                <a:spcPct val="118000"/>
              </a:lnSpc>
              <a:spcAft>
                <a:spcPts val="0"/>
              </a:spcAft>
            </a:pPr>
            <a:r>
              <a:rPr sz="2100" b="0">
                <a:solidFill>
                  <a:srgbClr val="C9B29B"/>
                </a:solidFill>
                <a:latin typeface="Google Sans"/>
              </a:rPr>
              <a:t>Up to 10 minutes, including questions</a:t>
            </a:r>
          </a:p>
        </p:txBody>
      </p:sp>
      <p:sp>
        <p:nvSpPr>
          <p:cNvPr id="6" name="Oval 5"/>
          <p:cNvSpPr/>
          <p:nvPr/>
        </p:nvSpPr>
        <p:spPr>
          <a:xfrm>
            <a:off x="1645920" y="4023360"/>
            <a:ext cx="960120" cy="960120"/>
          </a:xfrm>
          <a:prstGeom prst="ellipse">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645920" y="4023360"/>
            <a:ext cx="960120" cy="960120"/>
          </a:xfrm>
          <a:prstGeom prst="rect">
            <a:avLst/>
          </a:prstGeom>
          <a:noFill/>
        </p:spPr>
        <p:txBody>
          <a:bodyPr wrap="square" lIns="0" tIns="0" rIns="0" bIns="0" anchor="ctr">
            <a:noAutofit/>
          </a:bodyPr>
          <a:lstStyle/>
          <a:p>
            <a:pPr algn="ctr">
              <a:lnSpc>
                <a:spcPct val="118000"/>
              </a:lnSpc>
              <a:spcAft>
                <a:spcPts val="0"/>
              </a:spcAft>
            </a:pPr>
            <a:r>
              <a:rPr sz="2600" b="0">
                <a:solidFill>
                  <a:srgbClr val="3D261A"/>
                </a:solidFill>
                <a:latin typeface="Google Sans SemiBold"/>
              </a:rPr>
              <a:t>A</a:t>
            </a:r>
          </a:p>
        </p:txBody>
      </p:sp>
      <p:sp>
        <p:nvSpPr>
          <p:cNvPr id="8" name="TextBox 7"/>
          <p:cNvSpPr txBox="1"/>
          <p:nvPr/>
        </p:nvSpPr>
        <p:spPr>
          <a:xfrm>
            <a:off x="3017520" y="3657600"/>
            <a:ext cx="6675119" cy="1691640"/>
          </a:xfrm>
          <a:prstGeom prst="rect">
            <a:avLst/>
          </a:prstGeom>
          <a:noFill/>
        </p:spPr>
        <p:txBody>
          <a:bodyPr wrap="square" lIns="0" tIns="0" rIns="0" bIns="0" anchor="ctr">
            <a:noAutofit/>
          </a:bodyPr>
          <a:lstStyle/>
          <a:p>
            <a:pPr algn="l">
              <a:lnSpc>
                <a:spcPct val="115000"/>
              </a:lnSpc>
              <a:spcAft>
                <a:spcPts val="0"/>
              </a:spcAft>
            </a:pPr>
            <a:r>
              <a:rPr sz="2200" b="0">
                <a:solidFill>
                  <a:srgbClr val="E9D7C2"/>
                </a:solidFill>
                <a:latin typeface="Google Sans"/>
              </a:rPr>
              <a:t>Seated start, snap turn, no movement provider</a:t>
            </a:r>
          </a:p>
        </p:txBody>
      </p:sp>
      <p:sp>
        <p:nvSpPr>
          <p:cNvPr id="9" name="Oval 8"/>
          <p:cNvSpPr/>
          <p:nvPr/>
        </p:nvSpPr>
        <p:spPr>
          <a:xfrm>
            <a:off x="1645920" y="5715000"/>
            <a:ext cx="960120" cy="960120"/>
          </a:xfrm>
          <a:prstGeom prst="ellipse">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45920" y="5715000"/>
            <a:ext cx="960120" cy="960120"/>
          </a:xfrm>
          <a:prstGeom prst="rect">
            <a:avLst/>
          </a:prstGeom>
          <a:noFill/>
        </p:spPr>
        <p:txBody>
          <a:bodyPr wrap="square" lIns="0" tIns="0" rIns="0" bIns="0" anchor="ctr">
            <a:noAutofit/>
          </a:bodyPr>
          <a:lstStyle/>
          <a:p>
            <a:pPr algn="ctr">
              <a:lnSpc>
                <a:spcPct val="118000"/>
              </a:lnSpc>
              <a:spcAft>
                <a:spcPts val="0"/>
              </a:spcAft>
            </a:pPr>
            <a:r>
              <a:rPr sz="2600" b="0">
                <a:solidFill>
                  <a:srgbClr val="3D261A"/>
                </a:solidFill>
                <a:latin typeface="Google Sans SemiBold"/>
              </a:rPr>
              <a:t>B</a:t>
            </a:r>
          </a:p>
        </p:txBody>
      </p:sp>
      <p:sp>
        <p:nvSpPr>
          <p:cNvPr id="11" name="TextBox 10"/>
          <p:cNvSpPr txBox="1"/>
          <p:nvPr/>
        </p:nvSpPr>
        <p:spPr>
          <a:xfrm>
            <a:off x="3017520" y="5349240"/>
            <a:ext cx="6675119" cy="1691640"/>
          </a:xfrm>
          <a:prstGeom prst="rect">
            <a:avLst/>
          </a:prstGeom>
          <a:noFill/>
        </p:spPr>
        <p:txBody>
          <a:bodyPr wrap="square" lIns="0" tIns="0" rIns="0" bIns="0" anchor="ctr">
            <a:noAutofit/>
          </a:bodyPr>
          <a:lstStyle/>
          <a:p>
            <a:pPr algn="l">
              <a:lnSpc>
                <a:spcPct val="115000"/>
              </a:lnSpc>
              <a:spcAft>
                <a:spcPts val="0"/>
              </a:spcAft>
            </a:pPr>
            <a:r>
              <a:rPr sz="2200" b="0">
                <a:solidFill>
                  <a:srgbClr val="E9D7C2"/>
                </a:solidFill>
                <a:latin typeface="Google Sans"/>
              </a:rPr>
              <a:t>Dose and tamp; tilt once to show channeling</a:t>
            </a:r>
          </a:p>
        </p:txBody>
      </p:sp>
      <p:sp>
        <p:nvSpPr>
          <p:cNvPr id="12" name="Oval 11"/>
          <p:cNvSpPr/>
          <p:nvPr/>
        </p:nvSpPr>
        <p:spPr>
          <a:xfrm>
            <a:off x="1645920" y="7406640"/>
            <a:ext cx="960120" cy="960120"/>
          </a:xfrm>
          <a:prstGeom prst="ellipse">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45920" y="7406640"/>
            <a:ext cx="960120" cy="960120"/>
          </a:xfrm>
          <a:prstGeom prst="rect">
            <a:avLst/>
          </a:prstGeom>
          <a:noFill/>
        </p:spPr>
        <p:txBody>
          <a:bodyPr wrap="square" lIns="0" tIns="0" rIns="0" bIns="0" anchor="ctr">
            <a:noAutofit/>
          </a:bodyPr>
          <a:lstStyle/>
          <a:p>
            <a:pPr algn="ctr">
              <a:lnSpc>
                <a:spcPct val="118000"/>
              </a:lnSpc>
              <a:spcAft>
                <a:spcPts val="0"/>
              </a:spcAft>
            </a:pPr>
            <a:r>
              <a:rPr sz="2600" b="0">
                <a:solidFill>
                  <a:srgbClr val="3D261A"/>
                </a:solidFill>
                <a:latin typeface="Google Sans SemiBold"/>
              </a:rPr>
              <a:t>C</a:t>
            </a:r>
          </a:p>
        </p:txBody>
      </p:sp>
      <p:sp>
        <p:nvSpPr>
          <p:cNvPr id="14" name="TextBox 13"/>
          <p:cNvSpPr txBox="1"/>
          <p:nvPr/>
        </p:nvSpPr>
        <p:spPr>
          <a:xfrm>
            <a:off x="3017520" y="7040880"/>
            <a:ext cx="6675119" cy="1691640"/>
          </a:xfrm>
          <a:prstGeom prst="rect">
            <a:avLst/>
          </a:prstGeom>
          <a:noFill/>
        </p:spPr>
        <p:txBody>
          <a:bodyPr wrap="square" lIns="0" tIns="0" rIns="0" bIns="0" anchor="ctr">
            <a:noAutofit/>
          </a:bodyPr>
          <a:lstStyle/>
          <a:p>
            <a:pPr algn="l">
              <a:lnSpc>
                <a:spcPct val="115000"/>
              </a:lnSpc>
              <a:spcAft>
                <a:spcPts val="0"/>
              </a:spcAft>
            </a:pPr>
            <a:r>
              <a:rPr sz="2200" b="0">
                <a:solidFill>
                  <a:srgbClr val="E9D7C2"/>
                </a:solidFill>
                <a:latin typeface="Google Sans"/>
              </a:rPr>
              <a:t>Lock in, pull the shot, narrate gauge and model</a:t>
            </a:r>
          </a:p>
        </p:txBody>
      </p:sp>
      <p:sp>
        <p:nvSpPr>
          <p:cNvPr id="15" name="Oval 14"/>
          <p:cNvSpPr/>
          <p:nvPr/>
        </p:nvSpPr>
        <p:spPr>
          <a:xfrm>
            <a:off x="1645920" y="9098280"/>
            <a:ext cx="960120" cy="960120"/>
          </a:xfrm>
          <a:prstGeom prst="ellipse">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45920" y="9098280"/>
            <a:ext cx="960120" cy="960120"/>
          </a:xfrm>
          <a:prstGeom prst="rect">
            <a:avLst/>
          </a:prstGeom>
          <a:noFill/>
        </p:spPr>
        <p:txBody>
          <a:bodyPr wrap="square" lIns="0" tIns="0" rIns="0" bIns="0" anchor="ctr">
            <a:noAutofit/>
          </a:bodyPr>
          <a:lstStyle/>
          <a:p>
            <a:pPr algn="ctr">
              <a:lnSpc>
                <a:spcPct val="118000"/>
              </a:lnSpc>
              <a:spcAft>
                <a:spcPts val="0"/>
              </a:spcAft>
            </a:pPr>
            <a:r>
              <a:rPr sz="2600" b="0">
                <a:solidFill>
                  <a:srgbClr val="3D261A"/>
                </a:solidFill>
                <a:latin typeface="Google Sans SemiBold"/>
              </a:rPr>
              <a:t>D</a:t>
            </a:r>
          </a:p>
        </p:txBody>
      </p:sp>
      <p:sp>
        <p:nvSpPr>
          <p:cNvPr id="17" name="TextBox 16"/>
          <p:cNvSpPr txBox="1"/>
          <p:nvPr/>
        </p:nvSpPr>
        <p:spPr>
          <a:xfrm>
            <a:off x="3017520" y="8732520"/>
            <a:ext cx="6675119" cy="1691640"/>
          </a:xfrm>
          <a:prstGeom prst="rect">
            <a:avLst/>
          </a:prstGeom>
          <a:noFill/>
        </p:spPr>
        <p:txBody>
          <a:bodyPr wrap="square" lIns="0" tIns="0" rIns="0" bIns="0" anchor="ctr">
            <a:noAutofit/>
          </a:bodyPr>
          <a:lstStyle/>
          <a:p>
            <a:pPr algn="l">
              <a:lnSpc>
                <a:spcPct val="115000"/>
              </a:lnSpc>
              <a:spcAft>
                <a:spcPts val="0"/>
              </a:spcAft>
            </a:pPr>
            <a:r>
              <a:rPr sz="2200" b="0">
                <a:solidFill>
                  <a:srgbClr val="E9D7C2"/>
                </a:solidFill>
                <a:latin typeface="Google Sans"/>
              </a:rPr>
              <a:t>Steam to 65 °C, pour, read the dial, pull another shot</a:t>
            </a:r>
          </a:p>
        </p:txBody>
      </p:sp>
      <p:sp>
        <p:nvSpPr>
          <p:cNvPr id="18" name="Oval 17"/>
          <p:cNvSpPr/>
          <p:nvPr/>
        </p:nvSpPr>
        <p:spPr>
          <a:xfrm>
            <a:off x="1645920" y="10789920"/>
            <a:ext cx="960120" cy="960120"/>
          </a:xfrm>
          <a:prstGeom prst="ellipse">
            <a:avLst/>
          </a:prstGeom>
          <a:solidFill>
            <a:srgbClr val="D095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645920" y="10789920"/>
            <a:ext cx="960120" cy="960120"/>
          </a:xfrm>
          <a:prstGeom prst="rect">
            <a:avLst/>
          </a:prstGeom>
          <a:noFill/>
        </p:spPr>
        <p:txBody>
          <a:bodyPr wrap="square" lIns="0" tIns="0" rIns="0" bIns="0" anchor="ctr">
            <a:noAutofit/>
          </a:bodyPr>
          <a:lstStyle/>
          <a:p>
            <a:pPr algn="ctr">
              <a:lnSpc>
                <a:spcPct val="118000"/>
              </a:lnSpc>
              <a:spcAft>
                <a:spcPts val="0"/>
              </a:spcAft>
            </a:pPr>
            <a:r>
              <a:rPr sz="2600" b="0">
                <a:solidFill>
                  <a:srgbClr val="3D261A"/>
                </a:solidFill>
                <a:latin typeface="Google Sans SemiBold"/>
              </a:rPr>
              <a:t>A</a:t>
            </a:r>
          </a:p>
        </p:txBody>
      </p:sp>
      <p:sp>
        <p:nvSpPr>
          <p:cNvPr id="20" name="TextBox 19"/>
          <p:cNvSpPr txBox="1"/>
          <p:nvPr/>
        </p:nvSpPr>
        <p:spPr>
          <a:xfrm>
            <a:off x="3017520" y="10424160"/>
            <a:ext cx="6675119" cy="1691640"/>
          </a:xfrm>
          <a:prstGeom prst="rect">
            <a:avLst/>
          </a:prstGeom>
          <a:noFill/>
        </p:spPr>
        <p:txBody>
          <a:bodyPr wrap="square" lIns="0" tIns="0" rIns="0" bIns="0" anchor="ctr">
            <a:noAutofit/>
          </a:bodyPr>
          <a:lstStyle/>
          <a:p>
            <a:pPr algn="l">
              <a:lnSpc>
                <a:spcPct val="115000"/>
              </a:lnSpc>
              <a:spcAft>
                <a:spcPts val="0"/>
              </a:spcAft>
            </a:pPr>
            <a:r>
              <a:rPr sz="2200" b="0">
                <a:solidFill>
                  <a:srgbClr val="E9D7C2"/>
                </a:solidFill>
                <a:latin typeface="Google Sans"/>
              </a:rPr>
              <a:t>Launch the exe and complete one action with the mouse</a:t>
            </a:r>
          </a:p>
        </p:txBody>
      </p:sp>
      <p:sp>
        <p:nvSpPr>
          <p:cNvPr id="21" name="TextBox 20"/>
          <p:cNvSpPr txBox="1"/>
          <p:nvPr/>
        </p:nvSpPr>
        <p:spPr>
          <a:xfrm>
            <a:off x="1645920" y="12801600"/>
            <a:ext cx="10972800" cy="365760"/>
          </a:xfrm>
          <a:prstGeom prst="rect">
            <a:avLst/>
          </a:prstGeom>
          <a:noFill/>
        </p:spPr>
        <p:txBody>
          <a:bodyPr wrap="square" lIns="0" tIns="0" rIns="0" bIns="0" anchor="t">
            <a:noAutofit/>
          </a:bodyPr>
          <a:lstStyle/>
          <a:p>
            <a:pPr algn="l">
              <a:lnSpc>
                <a:spcPct val="118000"/>
              </a:lnSpc>
              <a:spcAft>
                <a:spcPts val="0"/>
              </a:spcAft>
            </a:pPr>
            <a:r>
              <a:rPr sz="1500" b="0">
                <a:solidFill>
                  <a:srgbClr val="C9B29B"/>
                </a:solidFill>
                <a:latin typeface="Google Sans"/>
              </a:rPr>
              <a:t>XR Continuum  ·  Barista Calibration Trainer</a:t>
            </a:r>
          </a:p>
        </p:txBody>
      </p:sp>
      <p:sp>
        <p:nvSpPr>
          <p:cNvPr id="22" name="TextBox 21"/>
          <p:cNvSpPr txBox="1"/>
          <p:nvPr/>
        </p:nvSpPr>
        <p:spPr>
          <a:xfrm>
            <a:off x="21369528" y="12801600"/>
            <a:ext cx="1371600" cy="365760"/>
          </a:xfrm>
          <a:prstGeom prst="rect">
            <a:avLst/>
          </a:prstGeom>
          <a:noFill/>
        </p:spPr>
        <p:txBody>
          <a:bodyPr wrap="square" lIns="0" tIns="0" rIns="0" bIns="0" anchor="t">
            <a:noAutofit/>
          </a:bodyPr>
          <a:lstStyle/>
          <a:p>
            <a:pPr algn="r">
              <a:lnSpc>
                <a:spcPct val="118000"/>
              </a:lnSpc>
              <a:spcAft>
                <a:spcPts val="0"/>
              </a:spcAft>
            </a:pPr>
            <a:r>
              <a:rPr sz="1500" b="0">
                <a:solidFill>
                  <a:srgbClr val="C9B29B"/>
                </a:solidFill>
                <a:latin typeface="Google Sans SemiBold"/>
              </a:rPr>
              <a:t>29</a:t>
            </a:r>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3D261A"/>
        </a:solidFill>
        <a:effectLst/>
      </p:bgPr>
    </p:bg>
    <p:spTree>
      <p:nvGrpSpPr>
        <p:cNvPr id="1" name=""/>
        <p:cNvGrpSpPr/>
        <p:nvPr/>
      </p:nvGrpSpPr>
      <p:grpSpPr>
        <a:xfrm>
          <a:off x="0" y="0"/>
          <a:ext cx="0" cy="0"/>
          <a:chOff x="0" y="0"/>
          <a:chExt cx="0" cy="0"/>
        </a:xfrm>
      </p:grpSpPr>
      <p:pic>
        <p:nvPicPr>
          <p:cNvPr id="2" name="Image 0" descr=" "/>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0" y="0"/>
            <a:ext cx="23884858" cy="13716000"/>
          </a:xfrm>
          <a:prstGeom prst="rect">
            <a:avLst/>
          </a:prstGeom>
        </p:spPr>
      </p:pic>
      <p:pic>
        <p:nvPicPr>
          <p:cNvPr id="3" name="Image 1" descr=" "/>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3895537" y="1778000"/>
            <a:ext cx="9094337" cy="9613900"/>
          </a:xfrm>
          <a:prstGeom prst="rect">
            <a:avLst/>
          </a:prstGeom>
        </p:spPr>
      </p:pic>
      <p:sp>
        <p:nvSpPr>
          <p:cNvPr id="6" name="Shape 1"/>
          <p:cNvSpPr/>
          <p:nvPr/>
        </p:nvSpPr>
        <p:spPr>
          <a:xfrm>
            <a:off x="2768946" y="2324100"/>
            <a:ext cx="11126591" cy="9067800"/>
          </a:xfrm>
          <a:prstGeom prst="roundRect">
            <a:avLst>
              <a:gd name="adj" fmla="val 14017"/>
            </a:avLst>
          </a:prstGeom>
          <a:noFill/>
          <a:ln/>
        </p:spPr>
      </p:sp>
      <p:sp>
        <p:nvSpPr>
          <p:cNvPr id="7" name="TextBox 6"/>
          <p:cNvSpPr txBox="1"/>
          <p:nvPr/>
        </p:nvSpPr>
        <p:spPr>
          <a:xfrm>
            <a:off x="3584448" y="3246120"/>
            <a:ext cx="9692640" cy="3566160"/>
          </a:xfrm>
          <a:prstGeom prst="rect">
            <a:avLst/>
          </a:prstGeom>
          <a:noFill/>
        </p:spPr>
        <p:txBody>
          <a:bodyPr wrap="square" lIns="0" tIns="0" rIns="0" bIns="0" anchor="t">
            <a:noAutofit/>
          </a:bodyPr>
          <a:lstStyle/>
          <a:p>
            <a:pPr algn="l">
              <a:lnSpc>
                <a:spcPct val="95000"/>
              </a:lnSpc>
              <a:spcAft>
                <a:spcPts val="0"/>
              </a:spcAft>
            </a:pPr>
            <a:r>
              <a:rPr sz="9200" b="0">
                <a:solidFill>
                  <a:srgbClr val="E9D7C2"/>
                </a:solidFill>
                <a:latin typeface="Google Sans SemiBold"/>
              </a:rPr>
              <a:t>Thank you.
Questions?</a:t>
            </a:r>
          </a:p>
        </p:txBody>
      </p:sp>
      <p:cxnSp>
        <p:nvCxnSpPr>
          <p:cNvPr id="8" name="Connector 7"/>
          <p:cNvCxnSpPr/>
          <p:nvPr/>
        </p:nvCxnSpPr>
        <p:spPr>
          <a:xfrm>
            <a:off x="3611880" y="7315200"/>
            <a:ext cx="1280160" cy="0"/>
          </a:xfrm>
          <a:prstGeom prst="line">
            <a:avLst/>
          </a:prstGeom>
          <a:ln w="38100">
            <a:solidFill>
              <a:srgbClr val="D0955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3584448" y="7635240"/>
            <a:ext cx="9692640" cy="2743200"/>
          </a:xfrm>
          <a:prstGeom prst="rect">
            <a:avLst/>
          </a:prstGeom>
          <a:noFill/>
        </p:spPr>
        <p:txBody>
          <a:bodyPr wrap="square" lIns="0" tIns="0" rIns="0" bIns="0" anchor="t">
            <a:noAutofit/>
          </a:bodyPr>
          <a:lstStyle/>
          <a:p>
            <a:pPr algn="l">
              <a:lnSpc>
                <a:spcPct val="120000"/>
              </a:lnSpc>
              <a:spcAft>
                <a:spcPts val="1000"/>
              </a:spcAft>
            </a:pPr>
            <a:r>
              <a:rPr sz="1700" b="0" spc="250">
                <a:solidFill>
                  <a:srgbClr val="D0955F"/>
                </a:solidFill>
                <a:latin typeface="Google Sans SemiBold"/>
              </a:rPr>
              <a:t>TEAM XR CONTINUUM</a:t>
            </a:r>
          </a:p>
          <a:p>
            <a:pPr algn="l">
              <a:lnSpc>
                <a:spcPct val="120000"/>
              </a:lnSpc>
              <a:spcAft>
                <a:spcPts val="600"/>
              </a:spcAft>
            </a:pPr>
            <a:r>
              <a:rPr sz="2400" b="0">
                <a:solidFill>
                  <a:srgbClr val="E9D7C2"/>
                </a:solidFill>
                <a:latin typeface="Google Sans"/>
              </a:rPr>
              <a:t>Barista Calibration Trainer · INTE 42312</a:t>
            </a:r>
          </a:p>
          <a:p>
            <a:pPr algn="l">
              <a:lnSpc>
                <a:spcPct val="120000"/>
              </a:lnSpc>
              <a:spcAft>
                <a:spcPts val="0"/>
              </a:spcAft>
            </a:pPr>
            <a:r>
              <a:rPr sz="2100" b="0">
                <a:solidFill>
                  <a:srgbClr val="C9B29B"/>
                </a:solidFill>
                <a:latin typeface="Google Sans"/>
              </a:rPr>
              <a:t>&lt;Member 1&gt; · &lt;Member 2&gt; · &lt;Member 3&gt; · &lt;Member 4&gt;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oogle Sans"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oogle Sans"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4342</Words>
  <Application>Microsoft Office PowerPoint</Application>
  <PresentationFormat>Custom</PresentationFormat>
  <Paragraphs>583</Paragraphs>
  <Slides>30</Slides>
  <Notes>30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Google Sans SemiBold</vt:lpstr>
      <vt:lpstr>Arial</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Kavindu Aluthwaththa</cp:lastModifiedBy>
  <cp:revision>2</cp:revision>
  <dcterms:created xsi:type="dcterms:W3CDTF">2024-01-03T08:29:33Z</dcterms:created>
  <dcterms:modified xsi:type="dcterms:W3CDTF">2026-10-08T07:55:52Z</dcterms:modified>
</cp:coreProperties>
</file>